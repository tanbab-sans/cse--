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TDTD평고딕" charset="1" panose="02000503000000000000"/>
      <p:regular r:id="rId30"/>
    </p:embeddedFont>
    <p:embeddedFont>
      <p:font typeface="TDTD순고딕 Bold" charset="1" panose="02000803000000000000"/>
      <p:regular r:id="rId31"/>
    </p:embeddedFont>
    <p:embeddedFont>
      <p:font typeface="Cabin" charset="1" panose="00000500000000000000"/>
      <p:regular r:id="rId32"/>
    </p:embeddedFont>
    <p:embeddedFont>
      <p:font typeface="Noto Sans Kr" charset="1" panose="020B0200000000000000"/>
      <p:regular r:id="rId33"/>
    </p:embeddedFont>
    <p:embeddedFont>
      <p:font typeface="Cabin Bold" charset="1" panose="00000800000000000000"/>
      <p:regular r:id="rId34"/>
    </p:embeddedFont>
    <p:embeddedFont>
      <p:font typeface="Tlab 돋움 레귤러 Bold" charset="1" panose="02060800000000000000"/>
      <p:regular r:id="rId35"/>
    </p:embeddedFont>
    <p:embeddedFont>
      <p:font typeface="Tlab 돋움 레귤러" charset="1" panose="02060500000000000000"/>
      <p:regular r:id="rId36"/>
    </p:embeddedFont>
    <p:embeddedFont>
      <p:font typeface="Noto Sans Kr Bold" charset="1" panose="020B02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01507" y="8075454"/>
            <a:ext cx="8057793" cy="7285019"/>
            <a:chOff x="0" y="0"/>
            <a:chExt cx="736529" cy="665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6529" cy="665893"/>
            </a:xfrm>
            <a:custGeom>
              <a:avLst/>
              <a:gdLst/>
              <a:ahLst/>
              <a:cxnLst/>
              <a:rect r="r" b="b" t="t" l="l"/>
              <a:pathLst>
                <a:path h="665893" w="736529">
                  <a:moveTo>
                    <a:pt x="368265" y="0"/>
                  </a:moveTo>
                  <a:cubicBezTo>
                    <a:pt x="164878" y="0"/>
                    <a:pt x="0" y="149065"/>
                    <a:pt x="0" y="332946"/>
                  </a:cubicBezTo>
                  <a:cubicBezTo>
                    <a:pt x="0" y="516828"/>
                    <a:pt x="164878" y="665893"/>
                    <a:pt x="368265" y="665893"/>
                  </a:cubicBezTo>
                  <a:cubicBezTo>
                    <a:pt x="571651" y="665893"/>
                    <a:pt x="736529" y="516828"/>
                    <a:pt x="736529" y="332946"/>
                  </a:cubicBezTo>
                  <a:cubicBezTo>
                    <a:pt x="736529" y="149065"/>
                    <a:pt x="571651" y="0"/>
                    <a:pt x="368265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9050" y="-13773"/>
              <a:ext cx="598430" cy="617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888347"/>
            <a:ext cx="8216803" cy="127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4"/>
              </a:lnSpc>
            </a:pPr>
            <a:r>
              <a:rPr lang="en-US" sz="8300" spc="-249">
                <a:solidFill>
                  <a:srgbClr val="6274CF"/>
                </a:solidFill>
                <a:latin typeface="TDTD평고딕"/>
                <a:ea typeface="TDTD평고딕"/>
                <a:cs typeface="TDTD평고딕"/>
                <a:sym typeface="TDTD평고딕"/>
              </a:rPr>
              <a:t>CSE_HW_5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525755"/>
            <a:ext cx="5727032" cy="90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6"/>
              </a:lnSpc>
              <a:spcBef>
                <a:spcPct val="0"/>
              </a:spcBef>
            </a:pPr>
            <a:r>
              <a:rPr lang="en-US" b="true" sz="5354" spc="53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발표자. 이민준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2798"/>
            <a:ext cx="2406276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41">
                <a:solidFill>
                  <a:srgbClr val="252525"/>
                </a:solidFill>
                <a:latin typeface="Cabin"/>
                <a:ea typeface="Cabin"/>
                <a:cs typeface="Cabin"/>
                <a:sym typeface="Cabin"/>
              </a:rPr>
              <a:t>2026.02.03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1397084"/>
            <a:ext cx="16230600" cy="0"/>
          </a:xfrm>
          <a:prstGeom prst="line">
            <a:avLst/>
          </a:prstGeom>
          <a:ln cap="flat" w="38100">
            <a:solidFill>
              <a:srgbClr val="2525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71320" y="3973578"/>
            <a:ext cx="751342" cy="7513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46263" y="3973578"/>
            <a:ext cx="751342" cy="75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1320" y="5015159"/>
            <a:ext cx="751342" cy="7513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46263" y="5015159"/>
            <a:ext cx="751342" cy="75134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71320" y="6054907"/>
            <a:ext cx="751342" cy="75134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71320" y="7094654"/>
            <a:ext cx="751342" cy="75134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0"/>
            <a:ext cx="18288000" cy="2372063"/>
            <a:chOff x="0" y="0"/>
            <a:chExt cx="4816593" cy="6247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624741"/>
            </a:xfrm>
            <a:custGeom>
              <a:avLst/>
              <a:gdLst/>
              <a:ahLst/>
              <a:cxnLst/>
              <a:rect r="r" b="b" t="t" l="l"/>
              <a:pathLst>
                <a:path h="62474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24741"/>
                  </a:lnTo>
                  <a:lnTo>
                    <a:pt x="0" y="624741"/>
                  </a:ln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816593" cy="700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20567" y="1024107"/>
            <a:ext cx="7110099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b="true" sz="96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70583" y="3747954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45525" y="3747954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70583" y="4786374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45525" y="4786374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70583" y="5823651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70583" y="6865870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78334" y="3724600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비교분석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78334" y="4766181"/>
            <a:ext cx="7086780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Crank-Nicolson scheme l=2 적용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27462" y="3724600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나비에-스토크스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27462" y="4766181"/>
            <a:ext cx="6112654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나비에-스토크스 해 같음 보이기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27462" y="5805929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FTCS-SCHEME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27462" y="6845677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Crank-Nicolson scheme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40251"/>
            <a:ext cx="15628894" cy="3606499"/>
          </a:xfrm>
          <a:custGeom>
            <a:avLst/>
            <a:gdLst/>
            <a:ahLst/>
            <a:cxnLst/>
            <a:rect r="r" b="b" t="t" l="l"/>
            <a:pathLst>
              <a:path h="3606499" w="15628894">
                <a:moveTo>
                  <a:pt x="0" y="0"/>
                </a:moveTo>
                <a:lnTo>
                  <a:pt x="15628894" y="0"/>
                </a:lnTo>
                <a:lnTo>
                  <a:pt x="15628894" y="3606498"/>
                </a:lnTo>
                <a:lnTo>
                  <a:pt x="0" y="360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01" r="0" b="-80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Navier Stokes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989359"/>
            <a:ext cx="9355003" cy="6268941"/>
          </a:xfrm>
          <a:custGeom>
            <a:avLst/>
            <a:gdLst/>
            <a:ahLst/>
            <a:cxnLst/>
            <a:rect r="r" b="b" t="t" l="l"/>
            <a:pathLst>
              <a:path h="6268941" w="9355003">
                <a:moveTo>
                  <a:pt x="0" y="0"/>
                </a:moveTo>
                <a:lnTo>
                  <a:pt x="9355003" y="0"/>
                </a:lnTo>
                <a:lnTo>
                  <a:pt x="9355003" y="6268941"/>
                </a:lnTo>
                <a:lnTo>
                  <a:pt x="0" y="626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Navier Stokes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2802"/>
            <a:ext cx="11301259" cy="1963594"/>
          </a:xfrm>
          <a:custGeom>
            <a:avLst/>
            <a:gdLst/>
            <a:ahLst/>
            <a:cxnLst/>
            <a:rect r="r" b="b" t="t" l="l"/>
            <a:pathLst>
              <a:path h="1963594" w="11301259">
                <a:moveTo>
                  <a:pt x="0" y="0"/>
                </a:moveTo>
                <a:lnTo>
                  <a:pt x="11301259" y="0"/>
                </a:lnTo>
                <a:lnTo>
                  <a:pt x="11301259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706396"/>
            <a:ext cx="11301259" cy="5198579"/>
          </a:xfrm>
          <a:custGeom>
            <a:avLst/>
            <a:gdLst/>
            <a:ahLst/>
            <a:cxnLst/>
            <a:rect r="r" b="b" t="t" l="l"/>
            <a:pathLst>
              <a:path h="5198579" w="11301259">
                <a:moveTo>
                  <a:pt x="0" y="0"/>
                </a:moveTo>
                <a:lnTo>
                  <a:pt x="11301259" y="0"/>
                </a:lnTo>
                <a:lnTo>
                  <a:pt x="11301259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709129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Navier Stokes 가정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997430"/>
            <a:ext cx="10139591" cy="6956644"/>
          </a:xfrm>
          <a:custGeom>
            <a:avLst/>
            <a:gdLst/>
            <a:ahLst/>
            <a:cxnLst/>
            <a:rect r="r" b="b" t="t" l="l"/>
            <a:pathLst>
              <a:path h="6956644" w="10139591">
                <a:moveTo>
                  <a:pt x="0" y="0"/>
                </a:moveTo>
                <a:lnTo>
                  <a:pt x="10139591" y="0"/>
                </a:lnTo>
                <a:lnTo>
                  <a:pt x="10139591" y="6956644"/>
                </a:lnTo>
                <a:lnTo>
                  <a:pt x="0" y="6956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60" r="0" b="-9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Navier Stokes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90996"/>
            <a:ext cx="10877523" cy="6567304"/>
          </a:xfrm>
          <a:custGeom>
            <a:avLst/>
            <a:gdLst/>
            <a:ahLst/>
            <a:cxnLst/>
            <a:rect r="r" b="b" t="t" l="l"/>
            <a:pathLst>
              <a:path h="6567304" w="10877523">
                <a:moveTo>
                  <a:pt x="0" y="0"/>
                </a:moveTo>
                <a:lnTo>
                  <a:pt x="10877523" y="0"/>
                </a:lnTo>
                <a:lnTo>
                  <a:pt x="10877523" y="6567304"/>
                </a:lnTo>
                <a:lnTo>
                  <a:pt x="0" y="6567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Navier Stokes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39243"/>
            <a:ext cx="11360805" cy="6767670"/>
          </a:xfrm>
          <a:custGeom>
            <a:avLst/>
            <a:gdLst/>
            <a:ahLst/>
            <a:cxnLst/>
            <a:rect r="r" b="b" t="t" l="l"/>
            <a:pathLst>
              <a:path h="6767670" w="11360805">
                <a:moveTo>
                  <a:pt x="0" y="0"/>
                </a:moveTo>
                <a:lnTo>
                  <a:pt x="11360805" y="0"/>
                </a:lnTo>
                <a:lnTo>
                  <a:pt x="11360805" y="6767671"/>
                </a:lnTo>
                <a:lnTo>
                  <a:pt x="0" y="6767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2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9687237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Navier Stokes 해 같음 보이기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980058"/>
            <a:ext cx="9036255" cy="6917057"/>
          </a:xfrm>
          <a:custGeom>
            <a:avLst/>
            <a:gdLst/>
            <a:ahLst/>
            <a:cxnLst/>
            <a:rect r="r" b="b" t="t" l="l"/>
            <a:pathLst>
              <a:path h="6917057" w="9036255">
                <a:moveTo>
                  <a:pt x="0" y="0"/>
                </a:moveTo>
                <a:lnTo>
                  <a:pt x="9036255" y="0"/>
                </a:lnTo>
                <a:lnTo>
                  <a:pt x="9036255" y="6917056"/>
                </a:lnTo>
                <a:lnTo>
                  <a:pt x="0" y="6917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6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017095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Navier Stokes 해 같음 보이기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6316"/>
            <a:ext cx="4686754" cy="1785430"/>
          </a:xfrm>
          <a:custGeom>
            <a:avLst/>
            <a:gdLst/>
            <a:ahLst/>
            <a:cxnLst/>
            <a:rect r="r" b="b" t="t" l="l"/>
            <a:pathLst>
              <a:path h="1785430" w="4686754">
                <a:moveTo>
                  <a:pt x="0" y="0"/>
                </a:moveTo>
                <a:lnTo>
                  <a:pt x="4686754" y="0"/>
                </a:lnTo>
                <a:lnTo>
                  <a:pt x="4686754" y="1785430"/>
                </a:lnTo>
                <a:lnTo>
                  <a:pt x="0" y="178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42652" y="4671000"/>
            <a:ext cx="10983074" cy="1202982"/>
          </a:xfrm>
          <a:custGeom>
            <a:avLst/>
            <a:gdLst/>
            <a:ahLst/>
            <a:cxnLst/>
            <a:rect r="r" b="b" t="t" l="l"/>
            <a:pathLst>
              <a:path h="1202982" w="10983074">
                <a:moveTo>
                  <a:pt x="0" y="0"/>
                </a:moveTo>
                <a:lnTo>
                  <a:pt x="10983073" y="0"/>
                </a:lnTo>
                <a:lnTo>
                  <a:pt x="10983073" y="1202982"/>
                </a:lnTo>
                <a:lnTo>
                  <a:pt x="0" y="1202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9529" y="6131157"/>
            <a:ext cx="3685095" cy="1107542"/>
          </a:xfrm>
          <a:custGeom>
            <a:avLst/>
            <a:gdLst/>
            <a:ahLst/>
            <a:cxnLst/>
            <a:rect r="r" b="b" t="t" l="l"/>
            <a:pathLst>
              <a:path h="1107542" w="3685095">
                <a:moveTo>
                  <a:pt x="0" y="0"/>
                </a:moveTo>
                <a:lnTo>
                  <a:pt x="3685096" y="0"/>
                </a:lnTo>
                <a:lnTo>
                  <a:pt x="3685096" y="1107543"/>
                </a:lnTo>
                <a:lnTo>
                  <a:pt x="0" y="1107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42652" y="7238700"/>
            <a:ext cx="7507242" cy="2256924"/>
          </a:xfrm>
          <a:custGeom>
            <a:avLst/>
            <a:gdLst/>
            <a:ahLst/>
            <a:cxnLst/>
            <a:rect r="r" b="b" t="t" l="l"/>
            <a:pathLst>
              <a:path h="2256924" w="7507242">
                <a:moveTo>
                  <a:pt x="0" y="0"/>
                </a:moveTo>
                <a:lnTo>
                  <a:pt x="7507242" y="0"/>
                </a:lnTo>
                <a:lnTo>
                  <a:pt x="7507242" y="2256924"/>
                </a:lnTo>
                <a:lnTo>
                  <a:pt x="0" y="22569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FTCS FROM HEAT EQUATION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25454" y="6343985"/>
            <a:ext cx="5052326" cy="154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3200" spc="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i는 x축 방향의 격자 인덱스</a:t>
            </a:r>
          </a:p>
          <a:p>
            <a:pPr algn="ctr">
              <a:lnSpc>
                <a:spcPts val="6400"/>
              </a:lnSpc>
              <a:spcBef>
                <a:spcPct val="0"/>
              </a:spcBef>
            </a:pPr>
            <a:r>
              <a:rPr lang="en-US" b="true" sz="3200" spc="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n은 시간의 단계를 나타낸다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930287"/>
            <a:ext cx="3006440" cy="1503220"/>
          </a:xfrm>
          <a:custGeom>
            <a:avLst/>
            <a:gdLst/>
            <a:ahLst/>
            <a:cxnLst/>
            <a:rect r="r" b="b" t="t" l="l"/>
            <a:pathLst>
              <a:path h="1503220" w="3006440">
                <a:moveTo>
                  <a:pt x="0" y="0"/>
                </a:moveTo>
                <a:lnTo>
                  <a:pt x="3006440" y="0"/>
                </a:lnTo>
                <a:lnTo>
                  <a:pt x="3006440" y="1503220"/>
                </a:lnTo>
                <a:lnTo>
                  <a:pt x="0" y="150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4562" y="4286972"/>
            <a:ext cx="7281387" cy="2073344"/>
          </a:xfrm>
          <a:custGeom>
            <a:avLst/>
            <a:gdLst/>
            <a:ahLst/>
            <a:cxnLst/>
            <a:rect r="r" b="b" t="t" l="l"/>
            <a:pathLst>
              <a:path h="2073344" w="7281387">
                <a:moveTo>
                  <a:pt x="0" y="0"/>
                </a:moveTo>
                <a:lnTo>
                  <a:pt x="7281387" y="0"/>
                </a:lnTo>
                <a:lnTo>
                  <a:pt x="7281387" y="2073344"/>
                </a:lnTo>
                <a:lnTo>
                  <a:pt x="0" y="2073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0858" y="6164974"/>
            <a:ext cx="2706083" cy="1819215"/>
          </a:xfrm>
          <a:custGeom>
            <a:avLst/>
            <a:gdLst/>
            <a:ahLst/>
            <a:cxnLst/>
            <a:rect r="r" b="b" t="t" l="l"/>
            <a:pathLst>
              <a:path h="1819215" w="2706083">
                <a:moveTo>
                  <a:pt x="0" y="0"/>
                </a:moveTo>
                <a:lnTo>
                  <a:pt x="2706083" y="0"/>
                </a:lnTo>
                <a:lnTo>
                  <a:pt x="2706083" y="1819215"/>
                </a:lnTo>
                <a:lnTo>
                  <a:pt x="0" y="1819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0858" y="7767880"/>
            <a:ext cx="9369275" cy="1910241"/>
          </a:xfrm>
          <a:custGeom>
            <a:avLst/>
            <a:gdLst/>
            <a:ahLst/>
            <a:cxnLst/>
            <a:rect r="r" b="b" t="t" l="l"/>
            <a:pathLst>
              <a:path h="1910241" w="9369275">
                <a:moveTo>
                  <a:pt x="0" y="0"/>
                </a:moveTo>
                <a:lnTo>
                  <a:pt x="9369275" y="0"/>
                </a:lnTo>
                <a:lnTo>
                  <a:pt x="9369275" y="1910240"/>
                </a:lnTo>
                <a:lnTo>
                  <a:pt x="0" y="19102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FTCS 적용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FTCS scheme 적용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8518" y="3854305"/>
            <a:ext cx="15810963" cy="349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6"/>
              </a:lnSpc>
              <a:spcBef>
                <a:spcPct val="0"/>
              </a:spcBef>
            </a:pPr>
            <a:r>
              <a:rPr lang="en-US" b="true" sz="2828" spc="6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            # u[1:-1] : 현재(n) 시점의 내부 점들 (i)</a:t>
            </a:r>
          </a:p>
          <a:p>
            <a:pPr algn="ctr">
              <a:lnSpc>
                <a:spcPts val="5656"/>
              </a:lnSpc>
              <a:spcBef>
                <a:spcPct val="0"/>
              </a:spcBef>
            </a:pPr>
            <a:r>
              <a:rPr lang="en-US" b="true" sz="2828" spc="6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            # u[2:]   : 현재(n) 시점의 오른쪽 이웃 점들 (i+1)</a:t>
            </a:r>
          </a:p>
          <a:p>
            <a:pPr algn="ctr">
              <a:lnSpc>
                <a:spcPts val="5656"/>
              </a:lnSpc>
              <a:spcBef>
                <a:spcPct val="0"/>
              </a:spcBef>
            </a:pPr>
            <a:r>
              <a:rPr lang="en-US" b="true" sz="2828" spc="6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            # u[:-2]  : 현재(n) 시점의 왼쪽 이웃 점들 (i-1)</a:t>
            </a:r>
          </a:p>
          <a:p>
            <a:pPr algn="ctr">
              <a:lnSpc>
                <a:spcPts val="5656"/>
              </a:lnSpc>
              <a:spcBef>
                <a:spcPct val="0"/>
              </a:spcBef>
            </a:pPr>
            <a:r>
              <a:rPr lang="en-US" b="true" sz="2828" spc="6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            </a:t>
            </a:r>
          </a:p>
          <a:p>
            <a:pPr algn="ctr">
              <a:lnSpc>
                <a:spcPts val="5656"/>
              </a:lnSpc>
              <a:spcBef>
                <a:spcPct val="0"/>
              </a:spcBef>
            </a:pPr>
            <a:r>
              <a:rPr lang="en-US" b="true" sz="2828" spc="6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            u[1:-1] = u[1:-1] + r * (u[2:] - 2*u[1:-1] + u[:-2])  # FTCS 공식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490" y="2531109"/>
            <a:ext cx="18065021" cy="7677634"/>
          </a:xfrm>
          <a:custGeom>
            <a:avLst/>
            <a:gdLst/>
            <a:ahLst/>
            <a:cxnLst/>
            <a:rect r="r" b="b" t="t" l="l"/>
            <a:pathLst>
              <a:path h="7677634" w="18065021">
                <a:moveTo>
                  <a:pt x="0" y="0"/>
                </a:moveTo>
                <a:lnTo>
                  <a:pt x="18065020" y="0"/>
                </a:lnTo>
                <a:lnTo>
                  <a:pt x="18065020" y="7677634"/>
                </a:lnTo>
                <a:lnTo>
                  <a:pt x="0" y="7677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FTCS 적용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802252"/>
            <a:ext cx="7846208" cy="2747161"/>
          </a:xfrm>
          <a:custGeom>
            <a:avLst/>
            <a:gdLst/>
            <a:ahLst/>
            <a:cxnLst/>
            <a:rect r="r" b="b" t="t" l="l"/>
            <a:pathLst>
              <a:path h="2747161" w="7846208">
                <a:moveTo>
                  <a:pt x="0" y="0"/>
                </a:moveTo>
                <a:lnTo>
                  <a:pt x="7846208" y="0"/>
                </a:lnTo>
                <a:lnTo>
                  <a:pt x="7846208" y="2747161"/>
                </a:lnTo>
                <a:lnTo>
                  <a:pt x="0" y="2747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42652" y="5854213"/>
            <a:ext cx="11702873" cy="1707987"/>
          </a:xfrm>
          <a:custGeom>
            <a:avLst/>
            <a:gdLst/>
            <a:ahLst/>
            <a:cxnLst/>
            <a:rect r="r" b="b" t="t" l="l"/>
            <a:pathLst>
              <a:path h="1707987" w="11702873">
                <a:moveTo>
                  <a:pt x="0" y="0"/>
                </a:moveTo>
                <a:lnTo>
                  <a:pt x="11702873" y="0"/>
                </a:lnTo>
                <a:lnTo>
                  <a:pt x="11702873" y="1707987"/>
                </a:lnTo>
                <a:lnTo>
                  <a:pt x="0" y="1707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2652" y="7562200"/>
            <a:ext cx="4015681" cy="2124425"/>
          </a:xfrm>
          <a:custGeom>
            <a:avLst/>
            <a:gdLst/>
            <a:ahLst/>
            <a:cxnLst/>
            <a:rect r="r" b="b" t="t" l="l"/>
            <a:pathLst>
              <a:path h="2124425" w="4015681">
                <a:moveTo>
                  <a:pt x="0" y="0"/>
                </a:moveTo>
                <a:lnTo>
                  <a:pt x="4015680" y="0"/>
                </a:lnTo>
                <a:lnTo>
                  <a:pt x="4015680" y="2124424"/>
                </a:lnTo>
                <a:lnTo>
                  <a:pt x="0" y="2124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3271722"/>
            <a:ext cx="12883920" cy="1719426"/>
          </a:xfrm>
          <a:custGeom>
            <a:avLst/>
            <a:gdLst/>
            <a:ahLst/>
            <a:cxnLst/>
            <a:rect r="r" b="b" t="t" l="l"/>
            <a:pathLst>
              <a:path h="1719426" w="12883920">
                <a:moveTo>
                  <a:pt x="0" y="0"/>
                </a:moveTo>
                <a:lnTo>
                  <a:pt x="12883920" y="0"/>
                </a:lnTo>
                <a:lnTo>
                  <a:pt x="12883920" y="1719426"/>
                </a:lnTo>
                <a:lnTo>
                  <a:pt x="0" y="1719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7770" y="5401482"/>
            <a:ext cx="12877122" cy="1940056"/>
          </a:xfrm>
          <a:custGeom>
            <a:avLst/>
            <a:gdLst/>
            <a:ahLst/>
            <a:cxnLst/>
            <a:rect r="r" b="b" t="t" l="l"/>
            <a:pathLst>
              <a:path h="1940056" w="12877122">
                <a:moveTo>
                  <a:pt x="0" y="0"/>
                </a:moveTo>
                <a:lnTo>
                  <a:pt x="12877122" y="0"/>
                </a:lnTo>
                <a:lnTo>
                  <a:pt x="12877122" y="1940056"/>
                </a:lnTo>
                <a:lnTo>
                  <a:pt x="0" y="1940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7489024"/>
            <a:ext cx="15015562" cy="1769276"/>
          </a:xfrm>
          <a:custGeom>
            <a:avLst/>
            <a:gdLst/>
            <a:ahLst/>
            <a:cxnLst/>
            <a:rect r="r" b="b" t="t" l="l"/>
            <a:pathLst>
              <a:path h="1769276" w="15015562">
                <a:moveTo>
                  <a:pt x="0" y="0"/>
                </a:moveTo>
                <a:lnTo>
                  <a:pt x="15015562" y="0"/>
                </a:lnTo>
                <a:lnTo>
                  <a:pt x="15015562" y="1769276"/>
                </a:lnTo>
                <a:lnTo>
                  <a:pt x="0" y="176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4562" y="4284444"/>
            <a:ext cx="10069441" cy="1718112"/>
          </a:xfrm>
          <a:custGeom>
            <a:avLst/>
            <a:gdLst/>
            <a:ahLst/>
            <a:cxnLst/>
            <a:rect r="r" b="b" t="t" l="l"/>
            <a:pathLst>
              <a:path h="1718112" w="10069441">
                <a:moveTo>
                  <a:pt x="0" y="0"/>
                </a:moveTo>
                <a:lnTo>
                  <a:pt x="10069441" y="0"/>
                </a:lnTo>
                <a:lnTo>
                  <a:pt x="10069441" y="1718112"/>
                </a:lnTo>
                <a:lnTo>
                  <a:pt x="0" y="1718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적용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878556"/>
            <a:ext cx="16302767" cy="98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b="true" sz="4326" spc="10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 = (nu * dt) / (2 * dy**2) 를 사용하여 평균을 계산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8536" y="6100364"/>
            <a:ext cx="13945696" cy="99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8"/>
              </a:lnSpc>
              <a:spcBef>
                <a:spcPct val="0"/>
              </a:spcBef>
            </a:pPr>
            <a:r>
              <a:rPr lang="en-US" sz="4344" spc="1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우변 식을 계산하기 위하여 다음과 같은 식을 사용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48997" y="2793245"/>
            <a:ext cx="10418505" cy="3328450"/>
          </a:xfrm>
          <a:custGeom>
            <a:avLst/>
            <a:gdLst/>
            <a:ahLst/>
            <a:cxnLst/>
            <a:rect r="r" b="b" t="t" l="l"/>
            <a:pathLst>
              <a:path h="3328450" w="10418505">
                <a:moveTo>
                  <a:pt x="0" y="0"/>
                </a:moveTo>
                <a:lnTo>
                  <a:pt x="10418504" y="0"/>
                </a:lnTo>
                <a:lnTo>
                  <a:pt x="10418504" y="3328450"/>
                </a:lnTo>
                <a:lnTo>
                  <a:pt x="0" y="3328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245012"/>
            <a:ext cx="12450665" cy="1375889"/>
          </a:xfrm>
          <a:custGeom>
            <a:avLst/>
            <a:gdLst/>
            <a:ahLst/>
            <a:cxnLst/>
            <a:rect r="r" b="b" t="t" l="l"/>
            <a:pathLst>
              <a:path h="1375889" w="12450665">
                <a:moveTo>
                  <a:pt x="0" y="0"/>
                </a:moveTo>
                <a:lnTo>
                  <a:pt x="12450665" y="0"/>
                </a:lnTo>
                <a:lnTo>
                  <a:pt x="12450665" y="1375888"/>
                </a:lnTo>
                <a:lnTo>
                  <a:pt x="0" y="1375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216312"/>
            <a:ext cx="12450665" cy="778167"/>
          </a:xfrm>
          <a:custGeom>
            <a:avLst/>
            <a:gdLst/>
            <a:ahLst/>
            <a:cxnLst/>
            <a:rect r="r" b="b" t="t" l="l"/>
            <a:pathLst>
              <a:path h="778167" w="12450665">
                <a:moveTo>
                  <a:pt x="0" y="0"/>
                </a:moveTo>
                <a:lnTo>
                  <a:pt x="12450665" y="0"/>
                </a:lnTo>
                <a:lnTo>
                  <a:pt x="12450665" y="778166"/>
                </a:lnTo>
                <a:lnTo>
                  <a:pt x="0" y="778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229396"/>
            <a:ext cx="6225332" cy="2456149"/>
          </a:xfrm>
          <a:custGeom>
            <a:avLst/>
            <a:gdLst/>
            <a:ahLst/>
            <a:cxnLst/>
            <a:rect r="r" b="b" t="t" l="l"/>
            <a:pathLst>
              <a:path h="2456149" w="6225332">
                <a:moveTo>
                  <a:pt x="0" y="0"/>
                </a:moveTo>
                <a:lnTo>
                  <a:pt x="6225332" y="0"/>
                </a:lnTo>
                <a:lnTo>
                  <a:pt x="6225332" y="2456149"/>
                </a:lnTo>
                <a:lnTo>
                  <a:pt x="0" y="2456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적용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4416" y="6117131"/>
            <a:ext cx="17659169" cy="89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b="true" sz="39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Ax=b 에서 우리가 원하는 x를 구하는 것이 미래의 내부 점들을 구하는 방법이다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3066392"/>
            <a:ext cx="10247773" cy="1316413"/>
          </a:xfrm>
          <a:custGeom>
            <a:avLst/>
            <a:gdLst/>
            <a:ahLst/>
            <a:cxnLst/>
            <a:rect r="r" b="b" t="t" l="l"/>
            <a:pathLst>
              <a:path h="1316413" w="10247773">
                <a:moveTo>
                  <a:pt x="0" y="0"/>
                </a:moveTo>
                <a:lnTo>
                  <a:pt x="10247773" y="0"/>
                </a:lnTo>
                <a:lnTo>
                  <a:pt x="10247773" y="1316414"/>
                </a:lnTo>
                <a:lnTo>
                  <a:pt x="0" y="1316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4562" y="4812798"/>
            <a:ext cx="9736569" cy="4176409"/>
          </a:xfrm>
          <a:custGeom>
            <a:avLst/>
            <a:gdLst/>
            <a:ahLst/>
            <a:cxnLst/>
            <a:rect r="r" b="b" t="t" l="l"/>
            <a:pathLst>
              <a:path h="4176409" w="9736569">
                <a:moveTo>
                  <a:pt x="0" y="0"/>
                </a:moveTo>
                <a:lnTo>
                  <a:pt x="9736569" y="0"/>
                </a:lnTo>
                <a:lnTo>
                  <a:pt x="9736569" y="4176409"/>
                </a:lnTo>
                <a:lnTo>
                  <a:pt x="0" y="4176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적용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3114982"/>
            <a:ext cx="9750158" cy="800013"/>
          </a:xfrm>
          <a:custGeom>
            <a:avLst/>
            <a:gdLst/>
            <a:ahLst/>
            <a:cxnLst/>
            <a:rect r="r" b="b" t="t" l="l"/>
            <a:pathLst>
              <a:path h="800013" w="9750158">
                <a:moveTo>
                  <a:pt x="0" y="0"/>
                </a:moveTo>
                <a:lnTo>
                  <a:pt x="9750159" y="0"/>
                </a:lnTo>
                <a:lnTo>
                  <a:pt x="9750159" y="800013"/>
                </a:lnTo>
                <a:lnTo>
                  <a:pt x="0" y="800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4562" y="3953095"/>
            <a:ext cx="9339860" cy="3082462"/>
          </a:xfrm>
          <a:custGeom>
            <a:avLst/>
            <a:gdLst/>
            <a:ahLst/>
            <a:cxnLst/>
            <a:rect r="r" b="b" t="t" l="l"/>
            <a:pathLst>
              <a:path h="3082462" w="9339860">
                <a:moveTo>
                  <a:pt x="0" y="0"/>
                </a:moveTo>
                <a:lnTo>
                  <a:pt x="9339860" y="0"/>
                </a:lnTo>
                <a:lnTo>
                  <a:pt x="9339860" y="3082462"/>
                </a:lnTo>
                <a:lnTo>
                  <a:pt x="0" y="3082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적용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2281" y="7735603"/>
            <a:ext cx="17143438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spsolve 함수를 이용해 미래의 내부 점들을 알 수 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352" y="2531109"/>
            <a:ext cx="9654281" cy="7687221"/>
          </a:xfrm>
          <a:custGeom>
            <a:avLst/>
            <a:gdLst/>
            <a:ahLst/>
            <a:cxnLst/>
            <a:rect r="r" b="b" t="t" l="l"/>
            <a:pathLst>
              <a:path h="7687221" w="9654281">
                <a:moveTo>
                  <a:pt x="0" y="0"/>
                </a:moveTo>
                <a:lnTo>
                  <a:pt x="9654281" y="0"/>
                </a:lnTo>
                <a:lnTo>
                  <a:pt x="9654281" y="7687222"/>
                </a:lnTo>
                <a:lnTo>
                  <a:pt x="0" y="768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비교 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77101" y="2728336"/>
            <a:ext cx="6412136" cy="544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4"/>
              </a:lnSpc>
              <a:spcBef>
                <a:spcPct val="0"/>
              </a:spcBef>
            </a:pPr>
            <a:r>
              <a:rPr lang="en-US" b="true" sz="5522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log 함수로 나타냈을 때 수렴률이 1차와 2차로 나눠지는 것을 확인할 수 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3226109"/>
            <a:ext cx="6726675" cy="4666631"/>
          </a:xfrm>
          <a:custGeom>
            <a:avLst/>
            <a:gdLst/>
            <a:ahLst/>
            <a:cxnLst/>
            <a:rect r="r" b="b" t="t" l="l"/>
            <a:pathLst>
              <a:path h="4666631" w="6726675">
                <a:moveTo>
                  <a:pt x="0" y="0"/>
                </a:moveTo>
                <a:lnTo>
                  <a:pt x="6726675" y="0"/>
                </a:lnTo>
                <a:lnTo>
                  <a:pt x="6726675" y="4666631"/>
                </a:lnTo>
                <a:lnTo>
                  <a:pt x="0" y="46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109001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l=2 적용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32553" y="4073216"/>
            <a:ext cx="903238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벽 사이 거리를 2로 줄인다.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448" y="2629115"/>
            <a:ext cx="18018552" cy="7657885"/>
          </a:xfrm>
          <a:custGeom>
            <a:avLst/>
            <a:gdLst/>
            <a:ahLst/>
            <a:cxnLst/>
            <a:rect r="r" b="b" t="t" l="l"/>
            <a:pathLst>
              <a:path h="7657885" w="18018552">
                <a:moveTo>
                  <a:pt x="0" y="0"/>
                </a:moveTo>
                <a:lnTo>
                  <a:pt x="18018552" y="0"/>
                </a:lnTo>
                <a:lnTo>
                  <a:pt x="18018552" y="7657885"/>
                </a:lnTo>
                <a:lnTo>
                  <a:pt x="0" y="7657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109001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l=2 적용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109001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Crank-Nicolson scheme l=2 적용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100618"/>
            <a:ext cx="18288000" cy="191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9"/>
              </a:lnSpc>
              <a:spcBef>
                <a:spcPct val="0"/>
              </a:spcBef>
            </a:pPr>
            <a:r>
              <a:rPr lang="en-US" b="true" sz="3999" spc="9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l=2 인 벽에서의 속도가 0으로 고정되어 있기에 내부의 유체의 속도가 영향을 받아 다음과 같은 그래프를 만들게 된다.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45851" y="5356440"/>
            <a:ext cx="11070178" cy="4704826"/>
          </a:xfrm>
          <a:custGeom>
            <a:avLst/>
            <a:gdLst/>
            <a:ahLst/>
            <a:cxnLst/>
            <a:rect r="r" b="b" t="t" l="l"/>
            <a:pathLst>
              <a:path h="4704826" w="11070178">
                <a:moveTo>
                  <a:pt x="0" y="0"/>
                </a:moveTo>
                <a:lnTo>
                  <a:pt x="11070178" y="0"/>
                </a:lnTo>
                <a:lnTo>
                  <a:pt x="11070178" y="4704826"/>
                </a:lnTo>
                <a:lnTo>
                  <a:pt x="0" y="4704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6274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3197" y="3841114"/>
            <a:ext cx="9803018" cy="130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  <a:spcBef>
                <a:spcPct val="0"/>
              </a:spcBef>
            </a:pPr>
            <a:r>
              <a:rPr lang="en-US" b="true" sz="7599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343197" y="5417290"/>
            <a:ext cx="1560160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DAHAOV8rauw</dc:identifier>
  <dcterms:modified xsi:type="dcterms:W3CDTF">2011-08-01T06:04:30Z</dcterms:modified>
  <cp:revision>1</cp:revision>
  <dc:title>프로젝트 프레젠테이션</dc:title>
</cp:coreProperties>
</file>