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TDTD순고딕 Bold" panose="020B0600000101010101" charset="-127"/>
      <p:regular r:id="rId30"/>
    </p:embeddedFont>
    <p:embeddedFont>
      <p:font typeface="TDTD평고딕" panose="020B0600000101010101" charset="-127"/>
      <p:regular r:id="rId31"/>
    </p:embeddedFont>
    <p:embeddedFont>
      <p:font typeface="Tlab 돋움 레귤러" panose="020B0600000101010101" charset="-127"/>
      <p:regular r:id="rId32"/>
    </p:embeddedFont>
    <p:embeddedFont>
      <p:font typeface="Tlab 돋움 레귤러 Bold" panose="020B0600000101010101" charset="-127"/>
      <p:regular r:id="rId33"/>
    </p:embeddedFont>
    <p:embeddedFont>
      <p:font typeface="맑은 고딕" panose="020B0503020000020004" pitchFamily="50" charset="-127"/>
      <p:regular r:id="rId34"/>
      <p:bold r:id="rId35"/>
    </p:embeddedFont>
    <p:embeddedFont>
      <p:font typeface="Cabin Bold" panose="020B0600000101010101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C4B6734-420A-9DEA-2D32-7F22BE75BD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B30903D-56B8-63A4-B1CC-4F54777783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8F885-583E-4A58-AB60-CE8188897929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88F724-89F5-0921-937E-755ACC3542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0B6810-0C56-F231-3CF3-F9363D793D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10DFF-4F13-40B3-950A-2C10EF215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2990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EB8AF-F57D-4419-AC09-0994B6560CAD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90AB61-84A3-4CE0-A431-6D680D53B4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9469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1A8A6-608F-4A2D-AB7B-94447F291332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0CB37-7825-453F-BB7A-3C5A1DE41A64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95BE-DB30-43DF-86ED-F91D06E3178F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53AE0-8976-456A-976E-380BE3AEB038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421CB-C816-4A30-BF1F-0FD919139445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0F39-E52E-4879-B4A7-3D0E2911167A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121DB-7C6C-4EB9-B6F6-BF9680DD2042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5F8A6-323A-4D45-A675-8F5E21BCF02D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5F17-7E30-45D3-87E8-88756DCFDF3A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8EB2-C6CF-42C8-BD5C-10EF6EA98B33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AE64-B1EC-4907-B823-C585E5FF0885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5FC8C-B525-49DF-B264-BF291C333D91}" type="datetime1">
              <a:rPr lang="en-US" altLang="ko-KR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697" y="793573"/>
            <a:ext cx="16458607" cy="8699854"/>
            <a:chOff x="0" y="0"/>
            <a:chExt cx="8277467" cy="43753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77467" cy="4375386"/>
            </a:xfrm>
            <a:custGeom>
              <a:avLst/>
              <a:gdLst/>
              <a:ahLst/>
              <a:cxnLst/>
              <a:rect l="l" t="t" r="r" b="b"/>
              <a:pathLst>
                <a:path w="8277467" h="4375386">
                  <a:moveTo>
                    <a:pt x="0" y="0"/>
                  </a:moveTo>
                  <a:lnTo>
                    <a:pt x="0" y="4375386"/>
                  </a:lnTo>
                  <a:lnTo>
                    <a:pt x="8277467" y="4375386"/>
                  </a:lnTo>
                  <a:lnTo>
                    <a:pt x="8277467" y="0"/>
                  </a:lnTo>
                  <a:lnTo>
                    <a:pt x="0" y="0"/>
                  </a:lnTo>
                  <a:close/>
                  <a:moveTo>
                    <a:pt x="8216507" y="4314426"/>
                  </a:moveTo>
                  <a:lnTo>
                    <a:pt x="59690" y="4314426"/>
                  </a:lnTo>
                  <a:lnTo>
                    <a:pt x="59690" y="59690"/>
                  </a:lnTo>
                  <a:lnTo>
                    <a:pt x="8216507" y="59690"/>
                  </a:lnTo>
                  <a:lnTo>
                    <a:pt x="8216507" y="431442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238576" y="3403900"/>
            <a:ext cx="7810847" cy="3479199"/>
            <a:chOff x="0" y="0"/>
            <a:chExt cx="10414463" cy="4638932"/>
          </a:xfrm>
        </p:grpSpPr>
        <p:sp>
          <p:nvSpPr>
            <p:cNvPr id="6" name="TextBox 6"/>
            <p:cNvSpPr txBox="1"/>
            <p:nvPr/>
          </p:nvSpPr>
          <p:spPr>
            <a:xfrm>
              <a:off x="0" y="133350"/>
              <a:ext cx="10414463" cy="355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140"/>
                </a:lnSpc>
              </a:pPr>
              <a:r>
                <a:rPr lang="en-US" sz="9750" spc="-292">
                  <a:solidFill>
                    <a:srgbClr val="6274CF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ML4CFD</a:t>
              </a:r>
            </a:p>
            <a:p>
              <a:pPr marL="0" lvl="0" indent="0" algn="ctr">
                <a:lnSpc>
                  <a:spcPts val="10140"/>
                </a:lnSpc>
              </a:pPr>
              <a:r>
                <a:rPr lang="en-US" sz="9750" spc="-292">
                  <a:solidFill>
                    <a:srgbClr val="6274CF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프로젝트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110612"/>
              <a:ext cx="10414463" cy="528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399" b="1" spc="23" dirty="0" err="1">
                  <a:solidFill>
                    <a:srgbClr val="252525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발표자</a:t>
              </a:r>
              <a:r>
                <a:rPr lang="en-US" sz="2399" b="1" spc="23" dirty="0">
                  <a:solidFill>
                    <a:srgbClr val="252525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. 이민준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783273"/>
            <a:ext cx="240627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-78">
                <a:solidFill>
                  <a:srgbClr val="252525"/>
                </a:solidFill>
                <a:latin typeface="TDTD평고딕"/>
                <a:ea typeface="TDTD평고딕"/>
                <a:cs typeface="TDTD평고딕"/>
                <a:sym typeface="TDTD평고딕"/>
              </a:rPr>
              <a:t>2026.01.20</a:t>
            </a:r>
          </a:p>
        </p:txBody>
      </p:sp>
      <p:sp>
        <p:nvSpPr>
          <p:cNvPr id="11" name="슬라이드 번호 개체 틀 9">
            <a:extLst>
              <a:ext uri="{FF2B5EF4-FFF2-40B4-BE49-F238E27FC236}">
                <a16:creationId xmlns:a16="http://schemas.microsoft.com/office/drawing/2014/main" id="{C7C42FFC-BC31-7BE4-862F-0ED422FADB1B}"/>
              </a:ext>
            </a:extLst>
          </p:cNvPr>
          <p:cNvSpPr txBox="1">
            <a:spLocks/>
          </p:cNvSpPr>
          <p:nvPr/>
        </p:nvSpPr>
        <p:spPr>
          <a:xfrm>
            <a:off x="15849600" y="95631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1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0567" y="3052685"/>
            <a:ext cx="1274842" cy="12748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0567" y="4819991"/>
            <a:ext cx="1274842" cy="127484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0567" y="6584186"/>
            <a:ext cx="1274842" cy="127484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20567" y="8348382"/>
            <a:ext cx="1274842" cy="127484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0"/>
            <a:ext cx="18288000" cy="2372063"/>
            <a:chOff x="0" y="0"/>
            <a:chExt cx="4816593" cy="6247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624741"/>
            </a:xfrm>
            <a:custGeom>
              <a:avLst/>
              <a:gdLst/>
              <a:ahLst/>
              <a:cxnLst/>
              <a:rect l="l" t="t" r="r" b="b"/>
              <a:pathLst>
                <a:path w="4816592" h="624741">
                  <a:moveTo>
                    <a:pt x="0" y="0"/>
                  </a:moveTo>
                  <a:lnTo>
                    <a:pt x="4816592" y="0"/>
                  </a:lnTo>
                  <a:lnTo>
                    <a:pt x="4816592" y="624741"/>
                  </a:lnTo>
                  <a:lnTo>
                    <a:pt x="0" y="624741"/>
                  </a:ln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4816593" cy="700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8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20567" y="264964"/>
            <a:ext cx="7110099" cy="165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b="1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CONTENTS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8990" y="2677286"/>
            <a:ext cx="937995" cy="14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3"/>
              </a:lnSpc>
            </a:pPr>
            <a:r>
              <a:rPr lang="en-US" sz="5768" b="1" spc="173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8990" y="4439228"/>
            <a:ext cx="937995" cy="14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3"/>
              </a:lnSpc>
            </a:pPr>
            <a:r>
              <a:rPr lang="en-US" sz="5768" b="1" spc="173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8990" y="6199230"/>
            <a:ext cx="937995" cy="14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3"/>
              </a:lnSpc>
            </a:pPr>
            <a:r>
              <a:rPr lang="en-US" sz="5768" b="1" spc="173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8990" y="7967620"/>
            <a:ext cx="937995" cy="14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3"/>
              </a:lnSpc>
            </a:pPr>
            <a:r>
              <a:rPr lang="en-US" sz="5768" b="1" spc="173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12579" y="2618610"/>
            <a:ext cx="9167902" cy="150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40"/>
              </a:lnSpc>
            </a:pPr>
            <a:r>
              <a:rPr lang="en-US" sz="5938" spc="59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AirfRANS dataset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12579" y="4385915"/>
            <a:ext cx="9167902" cy="150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40"/>
              </a:lnSpc>
            </a:pPr>
            <a:r>
              <a:rPr lang="en-US" sz="5938" spc="59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GAT model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2579" y="6150110"/>
            <a:ext cx="9167902" cy="150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40"/>
              </a:lnSpc>
            </a:pPr>
            <a:r>
              <a:rPr lang="en-US" sz="5938" spc="59" dirty="0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ML4CFD competition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12579" y="7914306"/>
            <a:ext cx="9167902" cy="150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40"/>
              </a:lnSpc>
            </a:pPr>
            <a:r>
              <a:rPr lang="en-US" sz="5938" spc="59">
                <a:solidFill>
                  <a:srgbClr val="6274C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Figure </a:t>
            </a:r>
          </a:p>
        </p:txBody>
      </p:sp>
      <p:sp>
        <p:nvSpPr>
          <p:cNvPr id="29" name="슬라이드 번호 개체 틀 9">
            <a:extLst>
              <a:ext uri="{FF2B5EF4-FFF2-40B4-BE49-F238E27FC236}">
                <a16:creationId xmlns:a16="http://schemas.microsoft.com/office/drawing/2014/main" id="{4D9AFF38-F57E-5D92-B6CB-FF28D675D24F}"/>
              </a:ext>
            </a:extLst>
          </p:cNvPr>
          <p:cNvSpPr txBox="1">
            <a:spLocks/>
          </p:cNvSpPr>
          <p:nvPr/>
        </p:nvSpPr>
        <p:spPr>
          <a:xfrm>
            <a:off x="15849600" y="95631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2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4562" y="409575"/>
            <a:ext cx="1396179" cy="1260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b="1" spc="132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4562" y="1306830"/>
            <a:ext cx="7727309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AirfRANS 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4506" y="3858931"/>
            <a:ext cx="17798988" cy="2804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  <a:spcBef>
                <a:spcPct val="0"/>
              </a:spcBef>
            </a:pPr>
            <a:r>
              <a:rPr lang="en-US" sz="3566" spc="3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The AirfRANS dataset was originally created for the publication AIRFRANS:</a:t>
            </a:r>
          </a:p>
          <a:p>
            <a:pPr algn="ctr">
              <a:lnSpc>
                <a:spcPts val="5670"/>
              </a:lnSpc>
              <a:spcBef>
                <a:spcPct val="0"/>
              </a:spcBef>
            </a:pPr>
            <a:r>
              <a:rPr lang="en-US" sz="3566" spc="3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High Fidelity Computational Fluid Dynamics Dataset for Approximating Reynolds-Averaged-Navier-Stokes Solutions </a:t>
            </a:r>
          </a:p>
          <a:p>
            <a:pPr algn="ctr">
              <a:lnSpc>
                <a:spcPts val="5670"/>
              </a:lnSpc>
              <a:spcBef>
                <a:spcPct val="0"/>
              </a:spcBef>
            </a:pPr>
            <a:r>
              <a:rPr lang="en-US" sz="3566" spc="3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(36th Conference on Neural Information Processing Systems (NeurIPS 2022)).</a:t>
            </a:r>
          </a:p>
        </p:txBody>
      </p:sp>
      <p:sp>
        <p:nvSpPr>
          <p:cNvPr id="7" name="슬라이드 번호 개체 틀 9">
            <a:extLst>
              <a:ext uri="{FF2B5EF4-FFF2-40B4-BE49-F238E27FC236}">
                <a16:creationId xmlns:a16="http://schemas.microsoft.com/office/drawing/2014/main" id="{ED8E1A25-72D0-8454-A2AB-2A88B8AD0BED}"/>
              </a:ext>
            </a:extLst>
          </p:cNvPr>
          <p:cNvSpPr txBox="1">
            <a:spLocks/>
          </p:cNvSpPr>
          <p:nvPr/>
        </p:nvSpPr>
        <p:spPr>
          <a:xfrm>
            <a:off x="15849600" y="95631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3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419850" cy="10287000"/>
          </a:xfrm>
          <a:prstGeom prst="rect">
            <a:avLst/>
          </a:prstGeom>
          <a:solidFill>
            <a:srgbClr val="6274CF"/>
          </a:solid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0782300" cy="8229600"/>
            <a:chOff x="0" y="0"/>
            <a:chExt cx="1064919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4919" cy="812800"/>
            </a:xfrm>
            <a:custGeom>
              <a:avLst/>
              <a:gdLst/>
              <a:ahLst/>
              <a:cxnLst/>
              <a:rect l="l" t="t" r="r" b="b"/>
              <a:pathLst>
                <a:path w="1064919" h="812800">
                  <a:moveTo>
                    <a:pt x="0" y="0"/>
                  </a:moveTo>
                  <a:lnTo>
                    <a:pt x="1064919" y="0"/>
                  </a:lnTo>
                  <a:lnTo>
                    <a:pt x="106491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1342" b="-1342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3075247" y="1397556"/>
            <a:ext cx="3841153" cy="742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1"/>
              </a:lnSpc>
            </a:pPr>
            <a:r>
              <a:rPr lang="en-US" sz="2793" u="none" spc="8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Bonnet, F., Mazari, J. A., Cinnella, P., &amp; Gallinari, P. (2022). AIRFRANS: High fidelity computational fluid dynamics dataset for approximating Reynolds-averaged Navier–Stokes solutions. Advances in Neural Information Processing Systems, 35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758424" y="244711"/>
            <a:ext cx="61877" cy="9797579"/>
            <a:chOff x="0" y="0"/>
            <a:chExt cx="4491" cy="7110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91" cy="711079"/>
            </a:xfrm>
            <a:custGeom>
              <a:avLst/>
              <a:gdLst/>
              <a:ahLst/>
              <a:cxnLst/>
              <a:rect l="l" t="t" r="r" b="b"/>
              <a:pathLst>
                <a:path w="4491" h="711079">
                  <a:moveTo>
                    <a:pt x="2245" y="0"/>
                  </a:moveTo>
                  <a:lnTo>
                    <a:pt x="2245" y="0"/>
                  </a:lnTo>
                  <a:cubicBezTo>
                    <a:pt x="2841" y="0"/>
                    <a:pt x="3412" y="237"/>
                    <a:pt x="3833" y="658"/>
                  </a:cubicBezTo>
                  <a:cubicBezTo>
                    <a:pt x="4254" y="1079"/>
                    <a:pt x="4491" y="1650"/>
                    <a:pt x="4491" y="2245"/>
                  </a:cubicBezTo>
                  <a:lnTo>
                    <a:pt x="4491" y="708833"/>
                  </a:lnTo>
                  <a:cubicBezTo>
                    <a:pt x="4491" y="709429"/>
                    <a:pt x="4254" y="710000"/>
                    <a:pt x="3833" y="710421"/>
                  </a:cubicBezTo>
                  <a:cubicBezTo>
                    <a:pt x="3412" y="710842"/>
                    <a:pt x="2841" y="711079"/>
                    <a:pt x="2245" y="711079"/>
                  </a:cubicBezTo>
                  <a:lnTo>
                    <a:pt x="2245" y="711079"/>
                  </a:lnTo>
                  <a:cubicBezTo>
                    <a:pt x="1650" y="711079"/>
                    <a:pt x="1079" y="710842"/>
                    <a:pt x="658" y="710421"/>
                  </a:cubicBezTo>
                  <a:cubicBezTo>
                    <a:pt x="237" y="710000"/>
                    <a:pt x="0" y="709429"/>
                    <a:pt x="0" y="708833"/>
                  </a:cubicBezTo>
                  <a:lnTo>
                    <a:pt x="0" y="2245"/>
                  </a:lnTo>
                  <a:cubicBezTo>
                    <a:pt x="0" y="1650"/>
                    <a:pt x="237" y="1079"/>
                    <a:pt x="658" y="658"/>
                  </a:cubicBezTo>
                  <a:cubicBezTo>
                    <a:pt x="1079" y="237"/>
                    <a:pt x="1650" y="0"/>
                    <a:pt x="224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491" cy="739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슬라이드 번호 개체 틀 9">
            <a:extLst>
              <a:ext uri="{FF2B5EF4-FFF2-40B4-BE49-F238E27FC236}">
                <a16:creationId xmlns:a16="http://schemas.microsoft.com/office/drawing/2014/main" id="{7CDBF43F-646C-360F-04D1-D717C0952C72}"/>
              </a:ext>
            </a:extLst>
          </p:cNvPr>
          <p:cNvSpPr txBox="1">
            <a:spLocks/>
          </p:cNvSpPr>
          <p:nvPr/>
        </p:nvSpPr>
        <p:spPr>
          <a:xfrm>
            <a:off x="15849600" y="95631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4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4562" y="409575"/>
            <a:ext cx="1396179" cy="1260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b="1" spc="132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4562" y="1306830"/>
            <a:ext cx="14218479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AirfRANS dataset의 내용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4562" y="3479892"/>
            <a:ext cx="15203679" cy="1995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2"/>
              </a:lnSpc>
              <a:spcBef>
                <a:spcPct val="0"/>
              </a:spcBef>
            </a:pPr>
            <a:r>
              <a:rPr lang="en-US" sz="5096" spc="5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1. Reynolds-Averaged Navier–Stokes (RANS) 방정식의 해를 근사하기 위한 고정밀 CFD 데이터셋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4562" y="6035597"/>
            <a:ext cx="15877502" cy="1995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9"/>
              </a:lnSpc>
              <a:spcBef>
                <a:spcPct val="0"/>
              </a:spcBef>
            </a:pPr>
            <a:r>
              <a:rPr lang="en-US" sz="5100" spc="5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2. Subsonic flight regime(아음속)에서 1000개의 2D Airfoil 주위 steady state의 aerodynamics 시뮬레이션 </a:t>
            </a:r>
          </a:p>
        </p:txBody>
      </p:sp>
      <p:sp>
        <p:nvSpPr>
          <p:cNvPr id="8" name="슬라이드 번호 개체 틀 9">
            <a:extLst>
              <a:ext uri="{FF2B5EF4-FFF2-40B4-BE49-F238E27FC236}">
                <a16:creationId xmlns:a16="http://schemas.microsoft.com/office/drawing/2014/main" id="{C1BA1DFC-59E0-5569-0D5E-5F24F91E0FE3}"/>
              </a:ext>
            </a:extLst>
          </p:cNvPr>
          <p:cNvSpPr txBox="1">
            <a:spLocks/>
          </p:cNvSpPr>
          <p:nvPr/>
        </p:nvSpPr>
        <p:spPr>
          <a:xfrm>
            <a:off x="15849600" y="95631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5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2411" y="2363810"/>
            <a:ext cx="7261733" cy="5716996"/>
            <a:chOff x="0" y="0"/>
            <a:chExt cx="3730237" cy="29367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0237" cy="2936730"/>
            </a:xfrm>
            <a:custGeom>
              <a:avLst/>
              <a:gdLst/>
              <a:ahLst/>
              <a:cxnLst/>
              <a:rect l="l" t="t" r="r" b="b"/>
              <a:pathLst>
                <a:path w="3730237" h="2936730">
                  <a:moveTo>
                    <a:pt x="0" y="0"/>
                  </a:moveTo>
                  <a:lnTo>
                    <a:pt x="0" y="2936730"/>
                  </a:lnTo>
                  <a:lnTo>
                    <a:pt x="3730237" y="2936730"/>
                  </a:lnTo>
                  <a:lnTo>
                    <a:pt x="3730237" y="0"/>
                  </a:lnTo>
                  <a:lnTo>
                    <a:pt x="0" y="0"/>
                  </a:lnTo>
                  <a:close/>
                  <a:moveTo>
                    <a:pt x="3669277" y="2875770"/>
                  </a:moveTo>
                  <a:lnTo>
                    <a:pt x="59690" y="2875770"/>
                  </a:lnTo>
                  <a:lnTo>
                    <a:pt x="59690" y="59690"/>
                  </a:lnTo>
                  <a:lnTo>
                    <a:pt x="3669277" y="59690"/>
                  </a:lnTo>
                  <a:lnTo>
                    <a:pt x="3669277" y="2875770"/>
                  </a:lnTo>
                  <a:close/>
                </a:path>
              </a:pathLst>
            </a:custGeom>
            <a:solidFill>
              <a:srgbClr val="67849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266012" y="1896318"/>
            <a:ext cx="10914916" cy="7025173"/>
            <a:chOff x="0" y="0"/>
            <a:chExt cx="5513070" cy="3548380"/>
          </a:xfrm>
        </p:grpSpPr>
        <p:sp>
          <p:nvSpPr>
            <p:cNvPr id="5" name="Freeform 5"/>
            <p:cNvSpPr/>
            <p:nvPr/>
          </p:nvSpPr>
          <p:spPr>
            <a:xfrm>
              <a:off x="-1297" y="429"/>
              <a:ext cx="5514367" cy="3547951"/>
            </a:xfrm>
            <a:custGeom>
              <a:avLst/>
              <a:gdLst/>
              <a:ahLst/>
              <a:cxnLst/>
              <a:rect l="l" t="t" r="r" b="b"/>
              <a:pathLst>
                <a:path w="5514367" h="3547951">
                  <a:moveTo>
                    <a:pt x="4989857" y="1543891"/>
                  </a:moveTo>
                  <a:cubicBezTo>
                    <a:pt x="5047007" y="1522301"/>
                    <a:pt x="5123207" y="1532461"/>
                    <a:pt x="5187977" y="1510871"/>
                  </a:cubicBezTo>
                  <a:cubicBezTo>
                    <a:pt x="5325137" y="1463881"/>
                    <a:pt x="5434357" y="1388951"/>
                    <a:pt x="5514367" y="1303861"/>
                  </a:cubicBezTo>
                  <a:cubicBezTo>
                    <a:pt x="5497857" y="1216231"/>
                    <a:pt x="5492777" y="1167971"/>
                    <a:pt x="5504207" y="1094311"/>
                  </a:cubicBezTo>
                  <a:cubicBezTo>
                    <a:pt x="5494047" y="1089231"/>
                    <a:pt x="5472457" y="1103201"/>
                    <a:pt x="5471187" y="1082881"/>
                  </a:cubicBezTo>
                  <a:cubicBezTo>
                    <a:pt x="5468647" y="1024461"/>
                    <a:pt x="5440707" y="1002871"/>
                    <a:pt x="5414037" y="953341"/>
                  </a:cubicBezTo>
                  <a:cubicBezTo>
                    <a:pt x="5209567" y="982551"/>
                    <a:pt x="4837457" y="1142571"/>
                    <a:pt x="4616477" y="1128601"/>
                  </a:cubicBezTo>
                  <a:cubicBezTo>
                    <a:pt x="4752367" y="1032081"/>
                    <a:pt x="4850157" y="924131"/>
                    <a:pt x="4852697" y="781891"/>
                  </a:cubicBezTo>
                  <a:cubicBezTo>
                    <a:pt x="4841267" y="770461"/>
                    <a:pt x="4776497" y="762841"/>
                    <a:pt x="4761257" y="767921"/>
                  </a:cubicBezTo>
                  <a:cubicBezTo>
                    <a:pt x="4709187" y="757761"/>
                    <a:pt x="4655847" y="710771"/>
                    <a:pt x="4632987" y="681561"/>
                  </a:cubicBezTo>
                  <a:cubicBezTo>
                    <a:pt x="4611397" y="695531"/>
                    <a:pt x="4607587" y="680291"/>
                    <a:pt x="4588537" y="690451"/>
                  </a:cubicBezTo>
                  <a:cubicBezTo>
                    <a:pt x="4507257" y="628221"/>
                    <a:pt x="4335807" y="722201"/>
                    <a:pt x="4253257" y="663781"/>
                  </a:cubicBezTo>
                  <a:cubicBezTo>
                    <a:pt x="4291357" y="563451"/>
                    <a:pt x="4213887" y="540591"/>
                    <a:pt x="4161817" y="492331"/>
                  </a:cubicBezTo>
                  <a:cubicBezTo>
                    <a:pt x="4180867" y="413591"/>
                    <a:pt x="4133877" y="371681"/>
                    <a:pt x="4090697" y="298021"/>
                  </a:cubicBezTo>
                  <a:cubicBezTo>
                    <a:pt x="4037357" y="323421"/>
                    <a:pt x="4041167" y="284051"/>
                    <a:pt x="4047517" y="258651"/>
                  </a:cubicBezTo>
                  <a:cubicBezTo>
                    <a:pt x="4008147" y="270081"/>
                    <a:pt x="3984017" y="254841"/>
                    <a:pt x="3962427" y="234521"/>
                  </a:cubicBezTo>
                  <a:cubicBezTo>
                    <a:pt x="3886227" y="263731"/>
                    <a:pt x="3816377" y="265001"/>
                    <a:pt x="3755417" y="271351"/>
                  </a:cubicBezTo>
                  <a:cubicBezTo>
                    <a:pt x="3444267" y="304371"/>
                    <a:pt x="3058187" y="388191"/>
                    <a:pt x="2778787" y="402161"/>
                  </a:cubicBezTo>
                  <a:cubicBezTo>
                    <a:pt x="3035327" y="292941"/>
                    <a:pt x="3332507" y="223091"/>
                    <a:pt x="3521737" y="129111"/>
                  </a:cubicBezTo>
                  <a:cubicBezTo>
                    <a:pt x="3528087" y="75771"/>
                    <a:pt x="3526817" y="51641"/>
                    <a:pt x="3523007" y="2111"/>
                  </a:cubicBezTo>
                  <a:cubicBezTo>
                    <a:pt x="3318537" y="-15669"/>
                    <a:pt x="3004847" y="82121"/>
                    <a:pt x="2714017" y="173561"/>
                  </a:cubicBezTo>
                  <a:cubicBezTo>
                    <a:pt x="2039647" y="385651"/>
                    <a:pt x="1226847" y="626951"/>
                    <a:pt x="844577" y="1002871"/>
                  </a:cubicBezTo>
                  <a:cubicBezTo>
                    <a:pt x="854737" y="1058751"/>
                    <a:pt x="838227" y="1131141"/>
                    <a:pt x="880137" y="1179401"/>
                  </a:cubicBezTo>
                  <a:cubicBezTo>
                    <a:pt x="740437" y="1255601"/>
                    <a:pt x="580417" y="1324181"/>
                    <a:pt x="444527" y="1402921"/>
                  </a:cubicBezTo>
                  <a:cubicBezTo>
                    <a:pt x="449607" y="1468961"/>
                    <a:pt x="483897" y="1537541"/>
                    <a:pt x="497867" y="1548971"/>
                  </a:cubicBezTo>
                  <a:cubicBezTo>
                    <a:pt x="453417" y="1573101"/>
                    <a:pt x="521997" y="1555321"/>
                    <a:pt x="519457" y="1580721"/>
                  </a:cubicBezTo>
                  <a:cubicBezTo>
                    <a:pt x="500407" y="1589611"/>
                    <a:pt x="513107" y="1611201"/>
                    <a:pt x="485167" y="1617551"/>
                  </a:cubicBezTo>
                  <a:cubicBezTo>
                    <a:pt x="382297" y="1601041"/>
                    <a:pt x="267997" y="1681051"/>
                    <a:pt x="162587" y="1705181"/>
                  </a:cubicBezTo>
                  <a:cubicBezTo>
                    <a:pt x="158777" y="1721691"/>
                    <a:pt x="196877" y="1719151"/>
                    <a:pt x="172747" y="1733121"/>
                  </a:cubicBezTo>
                  <a:cubicBezTo>
                    <a:pt x="102897" y="1749631"/>
                    <a:pt x="95277" y="1786461"/>
                    <a:pt x="25427" y="1802971"/>
                  </a:cubicBezTo>
                  <a:cubicBezTo>
                    <a:pt x="22887" y="1818211"/>
                    <a:pt x="20347" y="1833451"/>
                    <a:pt x="24157" y="1851231"/>
                  </a:cubicBezTo>
                  <a:cubicBezTo>
                    <a:pt x="34317" y="1863931"/>
                    <a:pt x="95277" y="1848691"/>
                    <a:pt x="78767" y="1870281"/>
                  </a:cubicBezTo>
                  <a:cubicBezTo>
                    <a:pt x="41937" y="1882981"/>
                    <a:pt x="-1243" y="1879171"/>
                    <a:pt x="27" y="1914731"/>
                  </a:cubicBezTo>
                  <a:cubicBezTo>
                    <a:pt x="20347" y="1937591"/>
                    <a:pt x="62257" y="1922351"/>
                    <a:pt x="73687" y="1959181"/>
                  </a:cubicBezTo>
                  <a:cubicBezTo>
                    <a:pt x="64797" y="1976961"/>
                    <a:pt x="36857" y="1987121"/>
                    <a:pt x="44477" y="2009981"/>
                  </a:cubicBezTo>
                  <a:cubicBezTo>
                    <a:pt x="104167" y="2008711"/>
                    <a:pt x="157507" y="2020141"/>
                    <a:pt x="219737" y="2016331"/>
                  </a:cubicBezTo>
                  <a:cubicBezTo>
                    <a:pt x="200687" y="2026491"/>
                    <a:pt x="234977" y="2049351"/>
                    <a:pt x="285777" y="2039191"/>
                  </a:cubicBezTo>
                  <a:cubicBezTo>
                    <a:pt x="283237" y="2056971"/>
                    <a:pt x="238787" y="2059511"/>
                    <a:pt x="242597" y="2078561"/>
                  </a:cubicBezTo>
                  <a:cubicBezTo>
                    <a:pt x="316257" y="2064591"/>
                    <a:pt x="336577" y="2036651"/>
                    <a:pt x="405157" y="2026491"/>
                  </a:cubicBezTo>
                  <a:cubicBezTo>
                    <a:pt x="359437" y="2063321"/>
                    <a:pt x="301017" y="2120471"/>
                    <a:pt x="243867" y="2133171"/>
                  </a:cubicBezTo>
                  <a:cubicBezTo>
                    <a:pt x="227357" y="2156031"/>
                    <a:pt x="233707" y="2186511"/>
                    <a:pt x="224817" y="2210641"/>
                  </a:cubicBezTo>
                  <a:cubicBezTo>
                    <a:pt x="209577" y="2205561"/>
                    <a:pt x="210847" y="2285571"/>
                    <a:pt x="250217" y="2304621"/>
                  </a:cubicBezTo>
                  <a:cubicBezTo>
                    <a:pt x="299747" y="2291921"/>
                    <a:pt x="411507" y="2298271"/>
                    <a:pt x="483897" y="2313511"/>
                  </a:cubicBezTo>
                  <a:cubicBezTo>
                    <a:pt x="478817" y="2327481"/>
                    <a:pt x="462307" y="2337641"/>
                    <a:pt x="471197" y="2357961"/>
                  </a:cubicBezTo>
                  <a:cubicBezTo>
                    <a:pt x="495327" y="2366851"/>
                    <a:pt x="553747" y="2316051"/>
                    <a:pt x="577877" y="2335101"/>
                  </a:cubicBezTo>
                  <a:cubicBezTo>
                    <a:pt x="613437" y="2347801"/>
                    <a:pt x="549937" y="2360501"/>
                    <a:pt x="567717" y="2385901"/>
                  </a:cubicBezTo>
                  <a:cubicBezTo>
                    <a:pt x="803937" y="2267791"/>
                    <a:pt x="993167" y="2246201"/>
                    <a:pt x="1233197" y="2189051"/>
                  </a:cubicBezTo>
                  <a:cubicBezTo>
                    <a:pt x="965227" y="2305891"/>
                    <a:pt x="603277" y="2620851"/>
                    <a:pt x="596927" y="2723721"/>
                  </a:cubicBezTo>
                  <a:cubicBezTo>
                    <a:pt x="629947" y="2723721"/>
                    <a:pt x="657887" y="2731341"/>
                    <a:pt x="688367" y="2737691"/>
                  </a:cubicBezTo>
                  <a:cubicBezTo>
                    <a:pt x="678207" y="2764361"/>
                    <a:pt x="662967" y="2789761"/>
                    <a:pt x="660427" y="2818971"/>
                  </a:cubicBezTo>
                  <a:cubicBezTo>
                    <a:pt x="676937" y="2789761"/>
                    <a:pt x="735357" y="2775791"/>
                    <a:pt x="740437" y="2829131"/>
                  </a:cubicBezTo>
                  <a:cubicBezTo>
                    <a:pt x="699797" y="2832941"/>
                    <a:pt x="699797" y="2845641"/>
                    <a:pt x="699797" y="2876121"/>
                  </a:cubicBezTo>
                  <a:cubicBezTo>
                    <a:pt x="741707" y="2881201"/>
                    <a:pt x="806477" y="2844371"/>
                    <a:pt x="826797" y="2883741"/>
                  </a:cubicBezTo>
                  <a:cubicBezTo>
                    <a:pt x="800127" y="2900251"/>
                    <a:pt x="789967" y="2885011"/>
                    <a:pt x="764567" y="2898981"/>
                  </a:cubicBezTo>
                  <a:cubicBezTo>
                    <a:pt x="765837" y="2924381"/>
                    <a:pt x="791237" y="2905331"/>
                    <a:pt x="800127" y="2918031"/>
                  </a:cubicBezTo>
                  <a:cubicBezTo>
                    <a:pt x="726467" y="2948511"/>
                    <a:pt x="730277" y="2959941"/>
                    <a:pt x="706147" y="3000581"/>
                  </a:cubicBezTo>
                  <a:cubicBezTo>
                    <a:pt x="685827" y="2967561"/>
                    <a:pt x="632487" y="3179651"/>
                    <a:pt x="675667" y="3177111"/>
                  </a:cubicBezTo>
                  <a:cubicBezTo>
                    <a:pt x="640107" y="3213941"/>
                    <a:pt x="708687" y="3192351"/>
                    <a:pt x="725197" y="3206321"/>
                  </a:cubicBezTo>
                  <a:cubicBezTo>
                    <a:pt x="709957" y="3232991"/>
                    <a:pt x="744247" y="3240611"/>
                    <a:pt x="748057" y="3268551"/>
                  </a:cubicBezTo>
                  <a:cubicBezTo>
                    <a:pt x="767107" y="3273631"/>
                    <a:pt x="803937" y="3246961"/>
                    <a:pt x="802667" y="3287601"/>
                  </a:cubicBezTo>
                  <a:cubicBezTo>
                    <a:pt x="765837" y="3291411"/>
                    <a:pt x="777267" y="3281251"/>
                    <a:pt x="751867" y="3306651"/>
                  </a:cubicBezTo>
                  <a:cubicBezTo>
                    <a:pt x="742977" y="3297761"/>
                    <a:pt x="723927" y="3288871"/>
                    <a:pt x="704877" y="3307921"/>
                  </a:cubicBezTo>
                  <a:cubicBezTo>
                    <a:pt x="718847" y="3334591"/>
                    <a:pt x="713767" y="3354911"/>
                    <a:pt x="711227" y="3376501"/>
                  </a:cubicBezTo>
                  <a:cubicBezTo>
                    <a:pt x="778537" y="3365071"/>
                    <a:pt x="731547" y="3387931"/>
                    <a:pt x="793777" y="3393011"/>
                  </a:cubicBezTo>
                  <a:cubicBezTo>
                    <a:pt x="812827" y="3415871"/>
                    <a:pt x="784887" y="3422221"/>
                    <a:pt x="781077" y="3437461"/>
                  </a:cubicBezTo>
                  <a:cubicBezTo>
                    <a:pt x="902997" y="3441271"/>
                    <a:pt x="966497" y="3492071"/>
                    <a:pt x="1070637" y="3516201"/>
                  </a:cubicBezTo>
                  <a:cubicBezTo>
                    <a:pt x="1070637" y="3539061"/>
                    <a:pt x="1089687" y="3530171"/>
                    <a:pt x="1092227" y="3547951"/>
                  </a:cubicBezTo>
                  <a:cubicBezTo>
                    <a:pt x="1290347" y="3525091"/>
                    <a:pt x="1421157" y="3546681"/>
                    <a:pt x="1649757" y="3476831"/>
                  </a:cubicBezTo>
                  <a:cubicBezTo>
                    <a:pt x="1621817" y="3451431"/>
                    <a:pt x="1543077" y="3471751"/>
                    <a:pt x="1527837" y="3459051"/>
                  </a:cubicBezTo>
                  <a:cubicBezTo>
                    <a:pt x="1682777" y="3394281"/>
                    <a:pt x="1872007" y="3371421"/>
                    <a:pt x="2057427" y="3334591"/>
                  </a:cubicBezTo>
                  <a:cubicBezTo>
                    <a:pt x="2235227" y="3300301"/>
                    <a:pt x="2410487" y="3311731"/>
                    <a:pt x="2585747" y="3234261"/>
                  </a:cubicBezTo>
                  <a:cubicBezTo>
                    <a:pt x="2627657" y="3250771"/>
                    <a:pt x="2660677" y="3219021"/>
                    <a:pt x="2700047" y="3207591"/>
                  </a:cubicBezTo>
                  <a:cubicBezTo>
                    <a:pt x="2905787" y="3145361"/>
                    <a:pt x="3167407" y="3095831"/>
                    <a:pt x="3370607" y="3079321"/>
                  </a:cubicBezTo>
                  <a:cubicBezTo>
                    <a:pt x="3406167" y="3076781"/>
                    <a:pt x="3446807" y="3056461"/>
                    <a:pt x="3463317" y="3045031"/>
                  </a:cubicBezTo>
                  <a:cubicBezTo>
                    <a:pt x="3529357" y="3055191"/>
                    <a:pt x="3643657" y="3012011"/>
                    <a:pt x="3703347" y="2995501"/>
                  </a:cubicBezTo>
                  <a:cubicBezTo>
                    <a:pt x="3700807" y="2984071"/>
                    <a:pt x="3690647" y="2971371"/>
                    <a:pt x="3702077" y="2965021"/>
                  </a:cubicBezTo>
                  <a:cubicBezTo>
                    <a:pt x="3784627" y="2945971"/>
                    <a:pt x="3901467" y="2925651"/>
                    <a:pt x="3977667" y="2879931"/>
                  </a:cubicBezTo>
                  <a:cubicBezTo>
                    <a:pt x="3967507" y="2874851"/>
                    <a:pt x="3945917" y="2888821"/>
                    <a:pt x="3944647" y="2868501"/>
                  </a:cubicBezTo>
                  <a:cubicBezTo>
                    <a:pt x="4017037" y="2850721"/>
                    <a:pt x="4105937" y="2843101"/>
                    <a:pt x="4174517" y="2815161"/>
                  </a:cubicBezTo>
                  <a:cubicBezTo>
                    <a:pt x="4160547" y="2812621"/>
                    <a:pt x="4145307" y="2812621"/>
                    <a:pt x="4132607" y="2806271"/>
                  </a:cubicBezTo>
                  <a:cubicBezTo>
                    <a:pt x="4217697" y="2741501"/>
                    <a:pt x="4253257" y="2709751"/>
                    <a:pt x="4370097" y="2695781"/>
                  </a:cubicBezTo>
                  <a:cubicBezTo>
                    <a:pt x="4361207" y="2657681"/>
                    <a:pt x="4387877" y="2633551"/>
                    <a:pt x="4447567" y="2619581"/>
                  </a:cubicBezTo>
                  <a:cubicBezTo>
                    <a:pt x="4464077" y="2596721"/>
                    <a:pt x="4413277" y="2605611"/>
                    <a:pt x="4432327" y="2577671"/>
                  </a:cubicBezTo>
                  <a:cubicBezTo>
                    <a:pt x="4644417" y="2549731"/>
                    <a:pt x="4702837" y="2359231"/>
                    <a:pt x="4800627" y="2252551"/>
                  </a:cubicBezTo>
                  <a:cubicBezTo>
                    <a:pt x="4804437" y="2248741"/>
                    <a:pt x="4820947" y="2238581"/>
                    <a:pt x="4823487" y="2236041"/>
                  </a:cubicBezTo>
                  <a:cubicBezTo>
                    <a:pt x="4958107" y="2154761"/>
                    <a:pt x="5124477" y="2143331"/>
                    <a:pt x="5227347" y="2031571"/>
                  </a:cubicBezTo>
                  <a:cubicBezTo>
                    <a:pt x="5266717" y="1946481"/>
                    <a:pt x="5370857" y="1838531"/>
                    <a:pt x="5255287" y="1768681"/>
                  </a:cubicBezTo>
                  <a:cubicBezTo>
                    <a:pt x="5267987" y="1750901"/>
                    <a:pt x="5261637" y="1726771"/>
                    <a:pt x="5248937" y="1700101"/>
                  </a:cubicBezTo>
                  <a:cubicBezTo>
                    <a:pt x="5196867" y="1714071"/>
                    <a:pt x="4956837" y="1667081"/>
                    <a:pt x="4903497" y="1645491"/>
                  </a:cubicBezTo>
                  <a:cubicBezTo>
                    <a:pt x="4914927" y="1618821"/>
                    <a:pt x="4890797" y="1592151"/>
                    <a:pt x="4897147" y="1576911"/>
                  </a:cubicBezTo>
                  <a:cubicBezTo>
                    <a:pt x="4946677" y="1574371"/>
                    <a:pt x="4960647" y="1555321"/>
                    <a:pt x="4989857" y="1543891"/>
                  </a:cubicBezTo>
                  <a:close/>
                </a:path>
              </a:pathLst>
            </a:custGeom>
            <a:blipFill>
              <a:blip r:embed="rId2"/>
              <a:stretch>
                <a:fillRect l="-16736" r="-1673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2363810"/>
            <a:ext cx="5878448" cy="4890064"/>
            <a:chOff x="0" y="0"/>
            <a:chExt cx="7837930" cy="6520085"/>
          </a:xfrm>
        </p:grpSpPr>
        <p:sp>
          <p:nvSpPr>
            <p:cNvPr id="7" name="TextBox 7"/>
            <p:cNvSpPr txBox="1"/>
            <p:nvPr/>
          </p:nvSpPr>
          <p:spPr>
            <a:xfrm>
              <a:off x="0" y="9525"/>
              <a:ext cx="7837930" cy="4371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640"/>
                </a:lnSpc>
              </a:pPr>
              <a:r>
                <a:rPr lang="en-US" sz="7200" b="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AirfRANS dataset의 method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788777"/>
              <a:ext cx="7837930" cy="731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50"/>
                </a:lnSpc>
              </a:pPr>
              <a:r>
                <a:rPr lang="en-US" sz="3500" b="1" spc="35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OpenFOAM을 사용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4562" y="409575"/>
            <a:ext cx="1396179" cy="1260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b="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id="12" name="슬라이드 번호 개체 틀 9">
            <a:extLst>
              <a:ext uri="{FF2B5EF4-FFF2-40B4-BE49-F238E27FC236}">
                <a16:creationId xmlns:a16="http://schemas.microsoft.com/office/drawing/2014/main" id="{12B9F9F8-D30E-AB45-7F7F-38ECE046275C}"/>
              </a:ext>
            </a:extLst>
          </p:cNvPr>
          <p:cNvSpPr txBox="1">
            <a:spLocks/>
          </p:cNvSpPr>
          <p:nvPr/>
        </p:nvSpPr>
        <p:spPr>
          <a:xfrm>
            <a:off x="15849600" y="95631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6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8511" y="2787587"/>
            <a:ext cx="16700789" cy="6951703"/>
          </a:xfrm>
          <a:custGeom>
            <a:avLst/>
            <a:gdLst/>
            <a:ahLst/>
            <a:cxnLst/>
            <a:rect l="l" t="t" r="r" b="b"/>
            <a:pathLst>
              <a:path w="16700789" h="6951703">
                <a:moveTo>
                  <a:pt x="0" y="0"/>
                </a:moveTo>
                <a:lnTo>
                  <a:pt x="16700789" y="0"/>
                </a:lnTo>
                <a:lnTo>
                  <a:pt x="16700789" y="6951703"/>
                </a:lnTo>
                <a:lnTo>
                  <a:pt x="0" y="6951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44562" y="409575"/>
            <a:ext cx="1396179" cy="1260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b="1" spc="132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4562" y="1306830"/>
            <a:ext cx="14218479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AirfRANS dataset의 측정</a:t>
            </a:r>
          </a:p>
        </p:txBody>
      </p:sp>
      <p:sp>
        <p:nvSpPr>
          <p:cNvPr id="7" name="슬라이드 번호 개체 틀 9">
            <a:extLst>
              <a:ext uri="{FF2B5EF4-FFF2-40B4-BE49-F238E27FC236}">
                <a16:creationId xmlns:a16="http://schemas.microsoft.com/office/drawing/2014/main" id="{89441568-BCFB-4879-0A22-A9D7BE8B6A3D}"/>
              </a:ext>
            </a:extLst>
          </p:cNvPr>
          <p:cNvSpPr txBox="1">
            <a:spLocks/>
          </p:cNvSpPr>
          <p:nvPr/>
        </p:nvSpPr>
        <p:spPr>
          <a:xfrm>
            <a:off x="15849600" y="95631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7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7283" y="699074"/>
            <a:ext cx="17613433" cy="2091595"/>
          </a:xfrm>
          <a:custGeom>
            <a:avLst/>
            <a:gdLst/>
            <a:ahLst/>
            <a:cxnLst/>
            <a:rect l="l" t="t" r="r" b="b"/>
            <a:pathLst>
              <a:path w="17613433" h="2091595">
                <a:moveTo>
                  <a:pt x="0" y="0"/>
                </a:moveTo>
                <a:lnTo>
                  <a:pt x="17613434" y="0"/>
                </a:lnTo>
                <a:lnTo>
                  <a:pt x="17613434" y="2091596"/>
                </a:lnTo>
                <a:lnTo>
                  <a:pt x="0" y="2091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8807" y="8288011"/>
            <a:ext cx="16897405" cy="1056088"/>
          </a:xfrm>
          <a:custGeom>
            <a:avLst/>
            <a:gdLst/>
            <a:ahLst/>
            <a:cxnLst/>
            <a:rect l="l" t="t" r="r" b="b"/>
            <a:pathLst>
              <a:path w="16897405" h="1056088">
                <a:moveTo>
                  <a:pt x="0" y="0"/>
                </a:moveTo>
                <a:lnTo>
                  <a:pt x="16897406" y="0"/>
                </a:lnTo>
                <a:lnTo>
                  <a:pt x="16897406" y="1056088"/>
                </a:lnTo>
                <a:lnTo>
                  <a:pt x="0" y="1056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6105" y="3294144"/>
            <a:ext cx="17475789" cy="446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25"/>
              </a:lnSpc>
              <a:spcBef>
                <a:spcPct val="0"/>
              </a:spcBef>
            </a:pPr>
            <a:r>
              <a:rPr lang="en-US" sz="5613" spc="5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x방향, y방향에 대한 속도, 압력, turbulent flow에서의 kinematic viscosity를 regression(회귀)한 뒤 RANS 방정식에 대입하여 wall shear stress와 associated force를 구한다.</a:t>
            </a:r>
          </a:p>
        </p:txBody>
      </p:sp>
      <p:sp>
        <p:nvSpPr>
          <p:cNvPr id="7" name="슬라이드 번호 개체 틀 9">
            <a:extLst>
              <a:ext uri="{FF2B5EF4-FFF2-40B4-BE49-F238E27FC236}">
                <a16:creationId xmlns:a16="http://schemas.microsoft.com/office/drawing/2014/main" id="{1B4ECA7C-CFAB-DB55-EAA7-92A93F8A2539}"/>
              </a:ext>
            </a:extLst>
          </p:cNvPr>
          <p:cNvSpPr txBox="1">
            <a:spLocks/>
          </p:cNvSpPr>
          <p:nvPr/>
        </p:nvSpPr>
        <p:spPr>
          <a:xfrm>
            <a:off x="15849600" y="95631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8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5500" y="2176846"/>
            <a:ext cx="19619000" cy="5933308"/>
          </a:xfrm>
          <a:custGeom>
            <a:avLst/>
            <a:gdLst/>
            <a:ahLst/>
            <a:cxnLst/>
            <a:rect l="l" t="t" r="r" b="b"/>
            <a:pathLst>
              <a:path w="19619000" h="5933308">
                <a:moveTo>
                  <a:pt x="0" y="0"/>
                </a:moveTo>
                <a:lnTo>
                  <a:pt x="19619000" y="0"/>
                </a:lnTo>
                <a:lnTo>
                  <a:pt x="19619000" y="5933308"/>
                </a:lnTo>
                <a:lnTo>
                  <a:pt x="0" y="5933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850"/>
            </a:stretch>
          </a:blipFill>
        </p:spPr>
      </p:sp>
      <p:sp>
        <p:nvSpPr>
          <p:cNvPr id="5" name="슬라이드 번호 개체 틀 9">
            <a:extLst>
              <a:ext uri="{FF2B5EF4-FFF2-40B4-BE49-F238E27FC236}">
                <a16:creationId xmlns:a16="http://schemas.microsoft.com/office/drawing/2014/main" id="{B4705F55-9AD0-A8F1-C53D-D9E6FD7FBB6A}"/>
              </a:ext>
            </a:extLst>
          </p:cNvPr>
          <p:cNvSpPr txBox="1">
            <a:spLocks/>
          </p:cNvSpPr>
          <p:nvPr/>
        </p:nvSpPr>
        <p:spPr>
          <a:xfrm>
            <a:off x="15849600" y="95631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9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9757" y="5313259"/>
            <a:ext cx="15888487" cy="3396164"/>
          </a:xfrm>
          <a:custGeom>
            <a:avLst/>
            <a:gdLst/>
            <a:ahLst/>
            <a:cxnLst/>
            <a:rect l="l" t="t" r="r" b="b"/>
            <a:pathLst>
              <a:path w="15888487" h="3396164">
                <a:moveTo>
                  <a:pt x="0" y="0"/>
                </a:moveTo>
                <a:lnTo>
                  <a:pt x="15888486" y="0"/>
                </a:lnTo>
                <a:lnTo>
                  <a:pt x="15888486" y="3396164"/>
                </a:lnTo>
                <a:lnTo>
                  <a:pt x="0" y="3396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6313" y="1028700"/>
            <a:ext cx="16712987" cy="3676857"/>
          </a:xfrm>
          <a:custGeom>
            <a:avLst/>
            <a:gdLst/>
            <a:ahLst/>
            <a:cxnLst/>
            <a:rect l="l" t="t" r="r" b="b"/>
            <a:pathLst>
              <a:path w="16712987" h="3676857">
                <a:moveTo>
                  <a:pt x="0" y="0"/>
                </a:moveTo>
                <a:lnTo>
                  <a:pt x="16712987" y="0"/>
                </a:lnTo>
                <a:lnTo>
                  <a:pt x="16712987" y="3676857"/>
                </a:lnTo>
                <a:lnTo>
                  <a:pt x="0" y="3676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슬라이드 번호 개체 틀 9">
            <a:extLst>
              <a:ext uri="{FF2B5EF4-FFF2-40B4-BE49-F238E27FC236}">
                <a16:creationId xmlns:a16="http://schemas.microsoft.com/office/drawing/2014/main" id="{CCFC03E0-2203-AF17-6551-A1BA60DC9339}"/>
              </a:ext>
            </a:extLst>
          </p:cNvPr>
          <p:cNvSpPr txBox="1">
            <a:spLocks/>
          </p:cNvSpPr>
          <p:nvPr/>
        </p:nvSpPr>
        <p:spPr>
          <a:xfrm>
            <a:off x="15849600" y="95631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10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971724" y="4782551"/>
            <a:ext cx="5668116" cy="1667269"/>
            <a:chOff x="0" y="0"/>
            <a:chExt cx="7557488" cy="2223025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 rot="-10800000">
              <a:off x="0" y="0"/>
              <a:ext cx="2218336" cy="2218336"/>
              <a:chOff x="0" y="0"/>
              <a:chExt cx="2653030" cy="26530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53030" cy="2654300"/>
              </a:xfrm>
              <a:custGeom>
                <a:avLst/>
                <a:gdLst/>
                <a:ahLst/>
                <a:cxnLst/>
                <a:rect l="l" t="t" r="r" b="b"/>
                <a:pathLst>
                  <a:path w="2653030" h="2654300">
                    <a:moveTo>
                      <a:pt x="0" y="1535430"/>
                    </a:moveTo>
                    <a:lnTo>
                      <a:pt x="0" y="1463040"/>
                    </a:lnTo>
                    <a:lnTo>
                      <a:pt x="1463040" y="0"/>
                    </a:lnTo>
                    <a:lnTo>
                      <a:pt x="1535430" y="0"/>
                    </a:lnTo>
                    <a:lnTo>
                      <a:pt x="0" y="1535430"/>
                    </a:lnTo>
                    <a:close/>
                    <a:moveTo>
                      <a:pt x="1681480" y="0"/>
                    </a:moveTo>
                    <a:lnTo>
                      <a:pt x="1609090" y="0"/>
                    </a:lnTo>
                    <a:lnTo>
                      <a:pt x="0" y="1607820"/>
                    </a:lnTo>
                    <a:lnTo>
                      <a:pt x="0" y="1680210"/>
                    </a:lnTo>
                    <a:lnTo>
                      <a:pt x="1681480" y="0"/>
                    </a:lnTo>
                    <a:close/>
                    <a:moveTo>
                      <a:pt x="1390650" y="0"/>
                    </a:moveTo>
                    <a:lnTo>
                      <a:pt x="1318260" y="0"/>
                    </a:lnTo>
                    <a:lnTo>
                      <a:pt x="0" y="1318260"/>
                    </a:lnTo>
                    <a:lnTo>
                      <a:pt x="0" y="1390650"/>
                    </a:lnTo>
                    <a:lnTo>
                      <a:pt x="1390650" y="0"/>
                    </a:lnTo>
                    <a:close/>
                    <a:moveTo>
                      <a:pt x="1245870" y="0"/>
                    </a:moveTo>
                    <a:lnTo>
                      <a:pt x="1173480" y="0"/>
                    </a:lnTo>
                    <a:lnTo>
                      <a:pt x="0" y="1173480"/>
                    </a:lnTo>
                    <a:lnTo>
                      <a:pt x="0" y="1245870"/>
                    </a:lnTo>
                    <a:lnTo>
                      <a:pt x="1245870" y="0"/>
                    </a:lnTo>
                    <a:close/>
                    <a:moveTo>
                      <a:pt x="1826260" y="0"/>
                    </a:moveTo>
                    <a:lnTo>
                      <a:pt x="1753870" y="0"/>
                    </a:lnTo>
                    <a:lnTo>
                      <a:pt x="0" y="1753870"/>
                    </a:lnTo>
                    <a:lnTo>
                      <a:pt x="0" y="1826260"/>
                    </a:lnTo>
                    <a:lnTo>
                      <a:pt x="1826260" y="0"/>
                    </a:lnTo>
                    <a:close/>
                    <a:moveTo>
                      <a:pt x="2260600" y="0"/>
                    </a:moveTo>
                    <a:lnTo>
                      <a:pt x="2188210" y="0"/>
                    </a:lnTo>
                    <a:lnTo>
                      <a:pt x="0" y="2188210"/>
                    </a:lnTo>
                    <a:lnTo>
                      <a:pt x="0" y="2260600"/>
                    </a:lnTo>
                    <a:lnTo>
                      <a:pt x="2260600" y="0"/>
                    </a:lnTo>
                    <a:close/>
                    <a:moveTo>
                      <a:pt x="2551430" y="0"/>
                    </a:moveTo>
                    <a:lnTo>
                      <a:pt x="2479040" y="0"/>
                    </a:lnTo>
                    <a:lnTo>
                      <a:pt x="0" y="2479040"/>
                    </a:lnTo>
                    <a:lnTo>
                      <a:pt x="0" y="2551430"/>
                    </a:lnTo>
                    <a:lnTo>
                      <a:pt x="2551430" y="0"/>
                    </a:lnTo>
                    <a:close/>
                    <a:moveTo>
                      <a:pt x="2405380" y="0"/>
                    </a:moveTo>
                    <a:lnTo>
                      <a:pt x="2332990" y="0"/>
                    </a:lnTo>
                    <a:lnTo>
                      <a:pt x="0" y="2332990"/>
                    </a:lnTo>
                    <a:lnTo>
                      <a:pt x="0" y="2405380"/>
                    </a:lnTo>
                    <a:lnTo>
                      <a:pt x="2405380" y="0"/>
                    </a:lnTo>
                    <a:close/>
                    <a:moveTo>
                      <a:pt x="2115820" y="0"/>
                    </a:moveTo>
                    <a:lnTo>
                      <a:pt x="2043430" y="0"/>
                    </a:lnTo>
                    <a:lnTo>
                      <a:pt x="0" y="2043430"/>
                    </a:lnTo>
                    <a:lnTo>
                      <a:pt x="0" y="2115820"/>
                    </a:lnTo>
                    <a:lnTo>
                      <a:pt x="2115820" y="0"/>
                    </a:lnTo>
                    <a:close/>
                    <a:moveTo>
                      <a:pt x="375920" y="0"/>
                    </a:moveTo>
                    <a:lnTo>
                      <a:pt x="303530" y="0"/>
                    </a:lnTo>
                    <a:lnTo>
                      <a:pt x="0" y="303530"/>
                    </a:lnTo>
                    <a:lnTo>
                      <a:pt x="0" y="375920"/>
                    </a:lnTo>
                    <a:lnTo>
                      <a:pt x="375920" y="0"/>
                    </a:lnTo>
                    <a:close/>
                    <a:moveTo>
                      <a:pt x="1101090" y="0"/>
                    </a:moveTo>
                    <a:lnTo>
                      <a:pt x="1028700" y="0"/>
                    </a:lnTo>
                    <a:lnTo>
                      <a:pt x="0" y="1028700"/>
                    </a:lnTo>
                    <a:lnTo>
                      <a:pt x="0" y="1101090"/>
                    </a:lnTo>
                    <a:lnTo>
                      <a:pt x="1101090" y="0"/>
                    </a:lnTo>
                    <a:close/>
                    <a:moveTo>
                      <a:pt x="2653030" y="0"/>
                    </a:moveTo>
                    <a:lnTo>
                      <a:pt x="2623820" y="0"/>
                    </a:lnTo>
                    <a:lnTo>
                      <a:pt x="0" y="2623820"/>
                    </a:lnTo>
                    <a:lnTo>
                      <a:pt x="0" y="2653030"/>
                    </a:lnTo>
                    <a:lnTo>
                      <a:pt x="43180" y="2653030"/>
                    </a:lnTo>
                    <a:lnTo>
                      <a:pt x="2653030" y="43180"/>
                    </a:lnTo>
                    <a:lnTo>
                      <a:pt x="2653030" y="0"/>
                    </a:lnTo>
                    <a:close/>
                    <a:moveTo>
                      <a:pt x="520700" y="0"/>
                    </a:moveTo>
                    <a:lnTo>
                      <a:pt x="448310" y="0"/>
                    </a:lnTo>
                    <a:lnTo>
                      <a:pt x="0" y="448310"/>
                    </a:lnTo>
                    <a:lnTo>
                      <a:pt x="0" y="520700"/>
                    </a:lnTo>
                    <a:lnTo>
                      <a:pt x="520700" y="0"/>
                    </a:lnTo>
                    <a:close/>
                    <a:moveTo>
                      <a:pt x="85090" y="0"/>
                    </a:moveTo>
                    <a:lnTo>
                      <a:pt x="12700" y="0"/>
                    </a:lnTo>
                    <a:lnTo>
                      <a:pt x="0" y="12700"/>
                    </a:lnTo>
                    <a:lnTo>
                      <a:pt x="0" y="85090"/>
                    </a:lnTo>
                    <a:lnTo>
                      <a:pt x="85090" y="0"/>
                    </a:lnTo>
                    <a:close/>
                    <a:moveTo>
                      <a:pt x="231140" y="0"/>
                    </a:moveTo>
                    <a:lnTo>
                      <a:pt x="158750" y="0"/>
                    </a:lnTo>
                    <a:lnTo>
                      <a:pt x="0" y="157480"/>
                    </a:lnTo>
                    <a:lnTo>
                      <a:pt x="0" y="229870"/>
                    </a:lnTo>
                    <a:lnTo>
                      <a:pt x="231140" y="0"/>
                    </a:lnTo>
                    <a:close/>
                    <a:moveTo>
                      <a:pt x="0" y="956310"/>
                    </a:moveTo>
                    <a:lnTo>
                      <a:pt x="956310" y="0"/>
                    </a:lnTo>
                    <a:lnTo>
                      <a:pt x="883920" y="0"/>
                    </a:lnTo>
                    <a:lnTo>
                      <a:pt x="0" y="882650"/>
                    </a:lnTo>
                    <a:lnTo>
                      <a:pt x="0" y="956310"/>
                    </a:lnTo>
                    <a:close/>
                    <a:moveTo>
                      <a:pt x="665480" y="0"/>
                    </a:moveTo>
                    <a:lnTo>
                      <a:pt x="593090" y="0"/>
                    </a:lnTo>
                    <a:lnTo>
                      <a:pt x="0" y="593090"/>
                    </a:lnTo>
                    <a:lnTo>
                      <a:pt x="0" y="665480"/>
                    </a:lnTo>
                    <a:lnTo>
                      <a:pt x="665480" y="0"/>
                    </a:lnTo>
                    <a:close/>
                    <a:moveTo>
                      <a:pt x="810260" y="0"/>
                    </a:moveTo>
                    <a:lnTo>
                      <a:pt x="737870" y="0"/>
                    </a:lnTo>
                    <a:lnTo>
                      <a:pt x="0" y="737870"/>
                    </a:lnTo>
                    <a:lnTo>
                      <a:pt x="0" y="810260"/>
                    </a:lnTo>
                    <a:lnTo>
                      <a:pt x="810260" y="0"/>
                    </a:lnTo>
                    <a:close/>
                    <a:moveTo>
                      <a:pt x="1971040" y="0"/>
                    </a:moveTo>
                    <a:lnTo>
                      <a:pt x="1898650" y="0"/>
                    </a:lnTo>
                    <a:lnTo>
                      <a:pt x="0" y="1898650"/>
                    </a:lnTo>
                    <a:lnTo>
                      <a:pt x="0" y="1971040"/>
                    </a:lnTo>
                    <a:lnTo>
                      <a:pt x="1971040" y="0"/>
                    </a:lnTo>
                    <a:close/>
                    <a:moveTo>
                      <a:pt x="2653030" y="1783080"/>
                    </a:moveTo>
                    <a:lnTo>
                      <a:pt x="2653030" y="1710690"/>
                    </a:lnTo>
                    <a:lnTo>
                      <a:pt x="1710690" y="2653030"/>
                    </a:lnTo>
                    <a:lnTo>
                      <a:pt x="1783080" y="2653030"/>
                    </a:lnTo>
                    <a:lnTo>
                      <a:pt x="2653030" y="1783080"/>
                    </a:lnTo>
                    <a:close/>
                    <a:moveTo>
                      <a:pt x="2653030" y="1927860"/>
                    </a:moveTo>
                    <a:lnTo>
                      <a:pt x="2653030" y="1855470"/>
                    </a:lnTo>
                    <a:lnTo>
                      <a:pt x="1855470" y="2653030"/>
                    </a:lnTo>
                    <a:lnTo>
                      <a:pt x="1927860" y="2653030"/>
                    </a:lnTo>
                    <a:lnTo>
                      <a:pt x="2653030" y="1927860"/>
                    </a:lnTo>
                    <a:close/>
                    <a:moveTo>
                      <a:pt x="2653030" y="2072640"/>
                    </a:moveTo>
                    <a:lnTo>
                      <a:pt x="2653030" y="2000250"/>
                    </a:lnTo>
                    <a:lnTo>
                      <a:pt x="2000250" y="2653030"/>
                    </a:lnTo>
                    <a:lnTo>
                      <a:pt x="2072640" y="2653030"/>
                    </a:lnTo>
                    <a:lnTo>
                      <a:pt x="2653030" y="2072640"/>
                    </a:lnTo>
                    <a:close/>
                    <a:moveTo>
                      <a:pt x="2653030" y="1638300"/>
                    </a:moveTo>
                    <a:lnTo>
                      <a:pt x="2653030" y="1565910"/>
                    </a:lnTo>
                    <a:lnTo>
                      <a:pt x="1564640" y="2654300"/>
                    </a:lnTo>
                    <a:lnTo>
                      <a:pt x="1637030" y="2654300"/>
                    </a:lnTo>
                    <a:lnTo>
                      <a:pt x="2653030" y="1638300"/>
                    </a:lnTo>
                    <a:close/>
                    <a:moveTo>
                      <a:pt x="2217420" y="2653030"/>
                    </a:moveTo>
                    <a:lnTo>
                      <a:pt x="2653030" y="2217420"/>
                    </a:lnTo>
                    <a:lnTo>
                      <a:pt x="2653030" y="2145030"/>
                    </a:lnTo>
                    <a:lnTo>
                      <a:pt x="2145030" y="2653030"/>
                    </a:lnTo>
                    <a:lnTo>
                      <a:pt x="2217420" y="2653030"/>
                    </a:lnTo>
                    <a:close/>
                    <a:moveTo>
                      <a:pt x="2653030" y="2580640"/>
                    </a:moveTo>
                    <a:lnTo>
                      <a:pt x="2580640" y="2653030"/>
                    </a:lnTo>
                    <a:lnTo>
                      <a:pt x="2653030" y="2653030"/>
                    </a:lnTo>
                    <a:lnTo>
                      <a:pt x="2653030" y="2580640"/>
                    </a:lnTo>
                    <a:close/>
                    <a:moveTo>
                      <a:pt x="2653030" y="2508250"/>
                    </a:moveTo>
                    <a:lnTo>
                      <a:pt x="2653030" y="2435860"/>
                    </a:lnTo>
                    <a:lnTo>
                      <a:pt x="2435860" y="2653030"/>
                    </a:lnTo>
                    <a:lnTo>
                      <a:pt x="2508250" y="2653030"/>
                    </a:lnTo>
                    <a:lnTo>
                      <a:pt x="2653030" y="2508250"/>
                    </a:lnTo>
                    <a:close/>
                    <a:moveTo>
                      <a:pt x="2653030" y="2363470"/>
                    </a:moveTo>
                    <a:lnTo>
                      <a:pt x="2653030" y="2291080"/>
                    </a:lnTo>
                    <a:lnTo>
                      <a:pt x="2291080" y="2653030"/>
                    </a:lnTo>
                    <a:lnTo>
                      <a:pt x="2363470" y="2653030"/>
                    </a:lnTo>
                    <a:lnTo>
                      <a:pt x="2653030" y="2363470"/>
                    </a:lnTo>
                    <a:close/>
                    <a:moveTo>
                      <a:pt x="2653030" y="1492250"/>
                    </a:moveTo>
                    <a:lnTo>
                      <a:pt x="2653030" y="1419860"/>
                    </a:lnTo>
                    <a:lnTo>
                      <a:pt x="1419860" y="2653030"/>
                    </a:lnTo>
                    <a:lnTo>
                      <a:pt x="1492250" y="2653030"/>
                    </a:lnTo>
                    <a:lnTo>
                      <a:pt x="2653030" y="1492250"/>
                    </a:lnTo>
                    <a:close/>
                    <a:moveTo>
                      <a:pt x="2653030" y="187960"/>
                    </a:moveTo>
                    <a:lnTo>
                      <a:pt x="2653030" y="115570"/>
                    </a:lnTo>
                    <a:lnTo>
                      <a:pt x="115570" y="2653030"/>
                    </a:lnTo>
                    <a:lnTo>
                      <a:pt x="187960" y="2653030"/>
                    </a:lnTo>
                    <a:lnTo>
                      <a:pt x="2653030" y="187960"/>
                    </a:lnTo>
                    <a:close/>
                    <a:moveTo>
                      <a:pt x="2653030" y="622300"/>
                    </a:moveTo>
                    <a:lnTo>
                      <a:pt x="2653030" y="549910"/>
                    </a:lnTo>
                    <a:lnTo>
                      <a:pt x="549910" y="2653030"/>
                    </a:lnTo>
                    <a:lnTo>
                      <a:pt x="622300" y="2653030"/>
                    </a:lnTo>
                    <a:lnTo>
                      <a:pt x="2653030" y="622300"/>
                    </a:lnTo>
                    <a:close/>
                    <a:moveTo>
                      <a:pt x="2653030" y="477520"/>
                    </a:moveTo>
                    <a:lnTo>
                      <a:pt x="2653030" y="405130"/>
                    </a:lnTo>
                    <a:lnTo>
                      <a:pt x="405130" y="2653030"/>
                    </a:lnTo>
                    <a:lnTo>
                      <a:pt x="477520" y="2653030"/>
                    </a:lnTo>
                    <a:lnTo>
                      <a:pt x="2653030" y="477520"/>
                    </a:lnTo>
                    <a:close/>
                    <a:moveTo>
                      <a:pt x="2653030" y="1347470"/>
                    </a:moveTo>
                    <a:lnTo>
                      <a:pt x="2653030" y="1275080"/>
                    </a:lnTo>
                    <a:lnTo>
                      <a:pt x="1275080" y="2653030"/>
                    </a:lnTo>
                    <a:lnTo>
                      <a:pt x="1347470" y="2653030"/>
                    </a:lnTo>
                    <a:lnTo>
                      <a:pt x="2653030" y="1347470"/>
                    </a:lnTo>
                    <a:close/>
                    <a:moveTo>
                      <a:pt x="2653030" y="767080"/>
                    </a:moveTo>
                    <a:lnTo>
                      <a:pt x="2653030" y="694690"/>
                    </a:lnTo>
                    <a:lnTo>
                      <a:pt x="694690" y="2653030"/>
                    </a:lnTo>
                    <a:lnTo>
                      <a:pt x="767080" y="2653030"/>
                    </a:lnTo>
                    <a:lnTo>
                      <a:pt x="2653030" y="767080"/>
                    </a:lnTo>
                    <a:close/>
                    <a:moveTo>
                      <a:pt x="2653030" y="332740"/>
                    </a:moveTo>
                    <a:lnTo>
                      <a:pt x="2653030" y="260350"/>
                    </a:lnTo>
                    <a:lnTo>
                      <a:pt x="260350" y="2653030"/>
                    </a:lnTo>
                    <a:lnTo>
                      <a:pt x="332740" y="2653030"/>
                    </a:lnTo>
                    <a:lnTo>
                      <a:pt x="2653030" y="332740"/>
                    </a:lnTo>
                    <a:close/>
                    <a:moveTo>
                      <a:pt x="2653030" y="1202690"/>
                    </a:moveTo>
                    <a:lnTo>
                      <a:pt x="2653030" y="1130300"/>
                    </a:lnTo>
                    <a:lnTo>
                      <a:pt x="1130300" y="2653030"/>
                    </a:lnTo>
                    <a:lnTo>
                      <a:pt x="1202690" y="2653030"/>
                    </a:lnTo>
                    <a:lnTo>
                      <a:pt x="2653030" y="1202690"/>
                    </a:lnTo>
                    <a:close/>
                    <a:moveTo>
                      <a:pt x="2653030" y="913130"/>
                    </a:moveTo>
                    <a:lnTo>
                      <a:pt x="2653030" y="840740"/>
                    </a:lnTo>
                    <a:lnTo>
                      <a:pt x="840740" y="2653030"/>
                    </a:lnTo>
                    <a:lnTo>
                      <a:pt x="913130" y="2653030"/>
                    </a:lnTo>
                    <a:lnTo>
                      <a:pt x="2653030" y="913130"/>
                    </a:lnTo>
                    <a:close/>
                    <a:moveTo>
                      <a:pt x="2653030" y="1057910"/>
                    </a:moveTo>
                    <a:lnTo>
                      <a:pt x="2653030" y="985520"/>
                    </a:lnTo>
                    <a:lnTo>
                      <a:pt x="985520" y="2653030"/>
                    </a:lnTo>
                    <a:lnTo>
                      <a:pt x="1057910" y="2653030"/>
                    </a:lnTo>
                    <a:lnTo>
                      <a:pt x="2653030" y="1057910"/>
                    </a:lnTo>
                    <a:close/>
                  </a:path>
                </a:pathLst>
              </a:custGeom>
              <a:solidFill>
                <a:srgbClr val="6274CF"/>
              </a:solidFill>
            </p:spPr>
          </p:sp>
        </p:grpSp>
        <p:sp>
          <p:nvSpPr>
            <p:cNvPr id="5" name="AutoShape 5"/>
            <p:cNvSpPr/>
            <p:nvPr/>
          </p:nvSpPr>
          <p:spPr>
            <a:xfrm rot="-10800000">
              <a:off x="5339152" y="9379"/>
              <a:ext cx="2218336" cy="2208957"/>
            </a:xfrm>
            <a:prstGeom prst="rect">
              <a:avLst/>
            </a:prstGeom>
            <a:solidFill>
              <a:srgbClr val="6274CF"/>
            </a:solidFill>
          </p:spPr>
        </p:sp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 rot="-10800000">
              <a:off x="2669576" y="4689"/>
              <a:ext cx="2218336" cy="2218336"/>
              <a:chOff x="0" y="0"/>
              <a:chExt cx="1708150" cy="17081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706883" cy="1708150"/>
              </a:xfrm>
              <a:custGeom>
                <a:avLst/>
                <a:gdLst/>
                <a:ahLst/>
                <a:cxnLst/>
                <a:rect l="l" t="t" r="r" b="b"/>
                <a:pathLst>
                  <a:path w="1706883" h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6274CF"/>
              </a:solidFill>
            </p:spPr>
          </p:sp>
        </p:grpSp>
      </p:grpSp>
      <p:grpSp>
        <p:nvGrpSpPr>
          <p:cNvPr id="8" name="Group 8"/>
          <p:cNvGrpSpPr/>
          <p:nvPr/>
        </p:nvGrpSpPr>
        <p:grpSpPr>
          <a:xfrm>
            <a:off x="3436023" y="2782127"/>
            <a:ext cx="13557206" cy="5668116"/>
            <a:chOff x="0" y="0"/>
            <a:chExt cx="18076275" cy="7557488"/>
          </a:xfrm>
        </p:grpSpPr>
        <p:sp>
          <p:nvSpPr>
            <p:cNvPr id="9" name="TextBox 9"/>
            <p:cNvSpPr txBox="1"/>
            <p:nvPr/>
          </p:nvSpPr>
          <p:spPr>
            <a:xfrm>
              <a:off x="0" y="-76200"/>
              <a:ext cx="18076275" cy="1751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783"/>
                </a:lnSpc>
              </a:pPr>
              <a:r>
                <a:rPr lang="en-US" sz="8294" b="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GAT MODEL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21311"/>
              <a:ext cx="18076275" cy="4736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275"/>
                </a:lnSpc>
              </a:pPr>
              <a:r>
                <a:rPr lang="en-US" sz="4850" u="none" spc="48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GAT MODEL은 각각의 이웃되는 노드들의 중요도를 다르게 설정하여 각각 다른 가중치(weight)를 부여하고 곱하여 현재 노드의 features를 업데이트 하는 방식을 갖는다.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2165974"/>
              <a:ext cx="1324627" cy="223120"/>
            </a:xfrm>
            <a:prstGeom prst="rect">
              <a:avLst/>
            </a:prstGeom>
            <a:solidFill>
              <a:srgbClr val="000000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id="15" name="슬라이드 번호 개체 틀 9">
            <a:extLst>
              <a:ext uri="{FF2B5EF4-FFF2-40B4-BE49-F238E27FC236}">
                <a16:creationId xmlns:a16="http://schemas.microsoft.com/office/drawing/2014/main" id="{C54186DD-601F-7D6B-115E-9FFEF9F17A5F}"/>
              </a:ext>
            </a:extLst>
          </p:cNvPr>
          <p:cNvSpPr txBox="1">
            <a:spLocks/>
          </p:cNvSpPr>
          <p:nvPr/>
        </p:nvSpPr>
        <p:spPr>
          <a:xfrm>
            <a:off x="15849600" y="95631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11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419850" cy="10287000"/>
          </a:xfrm>
          <a:prstGeom prst="rect">
            <a:avLst/>
          </a:prstGeom>
          <a:solidFill>
            <a:srgbClr val="6274CF"/>
          </a:solidFill>
        </p:spPr>
      </p:sp>
      <p:grpSp>
        <p:nvGrpSpPr>
          <p:cNvPr id="3" name="Group 3"/>
          <p:cNvGrpSpPr/>
          <p:nvPr/>
        </p:nvGrpSpPr>
        <p:grpSpPr>
          <a:xfrm>
            <a:off x="609479" y="244711"/>
            <a:ext cx="10322736" cy="9797579"/>
            <a:chOff x="0" y="0"/>
            <a:chExt cx="1064919" cy="1010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4919" cy="1010742"/>
            </a:xfrm>
            <a:custGeom>
              <a:avLst/>
              <a:gdLst/>
              <a:ahLst/>
              <a:cxnLst/>
              <a:rect l="l" t="t" r="r" b="b"/>
              <a:pathLst>
                <a:path w="1064919" h="1010742">
                  <a:moveTo>
                    <a:pt x="0" y="0"/>
                  </a:moveTo>
                  <a:lnTo>
                    <a:pt x="1064919" y="0"/>
                  </a:lnTo>
                  <a:lnTo>
                    <a:pt x="1064919" y="1010742"/>
                  </a:lnTo>
                  <a:lnTo>
                    <a:pt x="0" y="1010742"/>
                  </a:lnTo>
                  <a:close/>
                </a:path>
              </a:pathLst>
            </a:custGeom>
            <a:blipFill>
              <a:blip r:embed="rId2"/>
              <a:stretch>
                <a:fillRect t="-1845" b="-1845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758424" y="244711"/>
            <a:ext cx="61877" cy="9797579"/>
            <a:chOff x="0" y="0"/>
            <a:chExt cx="4491" cy="7110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1" cy="711079"/>
            </a:xfrm>
            <a:custGeom>
              <a:avLst/>
              <a:gdLst/>
              <a:ahLst/>
              <a:cxnLst/>
              <a:rect l="l" t="t" r="r" b="b"/>
              <a:pathLst>
                <a:path w="4491" h="711079">
                  <a:moveTo>
                    <a:pt x="2245" y="0"/>
                  </a:moveTo>
                  <a:lnTo>
                    <a:pt x="2245" y="0"/>
                  </a:lnTo>
                  <a:cubicBezTo>
                    <a:pt x="2841" y="0"/>
                    <a:pt x="3412" y="237"/>
                    <a:pt x="3833" y="658"/>
                  </a:cubicBezTo>
                  <a:cubicBezTo>
                    <a:pt x="4254" y="1079"/>
                    <a:pt x="4491" y="1650"/>
                    <a:pt x="4491" y="2245"/>
                  </a:cubicBezTo>
                  <a:lnTo>
                    <a:pt x="4491" y="708833"/>
                  </a:lnTo>
                  <a:cubicBezTo>
                    <a:pt x="4491" y="709429"/>
                    <a:pt x="4254" y="710000"/>
                    <a:pt x="3833" y="710421"/>
                  </a:cubicBezTo>
                  <a:cubicBezTo>
                    <a:pt x="3412" y="710842"/>
                    <a:pt x="2841" y="711079"/>
                    <a:pt x="2245" y="711079"/>
                  </a:cubicBezTo>
                  <a:lnTo>
                    <a:pt x="2245" y="711079"/>
                  </a:lnTo>
                  <a:cubicBezTo>
                    <a:pt x="1650" y="711079"/>
                    <a:pt x="1079" y="710842"/>
                    <a:pt x="658" y="710421"/>
                  </a:cubicBezTo>
                  <a:cubicBezTo>
                    <a:pt x="237" y="710000"/>
                    <a:pt x="0" y="709429"/>
                    <a:pt x="0" y="708833"/>
                  </a:cubicBezTo>
                  <a:lnTo>
                    <a:pt x="0" y="2245"/>
                  </a:lnTo>
                  <a:cubicBezTo>
                    <a:pt x="0" y="1650"/>
                    <a:pt x="237" y="1079"/>
                    <a:pt x="658" y="658"/>
                  </a:cubicBezTo>
                  <a:cubicBezTo>
                    <a:pt x="1079" y="237"/>
                    <a:pt x="1650" y="0"/>
                    <a:pt x="224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491" cy="739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075247" y="3790950"/>
            <a:ext cx="3841153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</a:pPr>
            <a:r>
              <a:rPr lang="en-US" sz="3000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Velickovic, Petar, et al. "Graph attention networks." stat 1050.20 (2017): </a:t>
            </a:r>
          </a:p>
          <a:p>
            <a:pPr marL="0" lvl="0" indent="0" algn="ctr">
              <a:lnSpc>
                <a:spcPts val="4200"/>
              </a:lnSpc>
            </a:pPr>
            <a:r>
              <a:rPr lang="en-US" sz="3000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10-48550.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5586613-944B-4695-BC61-EECB2987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12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20221" y="3093988"/>
            <a:ext cx="10247558" cy="2049512"/>
          </a:xfrm>
          <a:custGeom>
            <a:avLst/>
            <a:gdLst/>
            <a:ahLst/>
            <a:cxnLst/>
            <a:rect l="l" t="t" r="r" b="b"/>
            <a:pathLst>
              <a:path w="10247558" h="2049512">
                <a:moveTo>
                  <a:pt x="0" y="0"/>
                </a:moveTo>
                <a:lnTo>
                  <a:pt x="10247558" y="0"/>
                </a:lnTo>
                <a:lnTo>
                  <a:pt x="10247558" y="2049512"/>
                </a:lnTo>
                <a:lnTo>
                  <a:pt x="0" y="2049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4562" y="1306830"/>
            <a:ext cx="8976571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GAT MODEL METHOD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97586" y="5130436"/>
            <a:ext cx="9292828" cy="191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39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node i에 대한 node j의 중요성을 나타내는 </a:t>
            </a:r>
          </a:p>
          <a:p>
            <a:pPr algn="ctr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attention coefficient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7391" y="7340600"/>
            <a:ext cx="16513219" cy="191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39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W(가중치 행렬) : 새로운 히든 벡터로 변환 </a:t>
            </a:r>
          </a:p>
          <a:p>
            <a:pPr algn="ctr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a(가중치 벡터) : 두 노드 사이에 상대적인 중요도를 결정</a:t>
            </a:r>
          </a:p>
        </p:txBody>
      </p:sp>
      <p:sp>
        <p:nvSpPr>
          <p:cNvPr id="8" name="슬라이드 번호 개체 틀 9">
            <a:extLst>
              <a:ext uri="{FF2B5EF4-FFF2-40B4-BE49-F238E27FC236}">
                <a16:creationId xmlns:a16="http://schemas.microsoft.com/office/drawing/2014/main" id="{3F933313-6D1B-546E-B501-A8A66722C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13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358574"/>
            <a:ext cx="10779723" cy="2084461"/>
          </a:xfrm>
          <a:custGeom>
            <a:avLst/>
            <a:gdLst/>
            <a:ahLst/>
            <a:cxnLst/>
            <a:rect l="l" t="t" r="r" b="b"/>
            <a:pathLst>
              <a:path w="10779723" h="2084461">
                <a:moveTo>
                  <a:pt x="0" y="0"/>
                </a:moveTo>
                <a:lnTo>
                  <a:pt x="10779723" y="0"/>
                </a:lnTo>
                <a:lnTo>
                  <a:pt x="10779723" y="2084462"/>
                </a:lnTo>
                <a:lnTo>
                  <a:pt x="0" y="2084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47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17151" y="2032934"/>
            <a:ext cx="5519052" cy="6246268"/>
          </a:xfrm>
          <a:custGeom>
            <a:avLst/>
            <a:gdLst/>
            <a:ahLst/>
            <a:cxnLst/>
            <a:rect l="l" t="t" r="r" b="b"/>
            <a:pathLst>
              <a:path w="5519052" h="6246268">
                <a:moveTo>
                  <a:pt x="0" y="0"/>
                </a:moveTo>
                <a:lnTo>
                  <a:pt x="5519051" y="0"/>
                </a:lnTo>
                <a:lnTo>
                  <a:pt x="5519051" y="6246268"/>
                </a:lnTo>
                <a:lnTo>
                  <a:pt x="0" y="6246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4562" y="1306830"/>
            <a:ext cx="8976571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GAT MODEL METHOD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984750"/>
            <a:ext cx="10542868" cy="204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0"/>
              </a:lnSpc>
              <a:spcBef>
                <a:spcPct val="0"/>
              </a:spcBef>
            </a:pPr>
            <a:r>
              <a:rPr lang="en-US" sz="424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masked attention을 이용하여 이웃노드들에 대해서만 attention을 계산</a:t>
            </a:r>
          </a:p>
        </p:txBody>
      </p:sp>
      <p:sp>
        <p:nvSpPr>
          <p:cNvPr id="8" name="슬라이드 번호 개체 틀 9">
            <a:extLst>
              <a:ext uri="{FF2B5EF4-FFF2-40B4-BE49-F238E27FC236}">
                <a16:creationId xmlns:a16="http://schemas.microsoft.com/office/drawing/2014/main" id="{9FEB222D-8E55-7233-E509-21E832E47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14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45038" y="3418193"/>
            <a:ext cx="13597924" cy="2660994"/>
          </a:xfrm>
          <a:custGeom>
            <a:avLst/>
            <a:gdLst/>
            <a:ahLst/>
            <a:cxnLst/>
            <a:rect l="l" t="t" r="r" b="b"/>
            <a:pathLst>
              <a:path w="13597924" h="2660994">
                <a:moveTo>
                  <a:pt x="0" y="0"/>
                </a:moveTo>
                <a:lnTo>
                  <a:pt x="13597924" y="0"/>
                </a:lnTo>
                <a:lnTo>
                  <a:pt x="13597924" y="2660994"/>
                </a:lnTo>
                <a:lnTo>
                  <a:pt x="0" y="2660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4562" y="1306830"/>
            <a:ext cx="8976571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GAT MODEL METHOD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10511" y="6358127"/>
            <a:ext cx="15348789" cy="312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0"/>
              </a:lnSpc>
              <a:spcBef>
                <a:spcPct val="0"/>
              </a:spcBef>
            </a:pPr>
            <a:r>
              <a:rPr lang="en-US" sz="424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attention coefficient를 LeakyReLU를 활용하여 표현할 수 있고, W(가중치 행렬)를 a의 weight vector(가중치 벡터)를 활용해 parameterize한다.</a:t>
            </a:r>
          </a:p>
        </p:txBody>
      </p:sp>
      <p:sp>
        <p:nvSpPr>
          <p:cNvPr id="7" name="슬라이드 번호 개체 틀 9">
            <a:extLst>
              <a:ext uri="{FF2B5EF4-FFF2-40B4-BE49-F238E27FC236}">
                <a16:creationId xmlns:a16="http://schemas.microsoft.com/office/drawing/2014/main" id="{4C275437-8515-2E9D-27E4-C6DC0412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15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0627" y="3230811"/>
            <a:ext cx="6668254" cy="2775660"/>
          </a:xfrm>
          <a:custGeom>
            <a:avLst/>
            <a:gdLst/>
            <a:ahLst/>
            <a:cxnLst/>
            <a:rect l="l" t="t" r="r" b="b"/>
            <a:pathLst>
              <a:path w="6668254" h="2775660">
                <a:moveTo>
                  <a:pt x="0" y="0"/>
                </a:moveTo>
                <a:lnTo>
                  <a:pt x="6668254" y="0"/>
                </a:lnTo>
                <a:lnTo>
                  <a:pt x="6668254" y="2775661"/>
                </a:lnTo>
                <a:lnTo>
                  <a:pt x="0" y="27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112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38049" y="3230811"/>
            <a:ext cx="8498839" cy="2775660"/>
          </a:xfrm>
          <a:custGeom>
            <a:avLst/>
            <a:gdLst/>
            <a:ahLst/>
            <a:cxnLst/>
            <a:rect l="l" t="t" r="r" b="b"/>
            <a:pathLst>
              <a:path w="8498839" h="2775660">
                <a:moveTo>
                  <a:pt x="0" y="0"/>
                </a:moveTo>
                <a:lnTo>
                  <a:pt x="8498839" y="0"/>
                </a:lnTo>
                <a:lnTo>
                  <a:pt x="8498839" y="2775661"/>
                </a:lnTo>
                <a:lnTo>
                  <a:pt x="0" y="2775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33" r="-410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4562" y="1306830"/>
            <a:ext cx="8976571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GAT MODEL METHOD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09359"/>
            <a:ext cx="6480181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이웃한 모든 노드들에 대한 attention 값을 각 이웃 노드의 가중치 행렬로 hidden vector를 선형 변환을 한 뒤 곱하여 이들을 더한뒤 이를 non-linear function에 넣어주는 것이다.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47378" y="6286500"/>
            <a:ext cx="6480181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multi head attention을 다음과 같이 표현할 수 있다. 이는 학습의 안정성을 높이기 위해 똑같은 어텐션 연산을 K번 독립적으로 병렬 실행하는 방법이다.</a:t>
            </a:r>
          </a:p>
        </p:txBody>
      </p:sp>
      <p:sp>
        <p:nvSpPr>
          <p:cNvPr id="9" name="슬라이드 번호 개체 틀 9">
            <a:extLst>
              <a:ext uri="{FF2B5EF4-FFF2-40B4-BE49-F238E27FC236}">
                <a16:creationId xmlns:a16="http://schemas.microsoft.com/office/drawing/2014/main" id="{CF25DFB3-0698-753E-8BFA-834C735E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16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4562" y="1306830"/>
            <a:ext cx="7989913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ML4CFD competition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7503" y="2810081"/>
            <a:ext cx="17673944" cy="6887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n-US" sz="2900" spc="6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 This competition is designed to promote the development of innovative ML approaches for tackling physical challenges, leveraging our recently introduced unified evaluation framework known as Learning Industrial Physical Simulations (LIPS).</a:t>
            </a:r>
          </a:p>
          <a:p>
            <a:pPr algn="ctr">
              <a:lnSpc>
                <a:spcPts val="1450"/>
              </a:lnSpc>
            </a:pPr>
            <a:endParaRPr lang="en-US" sz="2900" spc="69">
              <a:solidFill>
                <a:srgbClr val="000000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n-US" sz="2900" spc="6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 The competition evaluates solutions based on various criteria encompassing ML accuracy, computational efficiency, Out-Of-Distribution performance, and adherence to physical principles</a:t>
            </a:r>
          </a:p>
          <a:p>
            <a:pPr algn="ctr">
              <a:lnSpc>
                <a:spcPts val="1450"/>
              </a:lnSpc>
            </a:pPr>
            <a:endParaRPr lang="en-US" sz="2900" spc="69">
              <a:solidFill>
                <a:srgbClr val="000000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n-US" sz="2900" spc="6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 This competition represents a pioneering effort in exploring ML-driven surrogate methods aimed at optimizing the trade-off between computational efficiency and accuracy in physical simulations.</a:t>
            </a:r>
          </a:p>
        </p:txBody>
      </p:sp>
      <p:sp>
        <p:nvSpPr>
          <p:cNvPr id="6" name="슬라이드 번호 개체 틀 9">
            <a:extLst>
              <a:ext uri="{FF2B5EF4-FFF2-40B4-BE49-F238E27FC236}">
                <a16:creationId xmlns:a16="http://schemas.microsoft.com/office/drawing/2014/main" id="{1E3E05CD-0609-0469-0DFD-03E20A59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17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4562" y="1306830"/>
            <a:ext cx="7989913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ML4CFD competition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7503" y="3421136"/>
            <a:ext cx="17673944" cy="4686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n-US" sz="2900" spc="6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 본 경진대회는 최근 도입된 통합 평가 프레임워크인 LIPS(산업용 물리 시뮬레이션 학습)를 활용하여, 물리적 난제를 해결하기 위한 혁신적인 머신러닝(ML) 접근법의 개발을 촉진하기 위해 설계되었습니다.</a:t>
            </a:r>
          </a:p>
          <a:p>
            <a:pPr algn="ctr">
              <a:lnSpc>
                <a:spcPts val="1450"/>
              </a:lnSpc>
            </a:pPr>
            <a:endParaRPr lang="en-US" sz="2900" spc="69">
              <a:solidFill>
                <a:srgbClr val="000000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n-US" sz="2900" spc="6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 본 대회는 머신러닝 정확도, 계산 효율성, 분포 외(OOD) 성능, 그리고 물리 법칙 준수를 포함한 다양한 기준을 바탕으로 솔루션을 평가합니다.</a:t>
            </a:r>
          </a:p>
          <a:p>
            <a:pPr algn="ctr">
              <a:lnSpc>
                <a:spcPts val="1450"/>
              </a:lnSpc>
            </a:pPr>
            <a:endParaRPr lang="en-US" sz="2900" spc="69">
              <a:solidFill>
                <a:srgbClr val="000000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algn="ctr">
              <a:lnSpc>
                <a:spcPts val="5800"/>
              </a:lnSpc>
              <a:spcBef>
                <a:spcPct val="0"/>
              </a:spcBef>
            </a:pPr>
            <a:r>
              <a:rPr lang="en-US" sz="2900" spc="6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 본 대회는 물리 시뮬레이션에 있어 계산 효율성과 정확도 사이의 최적의 균형(Trade-off)을 찾는 것을 목표로 하며, 머신러닝 기반의 대리 모델(Surrogate Method) 기법을 탐구하는 선구적인 시도입니다.</a:t>
            </a:r>
          </a:p>
        </p:txBody>
      </p:sp>
      <p:sp>
        <p:nvSpPr>
          <p:cNvPr id="6" name="슬라이드 번호 개체 틀 9">
            <a:extLst>
              <a:ext uri="{FF2B5EF4-FFF2-40B4-BE49-F238E27FC236}">
                <a16:creationId xmlns:a16="http://schemas.microsoft.com/office/drawing/2014/main" id="{2CD0AE26-2555-877E-0D1E-6FBC964B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18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419850" cy="10287000"/>
          </a:xfrm>
          <a:prstGeom prst="rect">
            <a:avLst/>
          </a:prstGeom>
          <a:solidFill>
            <a:srgbClr val="6274CF"/>
          </a:solidFill>
        </p:spPr>
      </p:sp>
      <p:grpSp>
        <p:nvGrpSpPr>
          <p:cNvPr id="3" name="Group 3"/>
          <p:cNvGrpSpPr/>
          <p:nvPr/>
        </p:nvGrpSpPr>
        <p:grpSpPr>
          <a:xfrm>
            <a:off x="11078685" y="244711"/>
            <a:ext cx="61877" cy="9797579"/>
            <a:chOff x="0" y="0"/>
            <a:chExt cx="4491" cy="7110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1" cy="711079"/>
            </a:xfrm>
            <a:custGeom>
              <a:avLst/>
              <a:gdLst/>
              <a:ahLst/>
              <a:cxnLst/>
              <a:rect l="l" t="t" r="r" b="b"/>
              <a:pathLst>
                <a:path w="4491" h="711079">
                  <a:moveTo>
                    <a:pt x="2245" y="0"/>
                  </a:moveTo>
                  <a:lnTo>
                    <a:pt x="2245" y="0"/>
                  </a:lnTo>
                  <a:cubicBezTo>
                    <a:pt x="2841" y="0"/>
                    <a:pt x="3412" y="237"/>
                    <a:pt x="3833" y="658"/>
                  </a:cubicBezTo>
                  <a:cubicBezTo>
                    <a:pt x="4254" y="1079"/>
                    <a:pt x="4491" y="1650"/>
                    <a:pt x="4491" y="2245"/>
                  </a:cubicBezTo>
                  <a:lnTo>
                    <a:pt x="4491" y="708833"/>
                  </a:lnTo>
                  <a:cubicBezTo>
                    <a:pt x="4491" y="709429"/>
                    <a:pt x="4254" y="710000"/>
                    <a:pt x="3833" y="710421"/>
                  </a:cubicBezTo>
                  <a:cubicBezTo>
                    <a:pt x="3412" y="710842"/>
                    <a:pt x="2841" y="711079"/>
                    <a:pt x="2245" y="711079"/>
                  </a:cubicBezTo>
                  <a:lnTo>
                    <a:pt x="2245" y="711079"/>
                  </a:lnTo>
                  <a:cubicBezTo>
                    <a:pt x="1650" y="711079"/>
                    <a:pt x="1079" y="710842"/>
                    <a:pt x="658" y="710421"/>
                  </a:cubicBezTo>
                  <a:cubicBezTo>
                    <a:pt x="237" y="710000"/>
                    <a:pt x="0" y="709429"/>
                    <a:pt x="0" y="708833"/>
                  </a:cubicBezTo>
                  <a:lnTo>
                    <a:pt x="0" y="2245"/>
                  </a:lnTo>
                  <a:cubicBezTo>
                    <a:pt x="0" y="1650"/>
                    <a:pt x="237" y="1079"/>
                    <a:pt x="658" y="658"/>
                  </a:cubicBezTo>
                  <a:cubicBezTo>
                    <a:pt x="1079" y="237"/>
                    <a:pt x="1650" y="0"/>
                    <a:pt x="224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491" cy="739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45893" y="296942"/>
            <a:ext cx="8398107" cy="9693115"/>
          </a:xfrm>
          <a:custGeom>
            <a:avLst/>
            <a:gdLst/>
            <a:ahLst/>
            <a:cxnLst/>
            <a:rect l="l" t="t" r="r" b="b"/>
            <a:pathLst>
              <a:path w="8398107" h="9693115">
                <a:moveTo>
                  <a:pt x="0" y="0"/>
                </a:moveTo>
                <a:lnTo>
                  <a:pt x="8398107" y="0"/>
                </a:lnTo>
                <a:lnTo>
                  <a:pt x="8398107" y="9693116"/>
                </a:lnTo>
                <a:lnTo>
                  <a:pt x="0" y="9693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2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075247" y="2388156"/>
            <a:ext cx="3841153" cy="544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1"/>
              </a:lnSpc>
            </a:pPr>
            <a:r>
              <a:rPr lang="en-US" sz="2793" spc="8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Yag</a:t>
            </a:r>
            <a:r>
              <a:rPr lang="en-US" sz="2793" u="none" spc="8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oubi, Mouadh, et al. "Neurips 2024 ml4cfd competition: Harnessing machine learning for computational fluid dynamics in airfoil design." arXiv preprint arXiv:2407.01641 (2024).</a:t>
            </a:r>
          </a:p>
        </p:txBody>
      </p:sp>
      <p:sp>
        <p:nvSpPr>
          <p:cNvPr id="9" name="슬라이드 번호 개체 틀 9">
            <a:extLst>
              <a:ext uri="{FF2B5EF4-FFF2-40B4-BE49-F238E27FC236}">
                <a16:creationId xmlns:a16="http://schemas.microsoft.com/office/drawing/2014/main" id="{08A81B1B-12DD-9AD1-A080-7889E0D43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19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419850" cy="10287000"/>
          </a:xfrm>
          <a:prstGeom prst="rect">
            <a:avLst/>
          </a:prstGeom>
          <a:solidFill>
            <a:srgbClr val="6274CF"/>
          </a:solidFill>
        </p:spPr>
      </p:sp>
      <p:grpSp>
        <p:nvGrpSpPr>
          <p:cNvPr id="3" name="Group 3"/>
          <p:cNvGrpSpPr/>
          <p:nvPr/>
        </p:nvGrpSpPr>
        <p:grpSpPr>
          <a:xfrm>
            <a:off x="11078685" y="244711"/>
            <a:ext cx="61877" cy="9797579"/>
            <a:chOff x="0" y="0"/>
            <a:chExt cx="4491" cy="7110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1" cy="711079"/>
            </a:xfrm>
            <a:custGeom>
              <a:avLst/>
              <a:gdLst/>
              <a:ahLst/>
              <a:cxnLst/>
              <a:rect l="l" t="t" r="r" b="b"/>
              <a:pathLst>
                <a:path w="4491" h="711079">
                  <a:moveTo>
                    <a:pt x="2245" y="0"/>
                  </a:moveTo>
                  <a:lnTo>
                    <a:pt x="2245" y="0"/>
                  </a:lnTo>
                  <a:cubicBezTo>
                    <a:pt x="2841" y="0"/>
                    <a:pt x="3412" y="237"/>
                    <a:pt x="3833" y="658"/>
                  </a:cubicBezTo>
                  <a:cubicBezTo>
                    <a:pt x="4254" y="1079"/>
                    <a:pt x="4491" y="1650"/>
                    <a:pt x="4491" y="2245"/>
                  </a:cubicBezTo>
                  <a:lnTo>
                    <a:pt x="4491" y="708833"/>
                  </a:lnTo>
                  <a:cubicBezTo>
                    <a:pt x="4491" y="709429"/>
                    <a:pt x="4254" y="710000"/>
                    <a:pt x="3833" y="710421"/>
                  </a:cubicBezTo>
                  <a:cubicBezTo>
                    <a:pt x="3412" y="710842"/>
                    <a:pt x="2841" y="711079"/>
                    <a:pt x="2245" y="711079"/>
                  </a:cubicBezTo>
                  <a:lnTo>
                    <a:pt x="2245" y="711079"/>
                  </a:lnTo>
                  <a:cubicBezTo>
                    <a:pt x="1650" y="711079"/>
                    <a:pt x="1079" y="710842"/>
                    <a:pt x="658" y="710421"/>
                  </a:cubicBezTo>
                  <a:cubicBezTo>
                    <a:pt x="237" y="710000"/>
                    <a:pt x="0" y="709429"/>
                    <a:pt x="0" y="708833"/>
                  </a:cubicBezTo>
                  <a:lnTo>
                    <a:pt x="0" y="2245"/>
                  </a:lnTo>
                  <a:cubicBezTo>
                    <a:pt x="0" y="1650"/>
                    <a:pt x="237" y="1079"/>
                    <a:pt x="658" y="658"/>
                  </a:cubicBezTo>
                  <a:cubicBezTo>
                    <a:pt x="1079" y="237"/>
                    <a:pt x="1650" y="0"/>
                    <a:pt x="224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491" cy="739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02062" y="244711"/>
            <a:ext cx="8706939" cy="9797579"/>
          </a:xfrm>
          <a:custGeom>
            <a:avLst/>
            <a:gdLst/>
            <a:ahLst/>
            <a:cxnLst/>
            <a:rect l="l" t="t" r="r" b="b"/>
            <a:pathLst>
              <a:path w="8706939" h="9797579">
                <a:moveTo>
                  <a:pt x="0" y="0"/>
                </a:moveTo>
                <a:lnTo>
                  <a:pt x="8706939" y="0"/>
                </a:lnTo>
                <a:lnTo>
                  <a:pt x="8706939" y="9797578"/>
                </a:lnTo>
                <a:lnTo>
                  <a:pt x="0" y="9797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075247" y="2883456"/>
            <a:ext cx="3841153" cy="445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1"/>
              </a:lnSpc>
            </a:pPr>
            <a:r>
              <a:rPr lang="en-US" sz="2793" spc="8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Yag</a:t>
            </a:r>
            <a:r>
              <a:rPr lang="en-US" sz="2793" u="none" spc="8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oubi, Mouadh, et al. "NeurIPS 2024 ML4CFD Competition: Results and Retrospective Analysis." arXiv preprint arXiv:2506.08516 (2025).</a:t>
            </a:r>
          </a:p>
        </p:txBody>
      </p:sp>
      <p:sp>
        <p:nvSpPr>
          <p:cNvPr id="9" name="슬라이드 번호 개체 틀 9">
            <a:extLst>
              <a:ext uri="{FF2B5EF4-FFF2-40B4-BE49-F238E27FC236}">
                <a16:creationId xmlns:a16="http://schemas.microsoft.com/office/drawing/2014/main" id="{A276D927-0304-EF00-E2F7-D21EC880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20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6006" y="3680194"/>
            <a:ext cx="17715988" cy="1135929"/>
          </a:xfrm>
          <a:custGeom>
            <a:avLst/>
            <a:gdLst/>
            <a:ahLst/>
            <a:cxnLst/>
            <a:rect l="l" t="t" r="r" b="b"/>
            <a:pathLst>
              <a:path w="17715988" h="1135929">
                <a:moveTo>
                  <a:pt x="0" y="0"/>
                </a:moveTo>
                <a:lnTo>
                  <a:pt x="17715988" y="0"/>
                </a:lnTo>
                <a:lnTo>
                  <a:pt x="17715988" y="1135929"/>
                </a:lnTo>
                <a:lnTo>
                  <a:pt x="0" y="113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0" r="-209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4562" y="1306830"/>
            <a:ext cx="8976571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GLOBAL SCORE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1321" y="5971119"/>
            <a:ext cx="17125359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where αML, αOOD and αPH are the coefficients to calibrate the relative importance of </a:t>
            </a:r>
          </a:p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3000" spc="3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ML-Related, Application-based OOD, and Physics Compliance categories respectively.</a:t>
            </a:r>
          </a:p>
        </p:txBody>
      </p:sp>
      <p:sp>
        <p:nvSpPr>
          <p:cNvPr id="7" name="슬라이드 번호 개체 틀 9">
            <a:extLst>
              <a:ext uri="{FF2B5EF4-FFF2-40B4-BE49-F238E27FC236}">
                <a16:creationId xmlns:a16="http://schemas.microsoft.com/office/drawing/2014/main" id="{0D384561-ED83-0015-46E2-B02239B9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21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5242" y="2765881"/>
            <a:ext cx="15037516" cy="1279789"/>
          </a:xfrm>
          <a:custGeom>
            <a:avLst/>
            <a:gdLst/>
            <a:ahLst/>
            <a:cxnLst/>
            <a:rect l="l" t="t" r="r" b="b"/>
            <a:pathLst>
              <a:path w="15037516" h="1279789">
                <a:moveTo>
                  <a:pt x="0" y="0"/>
                </a:moveTo>
                <a:lnTo>
                  <a:pt x="15037516" y="0"/>
                </a:lnTo>
                <a:lnTo>
                  <a:pt x="15037516" y="1279789"/>
                </a:lnTo>
                <a:lnTo>
                  <a:pt x="0" y="1279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42652" y="6151706"/>
            <a:ext cx="15037516" cy="1854164"/>
          </a:xfrm>
          <a:custGeom>
            <a:avLst/>
            <a:gdLst/>
            <a:ahLst/>
            <a:cxnLst/>
            <a:rect l="l" t="t" r="r" b="b"/>
            <a:pathLst>
              <a:path w="15037516" h="1854164">
                <a:moveTo>
                  <a:pt x="0" y="0"/>
                </a:moveTo>
                <a:lnTo>
                  <a:pt x="15037515" y="0"/>
                </a:lnTo>
                <a:lnTo>
                  <a:pt x="15037515" y="1854164"/>
                </a:lnTo>
                <a:lnTo>
                  <a:pt x="0" y="1854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118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81597" y="8043970"/>
            <a:ext cx="13924805" cy="1732675"/>
          </a:xfrm>
          <a:custGeom>
            <a:avLst/>
            <a:gdLst/>
            <a:ahLst/>
            <a:cxnLst/>
            <a:rect l="l" t="t" r="r" b="b"/>
            <a:pathLst>
              <a:path w="13924805" h="1732675">
                <a:moveTo>
                  <a:pt x="0" y="0"/>
                </a:moveTo>
                <a:lnTo>
                  <a:pt x="13924806" y="0"/>
                </a:lnTo>
                <a:lnTo>
                  <a:pt x="13924806" y="1732675"/>
                </a:lnTo>
                <a:lnTo>
                  <a:pt x="0" y="1732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783" r="-3291" b="-2178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19998" y="4040343"/>
            <a:ext cx="15082823" cy="2206315"/>
          </a:xfrm>
          <a:custGeom>
            <a:avLst/>
            <a:gdLst/>
            <a:ahLst/>
            <a:cxnLst/>
            <a:rect l="l" t="t" r="r" b="b"/>
            <a:pathLst>
              <a:path w="15082823" h="2206315">
                <a:moveTo>
                  <a:pt x="0" y="0"/>
                </a:moveTo>
                <a:lnTo>
                  <a:pt x="15082823" y="0"/>
                </a:lnTo>
                <a:lnTo>
                  <a:pt x="15082823" y="2206314"/>
                </a:lnTo>
                <a:lnTo>
                  <a:pt x="0" y="2206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4562" y="1306830"/>
            <a:ext cx="8976571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GLOBAL SCORE</a:t>
            </a:r>
          </a:p>
        </p:txBody>
      </p:sp>
      <p:sp>
        <p:nvSpPr>
          <p:cNvPr id="9" name="슬라이드 번호 개체 틀 9">
            <a:extLst>
              <a:ext uri="{FF2B5EF4-FFF2-40B4-BE49-F238E27FC236}">
                <a16:creationId xmlns:a16="http://schemas.microsoft.com/office/drawing/2014/main" id="{67B1E997-07B2-D9C0-D5DD-7018F2F1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22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27" y="2989804"/>
            <a:ext cx="18232347" cy="4307392"/>
          </a:xfrm>
          <a:custGeom>
            <a:avLst/>
            <a:gdLst/>
            <a:ahLst/>
            <a:cxnLst/>
            <a:rect l="l" t="t" r="r" b="b"/>
            <a:pathLst>
              <a:path w="18232347" h="4307392">
                <a:moveTo>
                  <a:pt x="0" y="0"/>
                </a:moveTo>
                <a:lnTo>
                  <a:pt x="18232346" y="0"/>
                </a:lnTo>
                <a:lnTo>
                  <a:pt x="18232346" y="4307392"/>
                </a:lnTo>
                <a:lnTo>
                  <a:pt x="0" y="4307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4562" y="1306830"/>
            <a:ext cx="8976571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FIGURE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845171"/>
            <a:ext cx="6698057" cy="292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7999"/>
              </a:lnSpc>
              <a:buFont typeface="Arial"/>
              <a:buChar char="•"/>
            </a:pPr>
            <a:r>
              <a:rPr lang="en-US" sz="3999" spc="9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red : Unacceptable</a:t>
            </a:r>
          </a:p>
          <a:p>
            <a:pPr marL="863599" lvl="1" indent="-431800" algn="l">
              <a:lnSpc>
                <a:spcPts val="7999"/>
              </a:lnSpc>
              <a:buFont typeface="Arial"/>
              <a:buChar char="•"/>
            </a:pPr>
            <a:r>
              <a:rPr lang="en-US" sz="3999" spc="9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orange : Acceptable</a:t>
            </a:r>
          </a:p>
          <a:p>
            <a:pPr marL="863599" lvl="1" indent="-431800" algn="l">
              <a:lnSpc>
                <a:spcPts val="79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9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green : Great</a:t>
            </a:r>
          </a:p>
        </p:txBody>
      </p:sp>
      <p:sp>
        <p:nvSpPr>
          <p:cNvPr id="7" name="슬라이드 번호 개체 틀 9">
            <a:extLst>
              <a:ext uri="{FF2B5EF4-FFF2-40B4-BE49-F238E27FC236}">
                <a16:creationId xmlns:a16="http://schemas.microsoft.com/office/drawing/2014/main" id="{0D911BE2-6E66-C3D1-5E28-293407F77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23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27" y="2989804"/>
            <a:ext cx="18232347" cy="4307392"/>
          </a:xfrm>
          <a:custGeom>
            <a:avLst/>
            <a:gdLst/>
            <a:ahLst/>
            <a:cxnLst/>
            <a:rect l="l" t="t" r="r" b="b"/>
            <a:pathLst>
              <a:path w="18232347" h="4307392">
                <a:moveTo>
                  <a:pt x="0" y="0"/>
                </a:moveTo>
                <a:lnTo>
                  <a:pt x="18232346" y="0"/>
                </a:lnTo>
                <a:lnTo>
                  <a:pt x="18232346" y="4307392"/>
                </a:lnTo>
                <a:lnTo>
                  <a:pt x="0" y="4307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4562" y="1306830"/>
            <a:ext cx="8976571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FIGURE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1292" y="7049546"/>
            <a:ext cx="17798881" cy="316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6400"/>
              </a:lnSpc>
              <a:buFont typeface="Arial"/>
              <a:buChar char="•"/>
            </a:pPr>
            <a:r>
              <a:rPr lang="en-US" sz="3200" spc="7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평가 기준: ML-related(40%), Physics(30%), OOD generalization(30%)</a:t>
            </a:r>
          </a:p>
          <a:p>
            <a:pPr marL="690881" lvl="1" indent="-345440" algn="l">
              <a:lnSpc>
                <a:spcPts val="6400"/>
              </a:lnSpc>
              <a:buFont typeface="Arial"/>
              <a:buChar char="•"/>
            </a:pPr>
            <a:r>
              <a:rPr lang="en-US" sz="3200" spc="7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ML_related에서 accuracy: 75% / speed-up: 25%</a:t>
            </a:r>
          </a:p>
          <a:p>
            <a:pPr marL="690881" lvl="1" indent="-345440" algn="l">
              <a:lnSpc>
                <a:spcPts val="6400"/>
              </a:lnSpc>
              <a:buFont typeface="Arial"/>
              <a:buChar char="•"/>
            </a:pPr>
            <a:r>
              <a:rPr lang="en-US" sz="3200" spc="7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OOD generalization에서 OOD accuracy: 42% / OOD physics: 33% / speed-up: 25%</a:t>
            </a:r>
          </a:p>
          <a:p>
            <a:pPr algn="l">
              <a:lnSpc>
                <a:spcPts val="6400"/>
              </a:lnSpc>
              <a:spcBef>
                <a:spcPct val="0"/>
              </a:spcBef>
            </a:pPr>
            <a:endParaRPr lang="en-US" sz="3200" spc="76">
              <a:solidFill>
                <a:srgbClr val="000000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7" name="슬라이드 번호 개체 틀 9">
            <a:extLst>
              <a:ext uri="{FF2B5EF4-FFF2-40B4-BE49-F238E27FC236}">
                <a16:creationId xmlns:a16="http://schemas.microsoft.com/office/drawing/2014/main" id="{9BB72D74-0FA2-627F-0C45-873820F2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24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27" y="2989804"/>
            <a:ext cx="18232347" cy="4307392"/>
          </a:xfrm>
          <a:custGeom>
            <a:avLst/>
            <a:gdLst/>
            <a:ahLst/>
            <a:cxnLst/>
            <a:rect l="l" t="t" r="r" b="b"/>
            <a:pathLst>
              <a:path w="18232347" h="4307392">
                <a:moveTo>
                  <a:pt x="0" y="0"/>
                </a:moveTo>
                <a:lnTo>
                  <a:pt x="18232346" y="0"/>
                </a:lnTo>
                <a:lnTo>
                  <a:pt x="18232346" y="4307392"/>
                </a:lnTo>
                <a:lnTo>
                  <a:pt x="0" y="4307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44562" y="419100"/>
            <a:ext cx="1396179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b="1" spc="131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4562" y="1306830"/>
            <a:ext cx="8976571" cy="118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1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FIGURE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9210" y="6937648"/>
            <a:ext cx="16889579" cy="307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spc="5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Accuracy : 여러 물리량에 대한 예측 정확도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spc="5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Speed-up : OpenFOAM 대비 얼마나 빠른가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spc="5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OpenFOAM : accuracy, physics는 great But speed 1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spc="5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Baseline : accuracy, physics는 부족 But speed 750</a:t>
            </a:r>
          </a:p>
          <a:p>
            <a:pPr marL="539749" lvl="1" indent="-269875" algn="l">
              <a:lnSpc>
                <a:spcPts val="4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5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제일 오른쪽의 global score로 순위 결정 -&gt; MMGP가 1등</a:t>
            </a:r>
          </a:p>
        </p:txBody>
      </p:sp>
      <p:sp>
        <p:nvSpPr>
          <p:cNvPr id="7" name="슬라이드 번호 개체 틀 9">
            <a:extLst>
              <a:ext uri="{FF2B5EF4-FFF2-40B4-BE49-F238E27FC236}">
                <a16:creationId xmlns:a16="http://schemas.microsoft.com/office/drawing/2014/main" id="{5CF7B43D-23F9-DECF-FF34-C8117E739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25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74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3197" y="5777265"/>
            <a:ext cx="8095966" cy="98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3799" b="1" spc="501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2020145052 이민준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43197" y="3841114"/>
            <a:ext cx="9803018" cy="1302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9"/>
              </a:lnSpc>
              <a:spcBef>
                <a:spcPct val="0"/>
              </a:spcBef>
            </a:pPr>
            <a:r>
              <a:rPr lang="en-US" sz="7599" b="1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THANK YOU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343197" y="5417290"/>
            <a:ext cx="1560160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슬라이드 번호 개체 틀 9">
            <a:extLst>
              <a:ext uri="{FF2B5EF4-FFF2-40B4-BE49-F238E27FC236}">
                <a16:creationId xmlns:a16="http://schemas.microsoft.com/office/drawing/2014/main" id="{85E2B751-B0EC-D33E-DB4B-3D83296AB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pPr algn="ctr"/>
            <a:fld id="{B6F15528-21DE-4FAA-801E-634DDDAF4B2B}" type="slidenum">
              <a:rPr lang="en-US" sz="3200" b="1" smtClean="0">
                <a:solidFill>
                  <a:schemeClr val="tx1"/>
                </a:solidFill>
              </a:rPr>
              <a:pPr algn="ctr"/>
              <a:t>26</a:t>
            </a:fld>
            <a:endParaRPr 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792</Words>
  <Application>Microsoft Office PowerPoint</Application>
  <PresentationFormat>사용자 지정</PresentationFormat>
  <Paragraphs>117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Tlab 돋움 레귤러 Bold</vt:lpstr>
      <vt:lpstr>TDTD순고딕 Bold</vt:lpstr>
      <vt:lpstr>Calibri</vt:lpstr>
      <vt:lpstr>Tlab 돋움 레귤러</vt:lpstr>
      <vt:lpstr>Arial</vt:lpstr>
      <vt:lpstr>맑은 고딕</vt:lpstr>
      <vt:lpstr>TDTD평고딕</vt:lpstr>
      <vt:lpstr>Cabin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화이트 블랙 미니멀리스트 포트폴리오 프레젠테이션</dc:title>
  <cp:lastModifiedBy>Lee Minjoon</cp:lastModifiedBy>
  <cp:revision>3</cp:revision>
  <dcterms:created xsi:type="dcterms:W3CDTF">2006-08-16T00:00:00Z</dcterms:created>
  <dcterms:modified xsi:type="dcterms:W3CDTF">2026-01-20T02:59:04Z</dcterms:modified>
  <dc:identifier>DAG-1_evLyk</dc:identifier>
</cp:coreProperties>
</file>