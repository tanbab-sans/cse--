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
  </p:notesMasterIdLst>
  <p:sldIdLst>
    <p:sldId id="261" r:id="rId2"/>
    <p:sldId id="262" r:id="rId3"/>
  </p:sldIdLst>
  <p:sldSz cx="21383625" cy="30275213"/>
  <p:notesSz cx="7099300" cy="10234613"/>
  <p:defaultTextStyle>
    <a:defPPr>
      <a:defRPr lang="ko-KR"/>
    </a:defPPr>
    <a:lvl1pPr marL="0" algn="l" defTabSz="3275109" rtl="0" eaLnBrk="1" latinLnBrk="1" hangingPunct="1">
      <a:defRPr sz="6430" kern="1200">
        <a:solidFill>
          <a:schemeClr val="tx1"/>
        </a:solidFill>
        <a:latin typeface="+mn-lt"/>
        <a:ea typeface="+mn-ea"/>
        <a:cs typeface="+mn-cs"/>
      </a:defRPr>
    </a:lvl1pPr>
    <a:lvl2pPr marL="1637555" algn="l" defTabSz="3275109" rtl="0" eaLnBrk="1" latinLnBrk="1" hangingPunct="1">
      <a:defRPr sz="6430" kern="1200">
        <a:solidFill>
          <a:schemeClr val="tx1"/>
        </a:solidFill>
        <a:latin typeface="+mn-lt"/>
        <a:ea typeface="+mn-ea"/>
        <a:cs typeface="+mn-cs"/>
      </a:defRPr>
    </a:lvl2pPr>
    <a:lvl3pPr marL="3275109" algn="l" defTabSz="3275109" rtl="0" eaLnBrk="1" latinLnBrk="1" hangingPunct="1">
      <a:defRPr sz="6430" kern="1200">
        <a:solidFill>
          <a:schemeClr val="tx1"/>
        </a:solidFill>
        <a:latin typeface="+mn-lt"/>
        <a:ea typeface="+mn-ea"/>
        <a:cs typeface="+mn-cs"/>
      </a:defRPr>
    </a:lvl3pPr>
    <a:lvl4pPr marL="4912664" algn="l" defTabSz="3275109" rtl="0" eaLnBrk="1" latinLnBrk="1" hangingPunct="1">
      <a:defRPr sz="6430" kern="1200">
        <a:solidFill>
          <a:schemeClr val="tx1"/>
        </a:solidFill>
        <a:latin typeface="+mn-lt"/>
        <a:ea typeface="+mn-ea"/>
        <a:cs typeface="+mn-cs"/>
      </a:defRPr>
    </a:lvl4pPr>
    <a:lvl5pPr marL="6550219" algn="l" defTabSz="3275109" rtl="0" eaLnBrk="1" latinLnBrk="1" hangingPunct="1">
      <a:defRPr sz="6430" kern="1200">
        <a:solidFill>
          <a:schemeClr val="tx1"/>
        </a:solidFill>
        <a:latin typeface="+mn-lt"/>
        <a:ea typeface="+mn-ea"/>
        <a:cs typeface="+mn-cs"/>
      </a:defRPr>
    </a:lvl5pPr>
    <a:lvl6pPr marL="8187773" algn="l" defTabSz="3275109" rtl="0" eaLnBrk="1" latinLnBrk="1" hangingPunct="1">
      <a:defRPr sz="6430" kern="1200">
        <a:solidFill>
          <a:schemeClr val="tx1"/>
        </a:solidFill>
        <a:latin typeface="+mn-lt"/>
        <a:ea typeface="+mn-ea"/>
        <a:cs typeface="+mn-cs"/>
      </a:defRPr>
    </a:lvl6pPr>
    <a:lvl7pPr marL="9825327" algn="l" defTabSz="3275109" rtl="0" eaLnBrk="1" latinLnBrk="1" hangingPunct="1">
      <a:defRPr sz="6430" kern="1200">
        <a:solidFill>
          <a:schemeClr val="tx1"/>
        </a:solidFill>
        <a:latin typeface="+mn-lt"/>
        <a:ea typeface="+mn-ea"/>
        <a:cs typeface="+mn-cs"/>
      </a:defRPr>
    </a:lvl7pPr>
    <a:lvl8pPr marL="11462882" algn="l" defTabSz="3275109" rtl="0" eaLnBrk="1" latinLnBrk="1" hangingPunct="1">
      <a:defRPr sz="6430" kern="1200">
        <a:solidFill>
          <a:schemeClr val="tx1"/>
        </a:solidFill>
        <a:latin typeface="+mn-lt"/>
        <a:ea typeface="+mn-ea"/>
        <a:cs typeface="+mn-cs"/>
      </a:defRPr>
    </a:lvl8pPr>
    <a:lvl9pPr marL="13100436" algn="l" defTabSz="3275109" rtl="0" eaLnBrk="1" latinLnBrk="1" hangingPunct="1">
      <a:defRPr sz="643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6" userDrawn="1">
          <p15:clr>
            <a:srgbClr val="A4A3A4"/>
          </p15:clr>
        </p15:guide>
        <p15:guide id="2" pos="673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2F8583-9CFD-D5FC-AD1B-B07B4B60601E}" name="허정원" initials="허" userId="S::winny1999@edu.dgist.ac.kr::702ed241-e4c7-49c1-8c82-fab6aae26f5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A7EBB"/>
    <a:srgbClr val="683C18"/>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E7199E-1258-4CED-8192-CA51CE063F26}" v="84" dt="2025-09-10T17:36:13.406"/>
    <p1510:client id="{A2F841B3-3C1D-4054-BED1-9E0FADFDA073}" v="15" dt="2025-09-10T17:08:32.344"/>
    <p1510:client id="{E667D428-A3B9-47E6-B9C0-F0F5C52D39E6}" v="482" dt="2025-09-10T08:34:22.526"/>
  </p1510:revLst>
</p1510:revInfo>
</file>

<file path=ppt/tableStyles.xml><?xml version="1.0" encoding="utf-8"?>
<a:tblStyleLst xmlns:a="http://schemas.openxmlformats.org/drawingml/2006/main" def="{5C22544A-7EE6-4342-B048-85BDC9FD1C3A}">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1344" autoAdjust="0"/>
  </p:normalViewPr>
  <p:slideViewPr>
    <p:cSldViewPr snapToGrid="0">
      <p:cViewPr>
        <p:scale>
          <a:sx n="33" d="100"/>
          <a:sy n="33" d="100"/>
        </p:scale>
        <p:origin x="2622" y="-96"/>
      </p:cViewPr>
      <p:guideLst>
        <p:guide orient="horz" pos="9536"/>
        <p:guide pos="67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8/10/relationships/authors" Target="authors.xml"/><Relationship Id="rId4" Type="http://schemas.openxmlformats.org/officeDocument/2006/relationships/notesMaster" Target="notesMasters/notesMaster1.xml"/><Relationship Id="rId9"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3076363" cy="511731"/>
          </a:xfrm>
          <a:prstGeom prst="rect">
            <a:avLst/>
          </a:prstGeom>
        </p:spPr>
        <p:txBody>
          <a:bodyPr vert="horz" lIns="94768" tIns="47384" rIns="94768" bIns="47384" rtlCol="0"/>
          <a:lstStyle>
            <a:lvl1pPr algn="l">
              <a:defRPr sz="1200"/>
            </a:lvl1pPr>
          </a:lstStyle>
          <a:p>
            <a:endParaRPr lang="ko-KR" altLang="en-US"/>
          </a:p>
        </p:txBody>
      </p:sp>
      <p:sp>
        <p:nvSpPr>
          <p:cNvPr id="3" name="날짜 개체 틀 2"/>
          <p:cNvSpPr>
            <a:spLocks noGrp="1"/>
          </p:cNvSpPr>
          <p:nvPr>
            <p:ph type="dt" idx="1"/>
          </p:nvPr>
        </p:nvSpPr>
        <p:spPr>
          <a:xfrm>
            <a:off x="4021295" y="0"/>
            <a:ext cx="3076363" cy="511731"/>
          </a:xfrm>
          <a:prstGeom prst="rect">
            <a:avLst/>
          </a:prstGeom>
        </p:spPr>
        <p:txBody>
          <a:bodyPr vert="horz" lIns="94768" tIns="47384" rIns="94768" bIns="47384" rtlCol="0"/>
          <a:lstStyle>
            <a:lvl1pPr algn="r">
              <a:defRPr sz="1200"/>
            </a:lvl1pPr>
          </a:lstStyle>
          <a:p>
            <a:fld id="{C7749B26-899D-4F23-911D-0E951A0539E0}" type="datetimeFigureOut">
              <a:rPr lang="ko-KR" altLang="en-US" smtClean="0"/>
              <a:t>2026-03-18</a:t>
            </a:fld>
            <a:endParaRPr lang="ko-KR" altLang="en-US"/>
          </a:p>
        </p:txBody>
      </p:sp>
      <p:sp>
        <p:nvSpPr>
          <p:cNvPr id="4" name="슬라이드 이미지 개체 틀 3"/>
          <p:cNvSpPr>
            <a:spLocks noGrp="1" noRot="1" noChangeAspect="1"/>
          </p:cNvSpPr>
          <p:nvPr>
            <p:ph type="sldImg" idx="2"/>
          </p:nvPr>
        </p:nvSpPr>
        <p:spPr>
          <a:xfrm>
            <a:off x="2193925" y="768350"/>
            <a:ext cx="2711450" cy="3836988"/>
          </a:xfrm>
          <a:prstGeom prst="rect">
            <a:avLst/>
          </a:prstGeom>
          <a:noFill/>
          <a:ln w="12700">
            <a:solidFill>
              <a:prstClr val="black"/>
            </a:solidFill>
          </a:ln>
        </p:spPr>
        <p:txBody>
          <a:bodyPr vert="horz" lIns="94768" tIns="47384" rIns="94768" bIns="47384" rtlCol="0" anchor="ctr"/>
          <a:lstStyle/>
          <a:p>
            <a:endParaRPr lang="ko-KR" altLang="en-US"/>
          </a:p>
        </p:txBody>
      </p:sp>
      <p:sp>
        <p:nvSpPr>
          <p:cNvPr id="5" name="슬라이드 노트 개체 틀 4"/>
          <p:cNvSpPr>
            <a:spLocks noGrp="1"/>
          </p:cNvSpPr>
          <p:nvPr>
            <p:ph type="body" sz="quarter" idx="3"/>
          </p:nvPr>
        </p:nvSpPr>
        <p:spPr>
          <a:xfrm>
            <a:off x="709931" y="4861442"/>
            <a:ext cx="5679440" cy="4605576"/>
          </a:xfrm>
          <a:prstGeom prst="rect">
            <a:avLst/>
          </a:prstGeom>
        </p:spPr>
        <p:txBody>
          <a:bodyPr vert="horz" lIns="94768" tIns="47384" rIns="94768" bIns="47384"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721106"/>
            <a:ext cx="3076363" cy="511731"/>
          </a:xfrm>
          <a:prstGeom prst="rect">
            <a:avLst/>
          </a:prstGeom>
        </p:spPr>
        <p:txBody>
          <a:bodyPr vert="horz" lIns="94768" tIns="47384" rIns="94768" bIns="47384"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4021295" y="9721106"/>
            <a:ext cx="3076363" cy="511731"/>
          </a:xfrm>
          <a:prstGeom prst="rect">
            <a:avLst/>
          </a:prstGeom>
        </p:spPr>
        <p:txBody>
          <a:bodyPr vert="horz" lIns="94768" tIns="47384" rIns="94768" bIns="47384" rtlCol="0" anchor="b"/>
          <a:lstStyle>
            <a:lvl1pPr algn="r">
              <a:defRPr sz="1200"/>
            </a:lvl1pPr>
          </a:lstStyle>
          <a:p>
            <a:fld id="{201117CF-13A6-40F8-80E3-F986AD31E70C}" type="slidenum">
              <a:rPr lang="ko-KR" altLang="en-US" smtClean="0"/>
              <a:t>‹#›</a:t>
            </a:fld>
            <a:endParaRPr lang="ko-KR" altLang="en-US"/>
          </a:p>
        </p:txBody>
      </p:sp>
    </p:spTree>
    <p:extLst>
      <p:ext uri="{BB962C8B-B14F-4D97-AF65-F5344CB8AC3E}">
        <p14:creationId xmlns:p14="http://schemas.microsoft.com/office/powerpoint/2010/main" val="2571569292"/>
      </p:ext>
    </p:extLst>
  </p:cSld>
  <p:clrMap bg1="lt1" tx1="dk1" bg2="lt2" tx2="dk2" accent1="accent1" accent2="accent2" accent3="accent3" accent4="accent4" accent5="accent5" accent6="accent6" hlink="hlink" folHlink="folHlink"/>
  <p:notesStyle>
    <a:lvl1pPr marL="0" algn="l" defTabSz="646102" rtl="0" eaLnBrk="1" latinLnBrk="1" hangingPunct="1">
      <a:defRPr sz="848" kern="1200">
        <a:solidFill>
          <a:schemeClr val="tx1"/>
        </a:solidFill>
        <a:latin typeface="+mn-lt"/>
        <a:ea typeface="+mn-ea"/>
        <a:cs typeface="+mn-cs"/>
      </a:defRPr>
    </a:lvl1pPr>
    <a:lvl2pPr marL="323051" algn="l" defTabSz="646102" rtl="0" eaLnBrk="1" latinLnBrk="1" hangingPunct="1">
      <a:defRPr sz="848" kern="1200">
        <a:solidFill>
          <a:schemeClr val="tx1"/>
        </a:solidFill>
        <a:latin typeface="+mn-lt"/>
        <a:ea typeface="+mn-ea"/>
        <a:cs typeface="+mn-cs"/>
      </a:defRPr>
    </a:lvl2pPr>
    <a:lvl3pPr marL="646102" algn="l" defTabSz="646102" rtl="0" eaLnBrk="1" latinLnBrk="1" hangingPunct="1">
      <a:defRPr sz="848" kern="1200">
        <a:solidFill>
          <a:schemeClr val="tx1"/>
        </a:solidFill>
        <a:latin typeface="+mn-lt"/>
        <a:ea typeface="+mn-ea"/>
        <a:cs typeface="+mn-cs"/>
      </a:defRPr>
    </a:lvl3pPr>
    <a:lvl4pPr marL="969154" algn="l" defTabSz="646102" rtl="0" eaLnBrk="1" latinLnBrk="1" hangingPunct="1">
      <a:defRPr sz="848" kern="1200">
        <a:solidFill>
          <a:schemeClr val="tx1"/>
        </a:solidFill>
        <a:latin typeface="+mn-lt"/>
        <a:ea typeface="+mn-ea"/>
        <a:cs typeface="+mn-cs"/>
      </a:defRPr>
    </a:lvl4pPr>
    <a:lvl5pPr marL="1292205" algn="l" defTabSz="646102" rtl="0" eaLnBrk="1" latinLnBrk="1" hangingPunct="1">
      <a:defRPr sz="848" kern="1200">
        <a:solidFill>
          <a:schemeClr val="tx1"/>
        </a:solidFill>
        <a:latin typeface="+mn-lt"/>
        <a:ea typeface="+mn-ea"/>
        <a:cs typeface="+mn-cs"/>
      </a:defRPr>
    </a:lvl5pPr>
    <a:lvl6pPr marL="1615256" algn="l" defTabSz="646102" rtl="0" eaLnBrk="1" latinLnBrk="1" hangingPunct="1">
      <a:defRPr sz="848" kern="1200">
        <a:solidFill>
          <a:schemeClr val="tx1"/>
        </a:solidFill>
        <a:latin typeface="+mn-lt"/>
        <a:ea typeface="+mn-ea"/>
        <a:cs typeface="+mn-cs"/>
      </a:defRPr>
    </a:lvl6pPr>
    <a:lvl7pPr marL="1938307" algn="l" defTabSz="646102" rtl="0" eaLnBrk="1" latinLnBrk="1" hangingPunct="1">
      <a:defRPr sz="848" kern="1200">
        <a:solidFill>
          <a:schemeClr val="tx1"/>
        </a:solidFill>
        <a:latin typeface="+mn-lt"/>
        <a:ea typeface="+mn-ea"/>
        <a:cs typeface="+mn-cs"/>
      </a:defRPr>
    </a:lvl7pPr>
    <a:lvl8pPr marL="2261359" algn="l" defTabSz="646102" rtl="0" eaLnBrk="1" latinLnBrk="1" hangingPunct="1">
      <a:defRPr sz="848" kern="1200">
        <a:solidFill>
          <a:schemeClr val="tx1"/>
        </a:solidFill>
        <a:latin typeface="+mn-lt"/>
        <a:ea typeface="+mn-ea"/>
        <a:cs typeface="+mn-cs"/>
      </a:defRPr>
    </a:lvl8pPr>
    <a:lvl9pPr marL="2584410" algn="l" defTabSz="646102" rtl="0" eaLnBrk="1" latinLnBrk="1" hangingPunct="1">
      <a:defRPr sz="84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ECB3-234E-65A2-AB9A-52D99FFC31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85D963F-591F-D2CD-C2FB-ADDA22475418}"/>
              </a:ext>
            </a:extLst>
          </p:cNvPr>
          <p:cNvSpPr>
            <a:spLocks noGrp="1" noRot="1" noChangeAspect="1"/>
          </p:cNvSpPr>
          <p:nvPr>
            <p:ph type="sldImg"/>
          </p:nvPr>
        </p:nvSpPr>
        <p:spPr>
          <a:xfrm>
            <a:off x="2193925" y="768350"/>
            <a:ext cx="2711450" cy="3836988"/>
          </a:xfrm>
        </p:spPr>
      </p:sp>
      <p:sp>
        <p:nvSpPr>
          <p:cNvPr id="3" name="슬라이드 노트 개체 틀 2">
            <a:extLst>
              <a:ext uri="{FF2B5EF4-FFF2-40B4-BE49-F238E27FC236}">
                <a16:creationId xmlns:a16="http://schemas.microsoft.com/office/drawing/2014/main" id="{B5E59A7B-0B95-3388-4F41-7D3FDD2F450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D5C68EA-22E5-31FA-476E-341BE83631EB}"/>
              </a:ext>
            </a:extLst>
          </p:cNvPr>
          <p:cNvSpPr>
            <a:spLocks noGrp="1"/>
          </p:cNvSpPr>
          <p:nvPr>
            <p:ph type="sldNum" sz="quarter" idx="10"/>
          </p:nvPr>
        </p:nvSpPr>
        <p:spPr/>
        <p:txBody>
          <a:bodyPr/>
          <a:lstStyle/>
          <a:p>
            <a:fld id="{201117CF-13A6-40F8-80E3-F986AD31E70C}" type="slidenum">
              <a:rPr lang="ko-KR" altLang="en-US" smtClean="0"/>
              <a:t>1</a:t>
            </a:fld>
            <a:endParaRPr lang="ko-KR" altLang="en-US"/>
          </a:p>
        </p:txBody>
      </p:sp>
    </p:spTree>
    <p:extLst>
      <p:ext uri="{BB962C8B-B14F-4D97-AF65-F5344CB8AC3E}">
        <p14:creationId xmlns:p14="http://schemas.microsoft.com/office/powerpoint/2010/main" val="2582370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ECB3-234E-65A2-AB9A-52D99FFC31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85D963F-591F-D2CD-C2FB-ADDA22475418}"/>
              </a:ext>
            </a:extLst>
          </p:cNvPr>
          <p:cNvSpPr>
            <a:spLocks noGrp="1" noRot="1" noChangeAspect="1"/>
          </p:cNvSpPr>
          <p:nvPr>
            <p:ph type="sldImg"/>
          </p:nvPr>
        </p:nvSpPr>
        <p:spPr>
          <a:xfrm>
            <a:off x="2193925" y="768350"/>
            <a:ext cx="2711450" cy="3836988"/>
          </a:xfrm>
        </p:spPr>
      </p:sp>
      <p:sp>
        <p:nvSpPr>
          <p:cNvPr id="3" name="슬라이드 노트 개체 틀 2">
            <a:extLst>
              <a:ext uri="{FF2B5EF4-FFF2-40B4-BE49-F238E27FC236}">
                <a16:creationId xmlns:a16="http://schemas.microsoft.com/office/drawing/2014/main" id="{B5E59A7B-0B95-3388-4F41-7D3FDD2F450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D5C68EA-22E5-31FA-476E-341BE83631EB}"/>
              </a:ext>
            </a:extLst>
          </p:cNvPr>
          <p:cNvSpPr>
            <a:spLocks noGrp="1"/>
          </p:cNvSpPr>
          <p:nvPr>
            <p:ph type="sldNum" sz="quarter" idx="10"/>
          </p:nvPr>
        </p:nvSpPr>
        <p:spPr/>
        <p:txBody>
          <a:bodyPr/>
          <a:lstStyle/>
          <a:p>
            <a:fld id="{201117CF-13A6-40F8-80E3-F986AD31E70C}" type="slidenum">
              <a:rPr lang="ko-KR" altLang="en-US" smtClean="0"/>
              <a:t>2</a:t>
            </a:fld>
            <a:endParaRPr lang="ko-KR" altLang="en-US"/>
          </a:p>
        </p:txBody>
      </p:sp>
    </p:spTree>
    <p:extLst>
      <p:ext uri="{BB962C8B-B14F-4D97-AF65-F5344CB8AC3E}">
        <p14:creationId xmlns:p14="http://schemas.microsoft.com/office/powerpoint/2010/main" val="2582370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603772" y="9404946"/>
            <a:ext cx="18176081" cy="6489548"/>
          </a:xfrm>
        </p:spPr>
        <p:txBody>
          <a:bodyPr/>
          <a:lstStyle/>
          <a:p>
            <a:r>
              <a:rPr lang="ko-KR" altLang="en-US"/>
              <a:t>마스터 제목 스타일 편집</a:t>
            </a:r>
          </a:p>
        </p:txBody>
      </p:sp>
      <p:sp>
        <p:nvSpPr>
          <p:cNvPr id="3" name="부제목 2"/>
          <p:cNvSpPr>
            <a:spLocks noGrp="1"/>
          </p:cNvSpPr>
          <p:nvPr>
            <p:ph type="subTitle" idx="1"/>
          </p:nvPr>
        </p:nvSpPr>
        <p:spPr>
          <a:xfrm>
            <a:off x="3207545" y="17155955"/>
            <a:ext cx="14968538" cy="7736999"/>
          </a:xfrm>
        </p:spPr>
        <p:txBody>
          <a:bodyPr/>
          <a:lstStyle>
            <a:lvl1pPr marL="0" indent="0" algn="ctr">
              <a:buNone/>
              <a:defRPr>
                <a:solidFill>
                  <a:schemeClr val="tx1">
                    <a:tint val="75000"/>
                  </a:schemeClr>
                </a:solidFill>
              </a:defRPr>
            </a:lvl1pPr>
            <a:lvl2pPr marL="1474407" indent="0" algn="ctr">
              <a:buNone/>
              <a:defRPr>
                <a:solidFill>
                  <a:schemeClr val="tx1">
                    <a:tint val="75000"/>
                  </a:schemeClr>
                </a:solidFill>
              </a:defRPr>
            </a:lvl2pPr>
            <a:lvl3pPr marL="2948818" indent="0" algn="ctr">
              <a:buNone/>
              <a:defRPr>
                <a:solidFill>
                  <a:schemeClr val="tx1">
                    <a:tint val="75000"/>
                  </a:schemeClr>
                </a:solidFill>
              </a:defRPr>
            </a:lvl3pPr>
            <a:lvl4pPr marL="4423225" indent="0" algn="ctr">
              <a:buNone/>
              <a:defRPr>
                <a:solidFill>
                  <a:schemeClr val="tx1">
                    <a:tint val="75000"/>
                  </a:schemeClr>
                </a:solidFill>
              </a:defRPr>
            </a:lvl4pPr>
            <a:lvl5pPr marL="5897632" indent="0" algn="ctr">
              <a:buNone/>
              <a:defRPr>
                <a:solidFill>
                  <a:schemeClr val="tx1">
                    <a:tint val="75000"/>
                  </a:schemeClr>
                </a:solidFill>
              </a:defRPr>
            </a:lvl5pPr>
            <a:lvl6pPr marL="7372043" indent="0" algn="ctr">
              <a:buNone/>
              <a:defRPr>
                <a:solidFill>
                  <a:schemeClr val="tx1">
                    <a:tint val="75000"/>
                  </a:schemeClr>
                </a:solidFill>
              </a:defRPr>
            </a:lvl6pPr>
            <a:lvl7pPr marL="8846450" indent="0" algn="ctr">
              <a:buNone/>
              <a:defRPr>
                <a:solidFill>
                  <a:schemeClr val="tx1">
                    <a:tint val="75000"/>
                  </a:schemeClr>
                </a:solidFill>
              </a:defRPr>
            </a:lvl7pPr>
            <a:lvl8pPr marL="10320858" indent="0" algn="ctr">
              <a:buNone/>
              <a:defRPr>
                <a:solidFill>
                  <a:schemeClr val="tx1">
                    <a:tint val="75000"/>
                  </a:schemeClr>
                </a:solidFill>
              </a:defRPr>
            </a:lvl8pPr>
            <a:lvl9pPr marL="11795268"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164153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3431518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1689159" y="19454634"/>
            <a:ext cx="18176081" cy="6012994"/>
          </a:xfrm>
        </p:spPr>
        <p:txBody>
          <a:bodyPr anchor="t"/>
          <a:lstStyle>
            <a:lvl1pPr algn="l">
              <a:defRPr sz="12923" b="1" cap="all"/>
            </a:lvl1pPr>
          </a:lstStyle>
          <a:p>
            <a:r>
              <a:rPr lang="ko-KR" altLang="en-US"/>
              <a:t>마스터 제목 스타일 편집</a:t>
            </a:r>
          </a:p>
        </p:txBody>
      </p:sp>
      <p:sp>
        <p:nvSpPr>
          <p:cNvPr id="3" name="텍스트 개체 틀 2"/>
          <p:cNvSpPr>
            <a:spLocks noGrp="1"/>
          </p:cNvSpPr>
          <p:nvPr>
            <p:ph type="body" idx="1"/>
          </p:nvPr>
        </p:nvSpPr>
        <p:spPr>
          <a:xfrm>
            <a:off x="1689159" y="12831929"/>
            <a:ext cx="18176081" cy="6622701"/>
          </a:xfrm>
        </p:spPr>
        <p:txBody>
          <a:bodyPr anchor="b"/>
          <a:lstStyle>
            <a:lvl1pPr marL="0" indent="0">
              <a:buNone/>
              <a:defRPr sz="6426">
                <a:solidFill>
                  <a:schemeClr val="tx1">
                    <a:tint val="75000"/>
                  </a:schemeClr>
                </a:solidFill>
              </a:defRPr>
            </a:lvl1pPr>
            <a:lvl2pPr marL="1474407" indent="0">
              <a:buNone/>
              <a:defRPr sz="5791">
                <a:solidFill>
                  <a:schemeClr val="tx1">
                    <a:tint val="75000"/>
                  </a:schemeClr>
                </a:solidFill>
              </a:defRPr>
            </a:lvl2pPr>
            <a:lvl3pPr marL="2948818" indent="0">
              <a:buNone/>
              <a:defRPr sz="5155">
                <a:solidFill>
                  <a:schemeClr val="tx1">
                    <a:tint val="75000"/>
                  </a:schemeClr>
                </a:solidFill>
              </a:defRPr>
            </a:lvl3pPr>
            <a:lvl4pPr marL="4423225" indent="0">
              <a:buNone/>
              <a:defRPr sz="4520">
                <a:solidFill>
                  <a:schemeClr val="tx1">
                    <a:tint val="75000"/>
                  </a:schemeClr>
                </a:solidFill>
              </a:defRPr>
            </a:lvl4pPr>
            <a:lvl5pPr marL="5897632" indent="0">
              <a:buNone/>
              <a:defRPr sz="4520">
                <a:solidFill>
                  <a:schemeClr val="tx1">
                    <a:tint val="75000"/>
                  </a:schemeClr>
                </a:solidFill>
              </a:defRPr>
            </a:lvl5pPr>
            <a:lvl6pPr marL="7372043" indent="0">
              <a:buNone/>
              <a:defRPr sz="4520">
                <a:solidFill>
                  <a:schemeClr val="tx1">
                    <a:tint val="75000"/>
                  </a:schemeClr>
                </a:solidFill>
              </a:defRPr>
            </a:lvl6pPr>
            <a:lvl7pPr marL="8846450" indent="0">
              <a:buNone/>
              <a:defRPr sz="4520">
                <a:solidFill>
                  <a:schemeClr val="tx1">
                    <a:tint val="75000"/>
                  </a:schemeClr>
                </a:solidFill>
              </a:defRPr>
            </a:lvl7pPr>
            <a:lvl8pPr marL="10320858" indent="0">
              <a:buNone/>
              <a:defRPr sz="4520">
                <a:solidFill>
                  <a:schemeClr val="tx1">
                    <a:tint val="75000"/>
                  </a:schemeClr>
                </a:solidFill>
              </a:defRPr>
            </a:lvl8pPr>
            <a:lvl9pPr marL="11795268" indent="0">
              <a:buNone/>
              <a:defRPr sz="452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3245693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3541668" y="44095287"/>
            <a:ext cx="31685633" cy="124717058"/>
          </a:xfrm>
        </p:spPr>
        <p:txBody>
          <a:bodyPr/>
          <a:lstStyle>
            <a:lvl1pPr>
              <a:defRPr sz="9039"/>
            </a:lvl1pPr>
            <a:lvl2pPr>
              <a:defRPr sz="7768"/>
            </a:lvl2pPr>
            <a:lvl3pPr>
              <a:defRPr sz="6426"/>
            </a:lvl3pPr>
            <a:lvl4pPr>
              <a:defRPr sz="5791"/>
            </a:lvl4pPr>
            <a:lvl5pPr>
              <a:defRPr sz="5791"/>
            </a:lvl5pPr>
            <a:lvl6pPr>
              <a:defRPr sz="5791"/>
            </a:lvl6pPr>
            <a:lvl7pPr>
              <a:defRPr sz="5791"/>
            </a:lvl7pPr>
            <a:lvl8pPr>
              <a:defRPr sz="5791"/>
            </a:lvl8pPr>
            <a:lvl9pPr>
              <a:defRPr sz="579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35583691" y="44095287"/>
            <a:ext cx="31685631" cy="124717058"/>
          </a:xfrm>
        </p:spPr>
        <p:txBody>
          <a:bodyPr/>
          <a:lstStyle>
            <a:lvl1pPr>
              <a:defRPr sz="9039"/>
            </a:lvl1pPr>
            <a:lvl2pPr>
              <a:defRPr sz="7768"/>
            </a:lvl2pPr>
            <a:lvl3pPr>
              <a:defRPr sz="6426"/>
            </a:lvl3pPr>
            <a:lvl4pPr>
              <a:defRPr sz="5791"/>
            </a:lvl4pPr>
            <a:lvl5pPr>
              <a:defRPr sz="5791"/>
            </a:lvl5pPr>
            <a:lvl6pPr>
              <a:defRPr sz="5791"/>
            </a:lvl6pPr>
            <a:lvl7pPr>
              <a:defRPr sz="5791"/>
            </a:lvl7pPr>
            <a:lvl8pPr>
              <a:defRPr sz="5791"/>
            </a:lvl8pPr>
            <a:lvl9pPr>
              <a:defRPr sz="579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3254572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1069181" y="1212412"/>
            <a:ext cx="19245263" cy="5045869"/>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1069181" y="6776885"/>
            <a:ext cx="9448148" cy="2824282"/>
          </a:xfrm>
        </p:spPr>
        <p:txBody>
          <a:bodyPr anchor="b"/>
          <a:lstStyle>
            <a:lvl1pPr marL="0" indent="0">
              <a:buNone/>
              <a:defRPr sz="7768" b="1"/>
            </a:lvl1pPr>
            <a:lvl2pPr marL="1474407" indent="0">
              <a:buNone/>
              <a:defRPr sz="6426" b="1"/>
            </a:lvl2pPr>
            <a:lvl3pPr marL="2948818" indent="0">
              <a:buNone/>
              <a:defRPr sz="5791" b="1"/>
            </a:lvl3pPr>
            <a:lvl4pPr marL="4423225" indent="0">
              <a:buNone/>
              <a:defRPr sz="5155" b="1"/>
            </a:lvl4pPr>
            <a:lvl5pPr marL="5897632" indent="0">
              <a:buNone/>
              <a:defRPr sz="5155" b="1"/>
            </a:lvl5pPr>
            <a:lvl6pPr marL="7372043" indent="0">
              <a:buNone/>
              <a:defRPr sz="5155" b="1"/>
            </a:lvl6pPr>
            <a:lvl7pPr marL="8846450" indent="0">
              <a:buNone/>
              <a:defRPr sz="5155" b="1"/>
            </a:lvl7pPr>
            <a:lvl8pPr marL="10320858" indent="0">
              <a:buNone/>
              <a:defRPr sz="5155" b="1"/>
            </a:lvl8pPr>
            <a:lvl9pPr marL="11795268" indent="0">
              <a:buNone/>
              <a:defRPr sz="5155" b="1"/>
            </a:lvl9pPr>
          </a:lstStyle>
          <a:p>
            <a:pPr lvl="0"/>
            <a:r>
              <a:rPr lang="ko-KR" altLang="en-US"/>
              <a:t>마스터 텍스트 스타일을 편집합니다</a:t>
            </a:r>
          </a:p>
        </p:txBody>
      </p:sp>
      <p:sp>
        <p:nvSpPr>
          <p:cNvPr id="4" name="내용 개체 틀 3"/>
          <p:cNvSpPr>
            <a:spLocks noGrp="1"/>
          </p:cNvSpPr>
          <p:nvPr>
            <p:ph sz="half" idx="2"/>
          </p:nvPr>
        </p:nvSpPr>
        <p:spPr>
          <a:xfrm>
            <a:off x="1069181" y="9601168"/>
            <a:ext cx="9448148" cy="17443291"/>
          </a:xfrm>
        </p:spPr>
        <p:txBody>
          <a:bodyPr/>
          <a:lstStyle>
            <a:lvl1pPr>
              <a:defRPr sz="7768"/>
            </a:lvl1pPr>
            <a:lvl2pPr>
              <a:defRPr sz="6426"/>
            </a:lvl2pPr>
            <a:lvl3pPr>
              <a:defRPr sz="5791"/>
            </a:lvl3pPr>
            <a:lvl4pPr>
              <a:defRPr sz="5155"/>
            </a:lvl4pPr>
            <a:lvl5pPr>
              <a:defRPr sz="5155"/>
            </a:lvl5pPr>
            <a:lvl6pPr>
              <a:defRPr sz="5155"/>
            </a:lvl6pPr>
            <a:lvl7pPr>
              <a:defRPr sz="5155"/>
            </a:lvl7pPr>
            <a:lvl8pPr>
              <a:defRPr sz="5155"/>
            </a:lvl8pPr>
            <a:lvl9pPr>
              <a:defRPr sz="5155"/>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10862585" y="6776885"/>
            <a:ext cx="9451860" cy="2824282"/>
          </a:xfrm>
        </p:spPr>
        <p:txBody>
          <a:bodyPr anchor="b"/>
          <a:lstStyle>
            <a:lvl1pPr marL="0" indent="0">
              <a:buNone/>
              <a:defRPr sz="7768" b="1"/>
            </a:lvl1pPr>
            <a:lvl2pPr marL="1474407" indent="0">
              <a:buNone/>
              <a:defRPr sz="6426" b="1"/>
            </a:lvl2pPr>
            <a:lvl3pPr marL="2948818" indent="0">
              <a:buNone/>
              <a:defRPr sz="5791" b="1"/>
            </a:lvl3pPr>
            <a:lvl4pPr marL="4423225" indent="0">
              <a:buNone/>
              <a:defRPr sz="5155" b="1"/>
            </a:lvl4pPr>
            <a:lvl5pPr marL="5897632" indent="0">
              <a:buNone/>
              <a:defRPr sz="5155" b="1"/>
            </a:lvl5pPr>
            <a:lvl6pPr marL="7372043" indent="0">
              <a:buNone/>
              <a:defRPr sz="5155" b="1"/>
            </a:lvl6pPr>
            <a:lvl7pPr marL="8846450" indent="0">
              <a:buNone/>
              <a:defRPr sz="5155" b="1"/>
            </a:lvl7pPr>
            <a:lvl8pPr marL="10320858" indent="0">
              <a:buNone/>
              <a:defRPr sz="5155" b="1"/>
            </a:lvl8pPr>
            <a:lvl9pPr marL="11795268" indent="0">
              <a:buNone/>
              <a:defRPr sz="5155" b="1"/>
            </a:lvl9pPr>
          </a:lstStyle>
          <a:p>
            <a:pPr lvl="0"/>
            <a:r>
              <a:rPr lang="ko-KR" altLang="en-US"/>
              <a:t>마스터 텍스트 스타일을 편집합니다</a:t>
            </a:r>
          </a:p>
        </p:txBody>
      </p:sp>
      <p:sp>
        <p:nvSpPr>
          <p:cNvPr id="6" name="내용 개체 틀 5"/>
          <p:cNvSpPr>
            <a:spLocks noGrp="1"/>
          </p:cNvSpPr>
          <p:nvPr>
            <p:ph sz="quarter" idx="4"/>
          </p:nvPr>
        </p:nvSpPr>
        <p:spPr>
          <a:xfrm>
            <a:off x="10862585" y="9601168"/>
            <a:ext cx="9451860" cy="17443291"/>
          </a:xfrm>
        </p:spPr>
        <p:txBody>
          <a:bodyPr/>
          <a:lstStyle>
            <a:lvl1pPr>
              <a:defRPr sz="7768"/>
            </a:lvl1pPr>
            <a:lvl2pPr>
              <a:defRPr sz="6426"/>
            </a:lvl2pPr>
            <a:lvl3pPr>
              <a:defRPr sz="5791"/>
            </a:lvl3pPr>
            <a:lvl4pPr>
              <a:defRPr sz="5155"/>
            </a:lvl4pPr>
            <a:lvl5pPr>
              <a:defRPr sz="5155"/>
            </a:lvl5pPr>
            <a:lvl6pPr>
              <a:defRPr sz="5155"/>
            </a:lvl6pPr>
            <a:lvl7pPr>
              <a:defRPr sz="5155"/>
            </a:lvl7pPr>
            <a:lvl8pPr>
              <a:defRPr sz="5155"/>
            </a:lvl8pPr>
            <a:lvl9pPr>
              <a:defRPr sz="5155"/>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3457185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40639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2564323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1069186" y="1205403"/>
            <a:ext cx="7035065" cy="5129967"/>
          </a:xfrm>
        </p:spPr>
        <p:txBody>
          <a:bodyPr anchor="b"/>
          <a:lstStyle>
            <a:lvl1pPr algn="l">
              <a:defRPr sz="6426" b="1"/>
            </a:lvl1pPr>
          </a:lstStyle>
          <a:p>
            <a:r>
              <a:rPr lang="ko-KR" altLang="en-US"/>
              <a:t>마스터 제목 스타일 편집</a:t>
            </a:r>
          </a:p>
        </p:txBody>
      </p:sp>
      <p:sp>
        <p:nvSpPr>
          <p:cNvPr id="3" name="내용 개체 틀 2"/>
          <p:cNvSpPr>
            <a:spLocks noGrp="1"/>
          </p:cNvSpPr>
          <p:nvPr>
            <p:ph idx="1"/>
          </p:nvPr>
        </p:nvSpPr>
        <p:spPr>
          <a:xfrm>
            <a:off x="8360404" y="1205410"/>
            <a:ext cx="11954040" cy="25839055"/>
          </a:xfrm>
        </p:spPr>
        <p:txBody>
          <a:bodyPr/>
          <a:lstStyle>
            <a:lvl1pPr>
              <a:defRPr sz="10311"/>
            </a:lvl1pPr>
            <a:lvl2pPr>
              <a:defRPr sz="9039"/>
            </a:lvl2pPr>
            <a:lvl3pPr>
              <a:defRPr sz="7768"/>
            </a:lvl3pPr>
            <a:lvl4pPr>
              <a:defRPr sz="6426"/>
            </a:lvl4pPr>
            <a:lvl5pPr>
              <a:defRPr sz="6426"/>
            </a:lvl5pPr>
            <a:lvl6pPr>
              <a:defRPr sz="6426"/>
            </a:lvl6pPr>
            <a:lvl7pPr>
              <a:defRPr sz="6426"/>
            </a:lvl7pPr>
            <a:lvl8pPr>
              <a:defRPr sz="6426"/>
            </a:lvl8pPr>
            <a:lvl9pPr>
              <a:defRPr sz="6426"/>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1069186" y="6335376"/>
            <a:ext cx="7035065" cy="20709089"/>
          </a:xfrm>
        </p:spPr>
        <p:txBody>
          <a:bodyPr/>
          <a:lstStyle>
            <a:lvl1pPr marL="0" indent="0">
              <a:buNone/>
              <a:defRPr sz="4520"/>
            </a:lvl1pPr>
            <a:lvl2pPr marL="1474407" indent="0">
              <a:buNone/>
              <a:defRPr sz="3884"/>
            </a:lvl2pPr>
            <a:lvl3pPr marL="2948818" indent="0">
              <a:buNone/>
              <a:defRPr sz="3249"/>
            </a:lvl3pPr>
            <a:lvl4pPr marL="4423225" indent="0">
              <a:buNone/>
              <a:defRPr sz="2895"/>
            </a:lvl4pPr>
            <a:lvl5pPr marL="5897632" indent="0">
              <a:buNone/>
              <a:defRPr sz="2895"/>
            </a:lvl5pPr>
            <a:lvl6pPr marL="7372043" indent="0">
              <a:buNone/>
              <a:defRPr sz="2895"/>
            </a:lvl6pPr>
            <a:lvl7pPr marL="8846450" indent="0">
              <a:buNone/>
              <a:defRPr sz="2895"/>
            </a:lvl7pPr>
            <a:lvl8pPr marL="10320858" indent="0">
              <a:buNone/>
              <a:defRPr sz="2895"/>
            </a:lvl8pPr>
            <a:lvl9pPr marL="11795268" indent="0">
              <a:buNone/>
              <a:defRPr sz="2895"/>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887076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4191341" y="21192650"/>
            <a:ext cx="12830175" cy="2501912"/>
          </a:xfrm>
        </p:spPr>
        <p:txBody>
          <a:bodyPr anchor="b"/>
          <a:lstStyle>
            <a:lvl1pPr algn="l">
              <a:defRPr sz="6426" b="1"/>
            </a:lvl1pPr>
          </a:lstStyle>
          <a:p>
            <a:r>
              <a:rPr lang="ko-KR" altLang="en-US"/>
              <a:t>마스터 제목 스타일 편집</a:t>
            </a:r>
          </a:p>
        </p:txBody>
      </p:sp>
      <p:sp>
        <p:nvSpPr>
          <p:cNvPr id="3" name="그림 개체 틀 2"/>
          <p:cNvSpPr>
            <a:spLocks noGrp="1"/>
          </p:cNvSpPr>
          <p:nvPr>
            <p:ph type="pic" idx="1"/>
          </p:nvPr>
        </p:nvSpPr>
        <p:spPr>
          <a:xfrm>
            <a:off x="4191341" y="2705147"/>
            <a:ext cx="12830175" cy="18165128"/>
          </a:xfrm>
        </p:spPr>
        <p:txBody>
          <a:bodyPr/>
          <a:lstStyle>
            <a:lvl1pPr marL="0" indent="0">
              <a:buNone/>
              <a:defRPr sz="10311"/>
            </a:lvl1pPr>
            <a:lvl2pPr marL="1474407" indent="0">
              <a:buNone/>
              <a:defRPr sz="9039"/>
            </a:lvl2pPr>
            <a:lvl3pPr marL="2948818" indent="0">
              <a:buNone/>
              <a:defRPr sz="7768"/>
            </a:lvl3pPr>
            <a:lvl4pPr marL="4423225" indent="0">
              <a:buNone/>
              <a:defRPr sz="6426"/>
            </a:lvl4pPr>
            <a:lvl5pPr marL="5897632" indent="0">
              <a:buNone/>
              <a:defRPr sz="6426"/>
            </a:lvl5pPr>
            <a:lvl6pPr marL="7372043" indent="0">
              <a:buNone/>
              <a:defRPr sz="6426"/>
            </a:lvl6pPr>
            <a:lvl7pPr marL="8846450" indent="0">
              <a:buNone/>
              <a:defRPr sz="6426"/>
            </a:lvl7pPr>
            <a:lvl8pPr marL="10320858" indent="0">
              <a:buNone/>
              <a:defRPr sz="6426"/>
            </a:lvl8pPr>
            <a:lvl9pPr marL="11795268" indent="0">
              <a:buNone/>
              <a:defRPr sz="6426"/>
            </a:lvl9pPr>
          </a:lstStyle>
          <a:p>
            <a:endParaRPr lang="ko-KR" altLang="en-US"/>
          </a:p>
        </p:txBody>
      </p:sp>
      <p:sp>
        <p:nvSpPr>
          <p:cNvPr id="4" name="텍스트 개체 틀 3"/>
          <p:cNvSpPr>
            <a:spLocks noGrp="1"/>
          </p:cNvSpPr>
          <p:nvPr>
            <p:ph type="body" sz="half" idx="2"/>
          </p:nvPr>
        </p:nvSpPr>
        <p:spPr>
          <a:xfrm>
            <a:off x="4191341" y="23694562"/>
            <a:ext cx="12830175" cy="3553130"/>
          </a:xfrm>
        </p:spPr>
        <p:txBody>
          <a:bodyPr/>
          <a:lstStyle>
            <a:lvl1pPr marL="0" indent="0">
              <a:buNone/>
              <a:defRPr sz="4520"/>
            </a:lvl1pPr>
            <a:lvl2pPr marL="1474407" indent="0">
              <a:buNone/>
              <a:defRPr sz="3884"/>
            </a:lvl2pPr>
            <a:lvl3pPr marL="2948818" indent="0">
              <a:buNone/>
              <a:defRPr sz="3249"/>
            </a:lvl3pPr>
            <a:lvl4pPr marL="4423225" indent="0">
              <a:buNone/>
              <a:defRPr sz="2895"/>
            </a:lvl4pPr>
            <a:lvl5pPr marL="5897632" indent="0">
              <a:buNone/>
              <a:defRPr sz="2895"/>
            </a:lvl5pPr>
            <a:lvl6pPr marL="7372043" indent="0">
              <a:buNone/>
              <a:defRPr sz="2895"/>
            </a:lvl6pPr>
            <a:lvl7pPr marL="8846450" indent="0">
              <a:buNone/>
              <a:defRPr sz="2895"/>
            </a:lvl7pPr>
            <a:lvl8pPr marL="10320858" indent="0">
              <a:buNone/>
              <a:defRPr sz="2895"/>
            </a:lvl8pPr>
            <a:lvl9pPr marL="11795268" indent="0">
              <a:buNone/>
              <a:defRPr sz="2895"/>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1321747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2838318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51339264" y="7568803"/>
            <a:ext cx="15930057" cy="161243542"/>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3541667" y="7568803"/>
            <a:ext cx="47441207" cy="161243542"/>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2C37046-CC40-4B65-9183-3CFB53325437}" type="datetimeFigureOut">
              <a:rPr lang="ko-KR" altLang="en-US" smtClean="0"/>
              <a:t>2026-03-18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62514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1069181" y="1212412"/>
            <a:ext cx="19245263" cy="5045869"/>
          </a:xfrm>
          <a:prstGeom prst="rect">
            <a:avLst/>
          </a:prstGeom>
        </p:spPr>
        <p:txBody>
          <a:bodyPr vert="horz" lIns="417561" tIns="208780" rIns="417561" bIns="208780" rtlCol="0" anchor="ctr">
            <a:normAutofit/>
          </a:bodyPr>
          <a:lstStyle/>
          <a:p>
            <a:r>
              <a:rPr lang="ko-KR" altLang="en-US"/>
              <a:t>마스터 제목 스타일 편집</a:t>
            </a:r>
          </a:p>
        </p:txBody>
      </p:sp>
      <p:sp>
        <p:nvSpPr>
          <p:cNvPr id="3" name="텍스트 개체 틀 2"/>
          <p:cNvSpPr>
            <a:spLocks noGrp="1"/>
          </p:cNvSpPr>
          <p:nvPr>
            <p:ph type="body" idx="1"/>
          </p:nvPr>
        </p:nvSpPr>
        <p:spPr>
          <a:xfrm>
            <a:off x="1069181" y="7064224"/>
            <a:ext cx="19245263" cy="19980241"/>
          </a:xfrm>
          <a:prstGeom prst="rect">
            <a:avLst/>
          </a:prstGeom>
        </p:spPr>
        <p:txBody>
          <a:bodyPr vert="horz" lIns="417561" tIns="208780" rIns="417561" bIns="20878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1069181" y="28060645"/>
            <a:ext cx="4989513" cy="1611875"/>
          </a:xfrm>
          <a:prstGeom prst="rect">
            <a:avLst/>
          </a:prstGeom>
        </p:spPr>
        <p:txBody>
          <a:bodyPr vert="horz" lIns="417561" tIns="208780" rIns="417561" bIns="208780" rtlCol="0" anchor="ctr"/>
          <a:lstStyle>
            <a:lvl1pPr algn="l">
              <a:defRPr sz="3884">
                <a:solidFill>
                  <a:schemeClr val="tx1">
                    <a:tint val="75000"/>
                  </a:schemeClr>
                </a:solidFill>
              </a:defRPr>
            </a:lvl1pPr>
          </a:lstStyle>
          <a:p>
            <a:fld id="{32C37046-CC40-4B65-9183-3CFB53325437}" type="datetimeFigureOut">
              <a:rPr lang="ko-KR" altLang="en-US" smtClean="0"/>
              <a:t>2026-03-18</a:t>
            </a:fld>
            <a:endParaRPr lang="ko-KR" altLang="en-US"/>
          </a:p>
        </p:txBody>
      </p:sp>
      <p:sp>
        <p:nvSpPr>
          <p:cNvPr id="5" name="바닥글 개체 틀 4"/>
          <p:cNvSpPr>
            <a:spLocks noGrp="1"/>
          </p:cNvSpPr>
          <p:nvPr>
            <p:ph type="ftr" sz="quarter" idx="3"/>
          </p:nvPr>
        </p:nvSpPr>
        <p:spPr>
          <a:xfrm>
            <a:off x="7306072" y="28060645"/>
            <a:ext cx="6771481" cy="1611875"/>
          </a:xfrm>
          <a:prstGeom prst="rect">
            <a:avLst/>
          </a:prstGeom>
        </p:spPr>
        <p:txBody>
          <a:bodyPr vert="horz" lIns="417561" tIns="208780" rIns="417561" bIns="208780" rtlCol="0" anchor="ctr"/>
          <a:lstStyle>
            <a:lvl1pPr algn="ctr">
              <a:defRPr sz="3884">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15324931" y="28060645"/>
            <a:ext cx="4989513" cy="1611875"/>
          </a:xfrm>
          <a:prstGeom prst="rect">
            <a:avLst/>
          </a:prstGeom>
        </p:spPr>
        <p:txBody>
          <a:bodyPr vert="horz" lIns="417561" tIns="208780" rIns="417561" bIns="208780" rtlCol="0" anchor="ctr"/>
          <a:lstStyle>
            <a:lvl1pPr algn="r">
              <a:defRPr sz="3884">
                <a:solidFill>
                  <a:schemeClr val="tx1">
                    <a:tint val="75000"/>
                  </a:schemeClr>
                </a:solidFill>
              </a:defRPr>
            </a:lvl1pPr>
          </a:lstStyle>
          <a:p>
            <a:fld id="{4ED9392B-FB04-4EE8-B7A8-836937D3AC79}" type="slidenum">
              <a:rPr lang="ko-KR" altLang="en-US" smtClean="0"/>
              <a:t>‹#›</a:t>
            </a:fld>
            <a:endParaRPr lang="ko-KR" altLang="en-US"/>
          </a:p>
        </p:txBody>
      </p:sp>
    </p:spTree>
    <p:extLst>
      <p:ext uri="{BB962C8B-B14F-4D97-AF65-F5344CB8AC3E}">
        <p14:creationId xmlns:p14="http://schemas.microsoft.com/office/powerpoint/2010/main" val="19005793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2948818" rtl="0" eaLnBrk="1" latinLnBrk="1" hangingPunct="1">
        <a:spcBef>
          <a:spcPct val="0"/>
        </a:spcBef>
        <a:buNone/>
        <a:defRPr sz="14195" kern="1200">
          <a:solidFill>
            <a:schemeClr val="tx1"/>
          </a:solidFill>
          <a:latin typeface="+mj-lt"/>
          <a:ea typeface="+mj-ea"/>
          <a:cs typeface="+mj-cs"/>
        </a:defRPr>
      </a:lvl1pPr>
    </p:titleStyle>
    <p:bodyStyle>
      <a:lvl1pPr marL="1105807" indent="-1105807" algn="l" defTabSz="2948818" rtl="0" eaLnBrk="1" latinLnBrk="1" hangingPunct="1">
        <a:spcBef>
          <a:spcPct val="20000"/>
        </a:spcBef>
        <a:buFont typeface="Arial" panose="020B0604020202020204" pitchFamily="34" charset="0"/>
        <a:buChar char="•"/>
        <a:defRPr sz="10311" kern="1200">
          <a:solidFill>
            <a:schemeClr val="tx1"/>
          </a:solidFill>
          <a:latin typeface="+mn-lt"/>
          <a:ea typeface="+mn-ea"/>
          <a:cs typeface="+mn-cs"/>
        </a:defRPr>
      </a:lvl1pPr>
      <a:lvl2pPr marL="2395913" indent="-921506" algn="l" defTabSz="2948818" rtl="0" eaLnBrk="1" latinLnBrk="1" hangingPunct="1">
        <a:spcBef>
          <a:spcPct val="20000"/>
        </a:spcBef>
        <a:buFont typeface="Arial" panose="020B0604020202020204" pitchFamily="34" charset="0"/>
        <a:buChar char="–"/>
        <a:defRPr sz="9039" kern="1200">
          <a:solidFill>
            <a:schemeClr val="tx1"/>
          </a:solidFill>
          <a:latin typeface="+mn-lt"/>
          <a:ea typeface="+mn-ea"/>
          <a:cs typeface="+mn-cs"/>
        </a:defRPr>
      </a:lvl2pPr>
      <a:lvl3pPr marL="3686021" indent="-737204" algn="l" defTabSz="2948818" rtl="0" eaLnBrk="1" latinLnBrk="1" hangingPunct="1">
        <a:spcBef>
          <a:spcPct val="20000"/>
        </a:spcBef>
        <a:buFont typeface="Arial" panose="020B0604020202020204" pitchFamily="34" charset="0"/>
        <a:buChar char="•"/>
        <a:defRPr sz="7768" kern="1200">
          <a:solidFill>
            <a:schemeClr val="tx1"/>
          </a:solidFill>
          <a:latin typeface="+mn-lt"/>
          <a:ea typeface="+mn-ea"/>
          <a:cs typeface="+mn-cs"/>
        </a:defRPr>
      </a:lvl3pPr>
      <a:lvl4pPr marL="5160429" indent="-737204" algn="l" defTabSz="2948818" rtl="0" eaLnBrk="1" latinLnBrk="1" hangingPunct="1">
        <a:spcBef>
          <a:spcPct val="20000"/>
        </a:spcBef>
        <a:buFont typeface="Arial" panose="020B0604020202020204" pitchFamily="34" charset="0"/>
        <a:buChar char="–"/>
        <a:defRPr sz="6426" kern="1200">
          <a:solidFill>
            <a:schemeClr val="tx1"/>
          </a:solidFill>
          <a:latin typeface="+mn-lt"/>
          <a:ea typeface="+mn-ea"/>
          <a:cs typeface="+mn-cs"/>
        </a:defRPr>
      </a:lvl4pPr>
      <a:lvl5pPr marL="6634839" indent="-737204" algn="l" defTabSz="2948818" rtl="0" eaLnBrk="1" latinLnBrk="1" hangingPunct="1">
        <a:spcBef>
          <a:spcPct val="20000"/>
        </a:spcBef>
        <a:buFont typeface="Arial" panose="020B0604020202020204" pitchFamily="34" charset="0"/>
        <a:buChar char="»"/>
        <a:defRPr sz="6426" kern="1200">
          <a:solidFill>
            <a:schemeClr val="tx1"/>
          </a:solidFill>
          <a:latin typeface="+mn-lt"/>
          <a:ea typeface="+mn-ea"/>
          <a:cs typeface="+mn-cs"/>
        </a:defRPr>
      </a:lvl5pPr>
      <a:lvl6pPr marL="8109247" indent="-737204" algn="l" defTabSz="2948818" rtl="0" eaLnBrk="1" latinLnBrk="1" hangingPunct="1">
        <a:spcBef>
          <a:spcPct val="20000"/>
        </a:spcBef>
        <a:buFont typeface="Arial" panose="020B0604020202020204" pitchFamily="34" charset="0"/>
        <a:buChar char="•"/>
        <a:defRPr sz="6426" kern="1200">
          <a:solidFill>
            <a:schemeClr val="tx1"/>
          </a:solidFill>
          <a:latin typeface="+mn-lt"/>
          <a:ea typeface="+mn-ea"/>
          <a:cs typeface="+mn-cs"/>
        </a:defRPr>
      </a:lvl6pPr>
      <a:lvl7pPr marL="9583654" indent="-737204" algn="l" defTabSz="2948818" rtl="0" eaLnBrk="1" latinLnBrk="1" hangingPunct="1">
        <a:spcBef>
          <a:spcPct val="20000"/>
        </a:spcBef>
        <a:buFont typeface="Arial" panose="020B0604020202020204" pitchFamily="34" charset="0"/>
        <a:buChar char="•"/>
        <a:defRPr sz="6426" kern="1200">
          <a:solidFill>
            <a:schemeClr val="tx1"/>
          </a:solidFill>
          <a:latin typeface="+mn-lt"/>
          <a:ea typeface="+mn-ea"/>
          <a:cs typeface="+mn-cs"/>
        </a:defRPr>
      </a:lvl7pPr>
      <a:lvl8pPr marL="11058064" indent="-737204" algn="l" defTabSz="2948818" rtl="0" eaLnBrk="1" latinLnBrk="1" hangingPunct="1">
        <a:spcBef>
          <a:spcPct val="20000"/>
        </a:spcBef>
        <a:buFont typeface="Arial" panose="020B0604020202020204" pitchFamily="34" charset="0"/>
        <a:buChar char="•"/>
        <a:defRPr sz="6426" kern="1200">
          <a:solidFill>
            <a:schemeClr val="tx1"/>
          </a:solidFill>
          <a:latin typeface="+mn-lt"/>
          <a:ea typeface="+mn-ea"/>
          <a:cs typeface="+mn-cs"/>
        </a:defRPr>
      </a:lvl8pPr>
      <a:lvl9pPr marL="12532472" indent="-737204" algn="l" defTabSz="2948818" rtl="0" eaLnBrk="1" latinLnBrk="1" hangingPunct="1">
        <a:spcBef>
          <a:spcPct val="20000"/>
        </a:spcBef>
        <a:buFont typeface="Arial" panose="020B0604020202020204" pitchFamily="34" charset="0"/>
        <a:buChar char="•"/>
        <a:defRPr sz="6426" kern="1200">
          <a:solidFill>
            <a:schemeClr val="tx1"/>
          </a:solidFill>
          <a:latin typeface="+mn-lt"/>
          <a:ea typeface="+mn-ea"/>
          <a:cs typeface="+mn-cs"/>
        </a:defRPr>
      </a:lvl9pPr>
    </p:bodyStyle>
    <p:otherStyle>
      <a:defPPr>
        <a:defRPr lang="ko-KR"/>
      </a:defPPr>
      <a:lvl1pPr marL="0" algn="l" defTabSz="2948818" rtl="0" eaLnBrk="1" latinLnBrk="1" hangingPunct="1">
        <a:defRPr sz="5791" kern="1200">
          <a:solidFill>
            <a:schemeClr val="tx1"/>
          </a:solidFill>
          <a:latin typeface="+mn-lt"/>
          <a:ea typeface="+mn-ea"/>
          <a:cs typeface="+mn-cs"/>
        </a:defRPr>
      </a:lvl1pPr>
      <a:lvl2pPr marL="1474407" algn="l" defTabSz="2948818" rtl="0" eaLnBrk="1" latinLnBrk="1" hangingPunct="1">
        <a:defRPr sz="5791" kern="1200">
          <a:solidFill>
            <a:schemeClr val="tx1"/>
          </a:solidFill>
          <a:latin typeface="+mn-lt"/>
          <a:ea typeface="+mn-ea"/>
          <a:cs typeface="+mn-cs"/>
        </a:defRPr>
      </a:lvl2pPr>
      <a:lvl3pPr marL="2948818" algn="l" defTabSz="2948818" rtl="0" eaLnBrk="1" latinLnBrk="1" hangingPunct="1">
        <a:defRPr sz="5791" kern="1200">
          <a:solidFill>
            <a:schemeClr val="tx1"/>
          </a:solidFill>
          <a:latin typeface="+mn-lt"/>
          <a:ea typeface="+mn-ea"/>
          <a:cs typeface="+mn-cs"/>
        </a:defRPr>
      </a:lvl3pPr>
      <a:lvl4pPr marL="4423225" algn="l" defTabSz="2948818" rtl="0" eaLnBrk="1" latinLnBrk="1" hangingPunct="1">
        <a:defRPr sz="5791" kern="1200">
          <a:solidFill>
            <a:schemeClr val="tx1"/>
          </a:solidFill>
          <a:latin typeface="+mn-lt"/>
          <a:ea typeface="+mn-ea"/>
          <a:cs typeface="+mn-cs"/>
        </a:defRPr>
      </a:lvl4pPr>
      <a:lvl5pPr marL="5897632" algn="l" defTabSz="2948818" rtl="0" eaLnBrk="1" latinLnBrk="1" hangingPunct="1">
        <a:defRPr sz="5791" kern="1200">
          <a:solidFill>
            <a:schemeClr val="tx1"/>
          </a:solidFill>
          <a:latin typeface="+mn-lt"/>
          <a:ea typeface="+mn-ea"/>
          <a:cs typeface="+mn-cs"/>
        </a:defRPr>
      </a:lvl5pPr>
      <a:lvl6pPr marL="7372043" algn="l" defTabSz="2948818" rtl="0" eaLnBrk="1" latinLnBrk="1" hangingPunct="1">
        <a:defRPr sz="5791" kern="1200">
          <a:solidFill>
            <a:schemeClr val="tx1"/>
          </a:solidFill>
          <a:latin typeface="+mn-lt"/>
          <a:ea typeface="+mn-ea"/>
          <a:cs typeface="+mn-cs"/>
        </a:defRPr>
      </a:lvl6pPr>
      <a:lvl7pPr marL="8846450" algn="l" defTabSz="2948818" rtl="0" eaLnBrk="1" latinLnBrk="1" hangingPunct="1">
        <a:defRPr sz="5791" kern="1200">
          <a:solidFill>
            <a:schemeClr val="tx1"/>
          </a:solidFill>
          <a:latin typeface="+mn-lt"/>
          <a:ea typeface="+mn-ea"/>
          <a:cs typeface="+mn-cs"/>
        </a:defRPr>
      </a:lvl7pPr>
      <a:lvl8pPr marL="10320858" algn="l" defTabSz="2948818" rtl="0" eaLnBrk="1" latinLnBrk="1" hangingPunct="1">
        <a:defRPr sz="5791" kern="1200">
          <a:solidFill>
            <a:schemeClr val="tx1"/>
          </a:solidFill>
          <a:latin typeface="+mn-lt"/>
          <a:ea typeface="+mn-ea"/>
          <a:cs typeface="+mn-cs"/>
        </a:defRPr>
      </a:lvl8pPr>
      <a:lvl9pPr marL="11795268" algn="l" defTabSz="2948818" rtl="0" eaLnBrk="1" latinLnBrk="1" hangingPunct="1">
        <a:defRPr sz="579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42.png"/><Relationship Id="rId26" Type="http://schemas.openxmlformats.org/officeDocument/2006/relationships/image" Target="../media/image17.png"/><Relationship Id="rId39" Type="http://schemas.openxmlformats.org/officeDocument/2006/relationships/image" Target="../media/image28.png"/><Relationship Id="rId21" Type="http://schemas.openxmlformats.org/officeDocument/2006/relationships/image" Target="../media/image45.png"/><Relationship Id="rId34" Type="http://schemas.openxmlformats.org/officeDocument/2006/relationships/image" Target="../media/image23.png"/><Relationship Id="rId7" Type="http://schemas.openxmlformats.org/officeDocument/2006/relationships/image" Target="../media/image2.png"/><Relationship Id="rId12" Type="http://schemas.openxmlformats.org/officeDocument/2006/relationships/image" Target="../media/image10.png"/><Relationship Id="rId17" Type="http://schemas.openxmlformats.org/officeDocument/2006/relationships/image" Target="../media/image90.png"/><Relationship Id="rId25" Type="http://schemas.openxmlformats.org/officeDocument/2006/relationships/image" Target="../media/image16.png"/><Relationship Id="rId33" Type="http://schemas.openxmlformats.org/officeDocument/2006/relationships/image" Target="../media/image22.png"/><Relationship Id="rId38" Type="http://schemas.openxmlformats.org/officeDocument/2006/relationships/image" Target="../media/image27.png"/><Relationship Id="rId2" Type="http://schemas.openxmlformats.org/officeDocument/2006/relationships/notesSlide" Target="../notesSlides/notesSlide2.xml"/><Relationship Id="rId16" Type="http://schemas.openxmlformats.org/officeDocument/2006/relationships/image" Target="../media/image14.png"/><Relationship Id="rId20" Type="http://schemas.openxmlformats.org/officeDocument/2006/relationships/image" Target="../media/image44.png"/><Relationship Id="rId29" Type="http://schemas.openxmlformats.org/officeDocument/2006/relationships/image" Target="../media/image20.png"/><Relationship Id="rId41"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image" Target="../media/image36.png"/><Relationship Id="rId24" Type="http://schemas.openxmlformats.org/officeDocument/2006/relationships/image" Target="../media/image15.png"/><Relationship Id="rId32" Type="http://schemas.openxmlformats.org/officeDocument/2006/relationships/image" Target="../media/image21.png"/><Relationship Id="rId37" Type="http://schemas.openxmlformats.org/officeDocument/2006/relationships/image" Target="../media/image26.png"/><Relationship Id="rId40" Type="http://schemas.openxmlformats.org/officeDocument/2006/relationships/image" Target="../media/image29.png"/><Relationship Id="rId5" Type="http://schemas.openxmlformats.org/officeDocument/2006/relationships/image" Target="../media/image32.png"/><Relationship Id="rId15" Type="http://schemas.openxmlformats.org/officeDocument/2006/relationships/image" Target="../media/image13.png"/><Relationship Id="rId23" Type="http://schemas.openxmlformats.org/officeDocument/2006/relationships/image" Target="../media/image47.png"/><Relationship Id="rId28" Type="http://schemas.openxmlformats.org/officeDocument/2006/relationships/image" Target="../media/image19.png"/><Relationship Id="rId36" Type="http://schemas.openxmlformats.org/officeDocument/2006/relationships/image" Target="../media/image25.png"/><Relationship Id="rId10" Type="http://schemas.openxmlformats.org/officeDocument/2006/relationships/image" Target="../media/image351.png"/><Relationship Id="rId19" Type="http://schemas.openxmlformats.org/officeDocument/2006/relationships/image" Target="../media/image43.png"/><Relationship Id="rId31" Type="http://schemas.openxmlformats.org/officeDocument/2006/relationships/image" Target="../media/image4.svg"/><Relationship Id="rId4" Type="http://schemas.openxmlformats.org/officeDocument/2006/relationships/image" Target="../media/image31.png"/><Relationship Id="rId9" Type="http://schemas.openxmlformats.org/officeDocument/2006/relationships/image" Target="../media/image35.png"/><Relationship Id="rId14" Type="http://schemas.openxmlformats.org/officeDocument/2006/relationships/image" Target="../media/image12.png"/><Relationship Id="rId22" Type="http://schemas.openxmlformats.org/officeDocument/2006/relationships/image" Target="../media/image46.png"/><Relationship Id="rId27" Type="http://schemas.openxmlformats.org/officeDocument/2006/relationships/image" Target="../media/image18.png"/><Relationship Id="rId30" Type="http://schemas.openxmlformats.org/officeDocument/2006/relationships/image" Target="../media/image3.png"/><Relationship Id="rId35" Type="http://schemas.openxmlformats.org/officeDocument/2006/relationships/image" Target="../media/image24.png"/><Relationship Id="rId8"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7B779-56E0-D30B-4659-2959159FA74D}"/>
            </a:ext>
          </a:extLst>
        </p:cNvPr>
        <p:cNvGrpSpPr/>
        <p:nvPr/>
      </p:nvGrpSpPr>
      <p:grpSpPr>
        <a:xfrm>
          <a:off x="0" y="0"/>
          <a:ext cx="0" cy="0"/>
          <a:chOff x="0" y="0"/>
          <a:chExt cx="0" cy="0"/>
        </a:xfrm>
      </p:grpSpPr>
      <p:sp>
        <p:nvSpPr>
          <p:cNvPr id="107" name="직사각형 106">
            <a:extLst>
              <a:ext uri="{FF2B5EF4-FFF2-40B4-BE49-F238E27FC236}">
                <a16:creationId xmlns:a16="http://schemas.microsoft.com/office/drawing/2014/main" id="{0360A8DB-B7C6-D67D-2BDD-5B315198870D}"/>
              </a:ext>
            </a:extLst>
          </p:cNvPr>
          <p:cNvSpPr/>
          <p:nvPr/>
        </p:nvSpPr>
        <p:spPr>
          <a:xfrm>
            <a:off x="319806" y="6078913"/>
            <a:ext cx="10093886" cy="5703030"/>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105" name="직사각형 104">
            <a:extLst>
              <a:ext uri="{FF2B5EF4-FFF2-40B4-BE49-F238E27FC236}">
                <a16:creationId xmlns:a16="http://schemas.microsoft.com/office/drawing/2014/main" id="{19994DB8-19FD-C47E-D318-3887818E941C}"/>
              </a:ext>
            </a:extLst>
          </p:cNvPr>
          <p:cNvSpPr/>
          <p:nvPr/>
        </p:nvSpPr>
        <p:spPr>
          <a:xfrm>
            <a:off x="10729714" y="5994978"/>
            <a:ext cx="10132506" cy="6601493"/>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Times New Roman" panose="02020603050405020304" pitchFamily="18" charset="0"/>
              <a:cs typeface="Times New Roman" panose="02020603050405020304" pitchFamily="18" charset="0"/>
            </a:endParaRPr>
          </a:p>
        </p:txBody>
      </p:sp>
      <p:sp>
        <p:nvSpPr>
          <p:cNvPr id="9" name="제목 1">
            <a:extLst>
              <a:ext uri="{FF2B5EF4-FFF2-40B4-BE49-F238E27FC236}">
                <a16:creationId xmlns:a16="http://schemas.microsoft.com/office/drawing/2014/main" id="{3302640E-9821-4883-2D0E-C65655C90E1F}"/>
              </a:ext>
            </a:extLst>
          </p:cNvPr>
          <p:cNvSpPr txBox="1">
            <a:spLocks/>
          </p:cNvSpPr>
          <p:nvPr/>
        </p:nvSpPr>
        <p:spPr>
          <a:xfrm>
            <a:off x="194863" y="-107131"/>
            <a:ext cx="15063043" cy="3966443"/>
          </a:xfrm>
          <a:prstGeom prst="rect">
            <a:avLst/>
          </a:prstGeom>
        </p:spPr>
        <p:txBody>
          <a:bodyPr vert="horz" lIns="327331" tIns="163665" rIns="327331" bIns="163665" rtlCol="0" anchor="ctr">
            <a:noAutofit/>
          </a:bodyPr>
          <a:lstStyle>
            <a:lvl1pPr algn="ctr" defTabSz="4635115" rtl="0" eaLnBrk="1" latinLnBrk="1" hangingPunct="1">
              <a:spcBef>
                <a:spcPct val="0"/>
              </a:spcBef>
              <a:buNone/>
              <a:defRPr sz="22300" kern="1200">
                <a:solidFill>
                  <a:schemeClr val="tx1"/>
                </a:solidFill>
                <a:latin typeface="+mj-lt"/>
                <a:ea typeface="+mj-ea"/>
                <a:cs typeface="+mj-cs"/>
              </a:defRPr>
            </a:lvl1pPr>
          </a:lstStyle>
          <a:p>
            <a:r>
              <a:rPr lang="en-US" sz="4800" b="1" dirty="0">
                <a:latin typeface="Times New Roman" panose="02020603050405020304" pitchFamily="18" charset="0"/>
                <a:cs typeface="Times New Roman" panose="02020603050405020304" pitchFamily="18" charset="0"/>
              </a:rPr>
              <a:t>Surrogate Modeling of CFD Flow Fields using Graph Attention Networks on the </a:t>
            </a:r>
            <a:r>
              <a:rPr lang="en-US" sz="4800" b="1" dirty="0" err="1">
                <a:latin typeface="Times New Roman" panose="02020603050405020304" pitchFamily="18" charset="0"/>
                <a:cs typeface="Times New Roman" panose="02020603050405020304" pitchFamily="18" charset="0"/>
              </a:rPr>
              <a:t>AirfRANS</a:t>
            </a:r>
            <a:r>
              <a:rPr lang="en-US" sz="4800" b="1" dirty="0">
                <a:latin typeface="Times New Roman" panose="02020603050405020304" pitchFamily="18" charset="0"/>
                <a:cs typeface="Times New Roman" panose="02020603050405020304" pitchFamily="18" charset="0"/>
              </a:rPr>
              <a:t> Dataset</a:t>
            </a:r>
            <a:br>
              <a:rPr lang="en-US" altLang="ko-KR" sz="5650" dirty="0">
                <a:latin typeface="Times New Roman" panose="02020603050405020304" pitchFamily="18" charset="0"/>
                <a:cs typeface="Times New Roman" panose="02020603050405020304" pitchFamily="18" charset="0"/>
              </a:rPr>
            </a:br>
            <a:r>
              <a:rPr lang="en-US" altLang="ko-KR" sz="2450" dirty="0" err="1">
                <a:latin typeface="Times New Roman" panose="02020603050405020304" pitchFamily="18" charset="0"/>
                <a:ea typeface="맑은 고딕"/>
                <a:cs typeface="Times New Roman" panose="02020603050405020304" pitchFamily="18" charset="0"/>
              </a:rPr>
              <a:t>Jihoon</a:t>
            </a:r>
            <a:r>
              <a:rPr lang="en-US" altLang="ko-KR" sz="2450" dirty="0">
                <a:latin typeface="Times New Roman" panose="02020603050405020304" pitchFamily="18" charset="0"/>
                <a:ea typeface="맑은 고딕"/>
                <a:cs typeface="Times New Roman" panose="02020603050405020304" pitchFamily="18" charset="0"/>
              </a:rPr>
              <a:t> Heo</a:t>
            </a:r>
            <a:r>
              <a:rPr lang="en-US" sz="2450" i="1" baseline="30000" dirty="0">
                <a:latin typeface="Times New Roman" panose="02020603050405020304" pitchFamily="18" charset="0"/>
                <a:ea typeface="Malgun Gothic"/>
                <a:cs typeface="Times New Roman" panose="02020603050405020304" pitchFamily="18" charset="0"/>
              </a:rPr>
              <a:t>1</a:t>
            </a:r>
            <a:r>
              <a:rPr lang="en-US" altLang="ko-KR" sz="2450" dirty="0">
                <a:latin typeface="Times New Roman" panose="02020603050405020304" pitchFamily="18" charset="0"/>
                <a:ea typeface="맑은 고딕"/>
                <a:cs typeface="Times New Roman" panose="02020603050405020304" pitchFamily="18" charset="0"/>
              </a:rPr>
              <a:t>, </a:t>
            </a:r>
            <a:r>
              <a:rPr lang="en-US" altLang="ko-KR" sz="2450" dirty="0" err="1">
                <a:latin typeface="Times New Roman" panose="02020603050405020304" pitchFamily="18" charset="0"/>
                <a:ea typeface="맑은 고딕"/>
                <a:cs typeface="Times New Roman" panose="02020603050405020304" pitchFamily="18" charset="0"/>
              </a:rPr>
              <a:t>Kyungyun</a:t>
            </a:r>
            <a:r>
              <a:rPr lang="en-US" altLang="ko-KR" sz="2450" dirty="0">
                <a:latin typeface="Times New Roman" panose="02020603050405020304" pitchFamily="18" charset="0"/>
                <a:ea typeface="맑은 고딕"/>
                <a:cs typeface="Times New Roman" panose="02020603050405020304" pitchFamily="18" charset="0"/>
              </a:rPr>
              <a:t> Kim</a:t>
            </a:r>
            <a:r>
              <a:rPr lang="en-US" sz="2450" i="1" baseline="30000" dirty="0">
                <a:latin typeface="Times New Roman" panose="02020603050405020304" pitchFamily="18" charset="0"/>
                <a:ea typeface="Malgun Gothic"/>
                <a:cs typeface="Times New Roman" panose="02020603050405020304" pitchFamily="18" charset="0"/>
              </a:rPr>
              <a:t>1</a:t>
            </a:r>
            <a:r>
              <a:rPr lang="en-US" altLang="ko-KR" sz="2450" i="1" baseline="30000" dirty="0">
                <a:latin typeface="Times New Roman" panose="02020603050405020304" pitchFamily="18" charset="0"/>
                <a:ea typeface="Malgun Gothic"/>
                <a:cs typeface="Times New Roman" panose="02020603050405020304" pitchFamily="18" charset="0"/>
              </a:rPr>
              <a:t>,2</a:t>
            </a:r>
            <a:r>
              <a:rPr lang="en-US" altLang="ko-KR" sz="2450" dirty="0">
                <a:latin typeface="Times New Roman" panose="02020603050405020304" pitchFamily="18" charset="0"/>
                <a:ea typeface="맑은 고딕"/>
                <a:cs typeface="Times New Roman" panose="02020603050405020304" pitchFamily="18" charset="0"/>
              </a:rPr>
              <a:t>, Minjun Lee</a:t>
            </a:r>
            <a:r>
              <a:rPr lang="en-US" sz="2450" i="1" baseline="30000" dirty="0">
                <a:latin typeface="Times New Roman" panose="02020603050405020304" pitchFamily="18" charset="0"/>
                <a:ea typeface="Malgun Gothic"/>
                <a:cs typeface="Times New Roman" panose="02020603050405020304" pitchFamily="18" charset="0"/>
              </a:rPr>
              <a:t>1</a:t>
            </a:r>
            <a:r>
              <a:rPr lang="en-US" altLang="ko-KR" sz="2450" dirty="0">
                <a:latin typeface="Times New Roman" panose="02020603050405020304" pitchFamily="18" charset="0"/>
                <a:ea typeface="맑은 고딕"/>
                <a:cs typeface="Times New Roman" panose="02020603050405020304" pitchFamily="18" charset="0"/>
              </a:rPr>
              <a:t>, </a:t>
            </a:r>
            <a:r>
              <a:rPr lang="en-US" altLang="ko-KR" sz="2450" dirty="0" err="1">
                <a:latin typeface="Times New Roman" panose="02020603050405020304" pitchFamily="18" charset="0"/>
                <a:ea typeface="맑은 고딕"/>
                <a:cs typeface="Times New Roman" panose="02020603050405020304" pitchFamily="18" charset="0"/>
              </a:rPr>
              <a:t>Yunwoo</a:t>
            </a:r>
            <a:r>
              <a:rPr lang="en-US" altLang="ko-KR" sz="2450" dirty="0">
                <a:latin typeface="Times New Roman" panose="02020603050405020304" pitchFamily="18" charset="0"/>
                <a:ea typeface="맑은 고딕"/>
                <a:cs typeface="Times New Roman" panose="02020603050405020304" pitchFamily="18" charset="0"/>
              </a:rPr>
              <a:t> Lee</a:t>
            </a:r>
            <a:r>
              <a:rPr lang="en-US" sz="2450" i="1" baseline="30000" dirty="0">
                <a:latin typeface="Times New Roman" panose="02020603050405020304" pitchFamily="18" charset="0"/>
                <a:ea typeface="Malgun Gothic"/>
                <a:cs typeface="Times New Roman" panose="02020603050405020304" pitchFamily="18" charset="0"/>
              </a:rPr>
              <a:t>1</a:t>
            </a:r>
            <a:br>
              <a:rPr lang="ko-KR" altLang="ko-KR" sz="2450" dirty="0">
                <a:latin typeface="Times New Roman" panose="02020603050405020304" pitchFamily="18" charset="0"/>
                <a:cs typeface="Times New Roman" panose="02020603050405020304" pitchFamily="18" charset="0"/>
              </a:rPr>
            </a:br>
            <a:r>
              <a:rPr lang="en-US" altLang="ko-KR" sz="2450" i="1" baseline="30000" dirty="0">
                <a:latin typeface="Times New Roman" panose="02020603050405020304" pitchFamily="18" charset="0"/>
                <a:ea typeface="맑은 고딕"/>
                <a:cs typeface="Times New Roman" panose="02020603050405020304" pitchFamily="18" charset="0"/>
              </a:rPr>
              <a:t>1</a:t>
            </a:r>
            <a:r>
              <a:rPr lang="en-US" altLang="ko-KR" sz="2450" i="1" dirty="0">
                <a:latin typeface="Times New Roman" panose="02020603050405020304" pitchFamily="18" charset="0"/>
                <a:ea typeface="맑은 고딕"/>
                <a:cs typeface="Times New Roman" panose="02020603050405020304" pitchFamily="18" charset="0"/>
              </a:rPr>
              <a:t>Department of </a:t>
            </a:r>
            <a:r>
              <a:rPr lang="en-US" sz="2500" i="1" dirty="0">
                <a:latin typeface="Times New Roman" panose="02020603050405020304" pitchFamily="18" charset="0"/>
                <a:ea typeface="Malgun Gothic"/>
                <a:cs typeface="Times New Roman" panose="02020603050405020304" pitchFamily="18" charset="0"/>
              </a:rPr>
              <a:t>Mechanical Engineering, University of Yonsei, Seoul, Korea</a:t>
            </a:r>
          </a:p>
          <a:p>
            <a:r>
              <a:rPr lang="en-US" altLang="ko-KR" sz="2450" i="1" baseline="30000" dirty="0">
                <a:latin typeface="Times New Roman" panose="02020603050405020304" pitchFamily="18" charset="0"/>
                <a:ea typeface="맑은 고딕"/>
                <a:cs typeface="Times New Roman" panose="02020603050405020304" pitchFamily="18" charset="0"/>
              </a:rPr>
              <a:t>2</a:t>
            </a:r>
            <a:r>
              <a:rPr lang="en-US" altLang="ko-KR" sz="2450" i="1" dirty="0">
                <a:latin typeface="Times New Roman" panose="02020603050405020304" pitchFamily="18" charset="0"/>
                <a:ea typeface="맑은 고딕"/>
                <a:cs typeface="Times New Roman" panose="02020603050405020304" pitchFamily="18" charset="0"/>
              </a:rPr>
              <a:t>Department of </a:t>
            </a:r>
            <a:r>
              <a:rPr lang="en-US" altLang="ko-KR" sz="2500" i="1" dirty="0">
                <a:latin typeface="Times New Roman" panose="02020603050405020304" pitchFamily="18" charset="0"/>
                <a:ea typeface="Malgun Gothic"/>
                <a:cs typeface="Times New Roman" panose="02020603050405020304" pitchFamily="18" charset="0"/>
              </a:rPr>
              <a:t>Biomedical</a:t>
            </a:r>
            <a:r>
              <a:rPr lang="en-US" sz="2500" i="1" dirty="0">
                <a:latin typeface="Times New Roman" panose="02020603050405020304" pitchFamily="18" charset="0"/>
                <a:ea typeface="Malgun Gothic"/>
                <a:cs typeface="Times New Roman" panose="02020603050405020304" pitchFamily="18" charset="0"/>
              </a:rPr>
              <a:t> Engineering, University of Yonsei, </a:t>
            </a:r>
            <a:r>
              <a:rPr lang="en-US" sz="2500" i="1" dirty="0" err="1">
                <a:latin typeface="Times New Roman" panose="02020603050405020304" pitchFamily="18" charset="0"/>
                <a:ea typeface="Malgun Gothic"/>
                <a:cs typeface="Times New Roman" panose="02020603050405020304" pitchFamily="18" charset="0"/>
              </a:rPr>
              <a:t>Wonju</a:t>
            </a:r>
            <a:r>
              <a:rPr lang="en-US" sz="2500" i="1" dirty="0">
                <a:latin typeface="Times New Roman" panose="02020603050405020304" pitchFamily="18" charset="0"/>
                <a:ea typeface="Malgun Gothic"/>
                <a:cs typeface="Times New Roman" panose="02020603050405020304" pitchFamily="18" charset="0"/>
              </a:rPr>
              <a:t>, Korea</a:t>
            </a:r>
          </a:p>
        </p:txBody>
      </p:sp>
      <p:sp>
        <p:nvSpPr>
          <p:cNvPr id="5" name="직사각형 4">
            <a:extLst>
              <a:ext uri="{FF2B5EF4-FFF2-40B4-BE49-F238E27FC236}">
                <a16:creationId xmlns:a16="http://schemas.microsoft.com/office/drawing/2014/main" id="{C406A558-95D6-AD0B-97E3-3CCFA87DFA84}"/>
              </a:ext>
            </a:extLst>
          </p:cNvPr>
          <p:cNvSpPr/>
          <p:nvPr/>
        </p:nvSpPr>
        <p:spPr>
          <a:xfrm>
            <a:off x="198432" y="675577"/>
            <a:ext cx="20986760" cy="2986577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541">
              <a:latin typeface="Times New Roman" panose="02020603050405020304" pitchFamily="18" charset="0"/>
              <a:cs typeface="Times New Roman" panose="02020603050405020304" pitchFamily="18" charset="0"/>
            </a:endParaRPr>
          </a:p>
        </p:txBody>
      </p:sp>
      <p:sp>
        <p:nvSpPr>
          <p:cNvPr id="100" name="직사각형 99">
            <a:extLst>
              <a:ext uri="{FF2B5EF4-FFF2-40B4-BE49-F238E27FC236}">
                <a16:creationId xmlns:a16="http://schemas.microsoft.com/office/drawing/2014/main" id="{01D08D17-042B-01AA-1CA7-5DCF58B9A70D}"/>
              </a:ext>
            </a:extLst>
          </p:cNvPr>
          <p:cNvSpPr/>
          <p:nvPr/>
        </p:nvSpPr>
        <p:spPr>
          <a:xfrm>
            <a:off x="349388" y="27363988"/>
            <a:ext cx="17980629" cy="2549430"/>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104" name="모서리가 둥근 직사각형 9">
            <a:extLst>
              <a:ext uri="{FF2B5EF4-FFF2-40B4-BE49-F238E27FC236}">
                <a16:creationId xmlns:a16="http://schemas.microsoft.com/office/drawing/2014/main" id="{9D19755A-28D9-19B4-AA56-387978E8FB2C}"/>
              </a:ext>
            </a:extLst>
          </p:cNvPr>
          <p:cNvSpPr/>
          <p:nvPr/>
        </p:nvSpPr>
        <p:spPr>
          <a:xfrm>
            <a:off x="384984" y="27378966"/>
            <a:ext cx="17924936" cy="514013"/>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a:solidFill>
                  <a:schemeClr val="tx1"/>
                </a:solidFill>
                <a:latin typeface="Times New Roman" panose="02020603050405020304" pitchFamily="18" charset="0"/>
                <a:cs typeface="Times New Roman" panose="02020603050405020304" pitchFamily="18" charset="0"/>
              </a:rPr>
              <a:t>Conclusion</a:t>
            </a:r>
            <a:endParaRPr lang="ko-KR" altLang="en-US" sz="3600">
              <a:solidFill>
                <a:schemeClr val="tx1"/>
              </a:solidFill>
              <a:latin typeface="Times New Roman" panose="02020603050405020304" pitchFamily="18" charset="0"/>
              <a:cs typeface="Times New Roman" panose="02020603050405020304" pitchFamily="18" charset="0"/>
            </a:endParaRPr>
          </a:p>
        </p:txBody>
      </p:sp>
      <p:sp>
        <p:nvSpPr>
          <p:cNvPr id="18" name="모서리가 둥근 직사각형 9">
            <a:extLst>
              <a:ext uri="{FF2B5EF4-FFF2-40B4-BE49-F238E27FC236}">
                <a16:creationId xmlns:a16="http://schemas.microsoft.com/office/drawing/2014/main" id="{B831DC2F-B44B-7CEC-379C-B3B9FE89DF83}"/>
              </a:ext>
            </a:extLst>
          </p:cNvPr>
          <p:cNvSpPr/>
          <p:nvPr/>
        </p:nvSpPr>
        <p:spPr>
          <a:xfrm>
            <a:off x="402838" y="5562788"/>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err="1">
                <a:solidFill>
                  <a:schemeClr val="tx1"/>
                </a:solidFill>
                <a:latin typeface="Times New Roman" panose="02020603050405020304" pitchFamily="18" charset="0"/>
                <a:cs typeface="Times New Roman" panose="02020603050405020304" pitchFamily="18" charset="0"/>
              </a:rPr>
              <a:t>AirfRANS</a:t>
            </a:r>
            <a:r>
              <a:rPr lang="en-US" altLang="ko-KR" sz="3600" dirty="0">
                <a:solidFill>
                  <a:schemeClr val="tx1"/>
                </a:solidFill>
                <a:latin typeface="Times New Roman" panose="02020603050405020304" pitchFamily="18" charset="0"/>
                <a:cs typeface="Times New Roman" panose="02020603050405020304" pitchFamily="18" charset="0"/>
              </a:rPr>
              <a:t> Dataset</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grpSp>
        <p:nvGrpSpPr>
          <p:cNvPr id="2" name="그룹 1">
            <a:extLst>
              <a:ext uri="{FF2B5EF4-FFF2-40B4-BE49-F238E27FC236}">
                <a16:creationId xmlns:a16="http://schemas.microsoft.com/office/drawing/2014/main" id="{518B46A2-CF7D-DD77-ABD6-3B18E45B4F66}"/>
              </a:ext>
            </a:extLst>
          </p:cNvPr>
          <p:cNvGrpSpPr/>
          <p:nvPr/>
        </p:nvGrpSpPr>
        <p:grpSpPr>
          <a:xfrm>
            <a:off x="319806" y="3297276"/>
            <a:ext cx="20738305" cy="2133128"/>
            <a:chOff x="322659" y="4480422"/>
            <a:chExt cx="20738305" cy="2577332"/>
          </a:xfrm>
        </p:grpSpPr>
        <p:sp>
          <p:nvSpPr>
            <p:cNvPr id="4" name="직사각형 3">
              <a:extLst>
                <a:ext uri="{FF2B5EF4-FFF2-40B4-BE49-F238E27FC236}">
                  <a16:creationId xmlns:a16="http://schemas.microsoft.com/office/drawing/2014/main" id="{B218D44F-323D-2B79-A9F4-4434B67CEF30}"/>
                </a:ext>
              </a:extLst>
            </p:cNvPr>
            <p:cNvSpPr/>
            <p:nvPr/>
          </p:nvSpPr>
          <p:spPr>
            <a:xfrm>
              <a:off x="322659" y="4480422"/>
              <a:ext cx="20738305" cy="2577332"/>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65DA91D-A842-756C-499F-09CBDE20A876}"/>
                </a:ext>
              </a:extLst>
            </p:cNvPr>
            <p:cNvSpPr txBox="1"/>
            <p:nvPr/>
          </p:nvSpPr>
          <p:spPr>
            <a:xfrm>
              <a:off x="364830" y="5075657"/>
              <a:ext cx="20523889" cy="1896527"/>
            </a:xfrm>
            <a:prstGeom prst="rect">
              <a:avLst/>
            </a:prstGeom>
            <a:noFill/>
          </p:spPr>
          <p:txBody>
            <a:bodyPr wrap="square" lIns="91440" tIns="45720" rIns="91440" bIns="45720" rtlCol="0" anchor="t">
              <a:spAutoFit/>
            </a:bodyPr>
            <a:lstStyle/>
            <a:p>
              <a:pPr algn="just"/>
              <a:r>
                <a:rPr lang="en-US" sz="2400" dirty="0">
                  <a:latin typeface="Times New Roman" panose="02020603050405020304" pitchFamily="18" charset="0"/>
                  <a:cs typeface="Times New Roman" panose="02020603050405020304" pitchFamily="18" charset="0"/>
                </a:rPr>
                <a:t>Computational Fluid Dynamics (CFD) is widely used to analyze aerodynamic flow fields, but high-fidelity RANS simulations require significant computational cost. To reduce computation time, machine learning surrogate models have been proposed to approximate CFD results efficiently. In this study, we build upon the ML4CFD competition framework using the </a:t>
              </a:r>
              <a:r>
                <a:rPr lang="en-US" sz="2400" dirty="0" err="1">
                  <a:latin typeface="Times New Roman" panose="02020603050405020304" pitchFamily="18" charset="0"/>
                  <a:cs typeface="Times New Roman" panose="02020603050405020304" pitchFamily="18" charset="0"/>
                </a:rPr>
                <a:t>AirfRANS</a:t>
              </a:r>
              <a:r>
                <a:rPr lang="en-US" sz="2400" dirty="0">
                  <a:latin typeface="Times New Roman" panose="02020603050405020304" pitchFamily="18" charset="0"/>
                  <a:cs typeface="Times New Roman" panose="02020603050405020304" pitchFamily="18" charset="0"/>
                </a:rPr>
                <a:t> dataset. We apply a Graph Attention Network (GAT) to predict flow field variables from mesh-based graph data. The  objective of this work is to evaluate the effectiveness of graph neural networks for surrogate modeling of CFD simulations. </a:t>
              </a:r>
              <a:endParaRPr lang="en-US" altLang="ko-KR" sz="2400" dirty="0">
                <a:latin typeface="Times New Roman" panose="02020603050405020304" pitchFamily="18" charset="0"/>
                <a:ea typeface="맑은 고딕"/>
                <a:cs typeface="Times New Roman" panose="02020603050405020304" pitchFamily="18" charset="0"/>
              </a:endParaRPr>
            </a:p>
          </p:txBody>
        </p:sp>
        <p:sp>
          <p:nvSpPr>
            <p:cNvPr id="7" name="모서리가 둥근 직사각형 9">
              <a:extLst>
                <a:ext uri="{FF2B5EF4-FFF2-40B4-BE49-F238E27FC236}">
                  <a16:creationId xmlns:a16="http://schemas.microsoft.com/office/drawing/2014/main" id="{9E045E17-F1B1-D307-B0D1-BA19DACDA300}"/>
                </a:ext>
              </a:extLst>
            </p:cNvPr>
            <p:cNvSpPr/>
            <p:nvPr/>
          </p:nvSpPr>
          <p:spPr>
            <a:xfrm>
              <a:off x="405691" y="4591769"/>
              <a:ext cx="20564345"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Introduction</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grpSp>
      <p:pic>
        <p:nvPicPr>
          <p:cNvPr id="37" name="그림 36" descr="텍스트, 폰트, 상징, 로고이(가) 표시된 사진&#10;&#10;AI 생성 콘텐츠는 정확하지 않을 수 있습니다.">
            <a:extLst>
              <a:ext uri="{FF2B5EF4-FFF2-40B4-BE49-F238E27FC236}">
                <a16:creationId xmlns:a16="http://schemas.microsoft.com/office/drawing/2014/main" id="{B22F560D-6533-2751-7A6A-FE60C6336F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6987" y="471056"/>
            <a:ext cx="5842132" cy="1131683"/>
          </a:xfrm>
          <a:prstGeom prst="rect">
            <a:avLst/>
          </a:prstGeom>
        </p:spPr>
      </p:pic>
      <p:grpSp>
        <p:nvGrpSpPr>
          <p:cNvPr id="40" name="그룹 39">
            <a:extLst>
              <a:ext uri="{FF2B5EF4-FFF2-40B4-BE49-F238E27FC236}">
                <a16:creationId xmlns:a16="http://schemas.microsoft.com/office/drawing/2014/main" id="{D61EDD5B-8400-6C93-24DF-2822AD052F36}"/>
              </a:ext>
            </a:extLst>
          </p:cNvPr>
          <p:cNvGrpSpPr/>
          <p:nvPr/>
        </p:nvGrpSpPr>
        <p:grpSpPr>
          <a:xfrm>
            <a:off x="18611338" y="1795441"/>
            <a:ext cx="2399583" cy="1417598"/>
            <a:chOff x="17166946" y="1664582"/>
            <a:chExt cx="4386782" cy="2688686"/>
          </a:xfrm>
        </p:grpSpPr>
        <p:pic>
          <p:nvPicPr>
            <p:cNvPr id="41" name="그림 40">
              <a:extLst>
                <a:ext uri="{FF2B5EF4-FFF2-40B4-BE49-F238E27FC236}">
                  <a16:creationId xmlns:a16="http://schemas.microsoft.com/office/drawing/2014/main" id="{023DF4FF-3C6E-7680-AE20-E74621264EAD}"/>
                </a:ext>
              </a:extLst>
            </p:cNvPr>
            <p:cNvPicPr>
              <a:picLocks noChangeAspect="1"/>
            </p:cNvPicPr>
            <p:nvPr/>
          </p:nvPicPr>
          <p:blipFill rotWithShape="1">
            <a:blip r:embed="rId4"/>
            <a:srcRect l="20597" t="1200" r="17800" b="49434"/>
            <a:stretch/>
          </p:blipFill>
          <p:spPr>
            <a:xfrm>
              <a:off x="17550167" y="1664582"/>
              <a:ext cx="3757510" cy="2087404"/>
            </a:xfrm>
            <a:prstGeom prst="rect">
              <a:avLst/>
            </a:prstGeom>
          </p:spPr>
        </p:pic>
        <p:pic>
          <p:nvPicPr>
            <p:cNvPr id="48" name="그림 47">
              <a:extLst>
                <a:ext uri="{FF2B5EF4-FFF2-40B4-BE49-F238E27FC236}">
                  <a16:creationId xmlns:a16="http://schemas.microsoft.com/office/drawing/2014/main" id="{2096DC09-FA6D-FBAE-BF58-7441FC77D176}"/>
                </a:ext>
              </a:extLst>
            </p:cNvPr>
            <p:cNvPicPr>
              <a:picLocks noChangeAspect="1"/>
            </p:cNvPicPr>
            <p:nvPr/>
          </p:nvPicPr>
          <p:blipFill rotWithShape="1">
            <a:blip r:embed="rId4"/>
            <a:srcRect t="74345"/>
            <a:stretch/>
          </p:blipFill>
          <p:spPr>
            <a:xfrm>
              <a:off x="17166946" y="3573074"/>
              <a:ext cx="4386782" cy="780194"/>
            </a:xfrm>
            <a:prstGeom prst="rect">
              <a:avLst/>
            </a:prstGeom>
          </p:spPr>
        </p:pic>
      </p:grpSp>
      <p:sp>
        <p:nvSpPr>
          <p:cNvPr id="28" name="모서리가 둥근 직사각형 9">
            <a:extLst>
              <a:ext uri="{FF2B5EF4-FFF2-40B4-BE49-F238E27FC236}">
                <a16:creationId xmlns:a16="http://schemas.microsoft.com/office/drawing/2014/main" id="{B6F77064-D4EC-AA46-C82D-DEBFDAE7F4E9}"/>
              </a:ext>
            </a:extLst>
          </p:cNvPr>
          <p:cNvSpPr/>
          <p:nvPr/>
        </p:nvSpPr>
        <p:spPr>
          <a:xfrm>
            <a:off x="10550828" y="13347047"/>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Training Strategy</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sp>
        <p:nvSpPr>
          <p:cNvPr id="17" name="모서리가 둥근 직사각형 9">
            <a:extLst>
              <a:ext uri="{FF2B5EF4-FFF2-40B4-BE49-F238E27FC236}">
                <a16:creationId xmlns:a16="http://schemas.microsoft.com/office/drawing/2014/main" id="{2F7B7695-4141-BB69-FA3B-DB16C3D47737}"/>
              </a:ext>
            </a:extLst>
          </p:cNvPr>
          <p:cNvSpPr/>
          <p:nvPr/>
        </p:nvSpPr>
        <p:spPr>
          <a:xfrm>
            <a:off x="10623921" y="12682416"/>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Method</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sp>
        <p:nvSpPr>
          <p:cNvPr id="79" name="모서리가 둥근 직사각형 9">
            <a:extLst>
              <a:ext uri="{FF2B5EF4-FFF2-40B4-BE49-F238E27FC236}">
                <a16:creationId xmlns:a16="http://schemas.microsoft.com/office/drawing/2014/main" id="{52292CA8-7E23-4DDE-B0DA-85C52DCB495B}"/>
              </a:ext>
            </a:extLst>
          </p:cNvPr>
          <p:cNvSpPr/>
          <p:nvPr/>
        </p:nvSpPr>
        <p:spPr>
          <a:xfrm>
            <a:off x="10531005" y="13994623"/>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Results - Model Performance &amp;Visualization </a:t>
            </a:r>
          </a:p>
        </p:txBody>
      </p:sp>
      <p:pic>
        <p:nvPicPr>
          <p:cNvPr id="60" name="그래픽 59">
            <a:extLst>
              <a:ext uri="{FF2B5EF4-FFF2-40B4-BE49-F238E27FC236}">
                <a16:creationId xmlns:a16="http://schemas.microsoft.com/office/drawing/2014/main" id="{B10DB3F5-C4BA-D22B-183D-B6FAD784D2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437322" y="27390815"/>
            <a:ext cx="2659454" cy="2659454"/>
          </a:xfrm>
          <a:prstGeom prst="rect">
            <a:avLst/>
          </a:prstGeom>
        </p:spPr>
      </p:pic>
      <p:sp>
        <p:nvSpPr>
          <p:cNvPr id="95" name="모서리가 둥근 직사각형 9">
            <a:extLst>
              <a:ext uri="{FF2B5EF4-FFF2-40B4-BE49-F238E27FC236}">
                <a16:creationId xmlns:a16="http://schemas.microsoft.com/office/drawing/2014/main" id="{CD17C387-9DA8-2CA9-F0A6-A7AD35026AAC}"/>
              </a:ext>
            </a:extLst>
          </p:cNvPr>
          <p:cNvSpPr/>
          <p:nvPr/>
        </p:nvSpPr>
        <p:spPr>
          <a:xfrm>
            <a:off x="10757603" y="5521822"/>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Reynolds- </a:t>
            </a:r>
            <a:r>
              <a:rPr lang="en-US" altLang="ko-KR" sz="3600" dirty="0" err="1">
                <a:solidFill>
                  <a:schemeClr val="tx1"/>
                </a:solidFill>
                <a:latin typeface="Times New Roman" panose="02020603050405020304" pitchFamily="18" charset="0"/>
                <a:cs typeface="Times New Roman" panose="02020603050405020304" pitchFamily="18" charset="0"/>
              </a:rPr>
              <a:t>Averged</a:t>
            </a:r>
            <a:r>
              <a:rPr lang="en-US" altLang="ko-KR" sz="3600" dirty="0">
                <a:solidFill>
                  <a:schemeClr val="tx1"/>
                </a:solidFill>
                <a:latin typeface="Times New Roman" panose="02020603050405020304" pitchFamily="18" charset="0"/>
                <a:cs typeface="Times New Roman" panose="02020603050405020304" pitchFamily="18" charset="0"/>
              </a:rPr>
              <a:t> Navier-Stokes equations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702689C-B432-7A93-F6BA-1D18C6682108}"/>
                  </a:ext>
                </a:extLst>
              </p:cNvPr>
              <p:cNvSpPr txBox="1"/>
              <p:nvPr/>
            </p:nvSpPr>
            <p:spPr>
              <a:xfrm>
                <a:off x="10757603" y="6178735"/>
                <a:ext cx="9923761" cy="5758564"/>
              </a:xfrm>
              <a:prstGeom prst="rect">
                <a:avLst/>
              </a:prstGeom>
              <a:noFill/>
            </p:spPr>
            <p:txBody>
              <a:bodyPr wrap="square" lIns="91440" tIns="45720" rIns="91440" bIns="45720" rtlCol="0" anchor="t">
                <a:spAutoFit/>
              </a:bodyPr>
              <a:lstStyle/>
              <a:p>
                <a:r>
                  <a:rPr lang="en-US" sz="2200" dirty="0">
                    <a:latin typeface="Times New Roman" panose="02020603050405020304" pitchFamily="18" charset="0"/>
                    <a:cs typeface="Times New Roman" panose="02020603050405020304" pitchFamily="18" charset="0"/>
                  </a:rPr>
                  <a:t>The Reynolds-averaged Navier–Stokes (RANS) approach decomposes the </a:t>
                </a:r>
              </a:p>
              <a:p>
                <a:r>
                  <a:rPr lang="en-US" sz="2200" dirty="0">
                    <a:latin typeface="Times New Roman" panose="02020603050405020304" pitchFamily="18" charset="0"/>
                    <a:cs typeface="Times New Roman" panose="02020603050405020304" pitchFamily="18" charset="0"/>
                  </a:rPr>
                  <a:t>instantaneous velocity into a mean and fluctuating component: </a:t>
                </a:r>
                <a14:m>
                  <m:oMath xmlns:m="http://schemas.openxmlformats.org/officeDocument/2006/math">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𝑈</m:t>
                        </m:r>
                      </m:e>
                      <m:sub>
                        <m:r>
                          <a:rPr lang="ko-KR" altLang="ar-AE" sz="2200" i="1">
                            <a:latin typeface="Cambria Math" panose="02040503050406030204" pitchFamily="18" charset="0"/>
                          </a:rPr>
                          <m:t>𝑖</m:t>
                        </m:r>
                      </m:sub>
                    </m:sSub>
                    <m:r>
                      <a:rPr lang="ar-AE" altLang="ko-KR" sz="2200">
                        <a:latin typeface="Cambria Math" panose="02040503050406030204" pitchFamily="18" charset="0"/>
                      </a:rPr>
                      <m:t>=</m:t>
                    </m:r>
                    <m:sSub>
                      <m:sSubPr>
                        <m:ctrlPr>
                          <a:rPr lang="ar-AE" altLang="ko-KR" sz="2200" i="1" smtClean="0">
                            <a:latin typeface="Cambria Math" panose="02040503050406030204" pitchFamily="18" charset="0"/>
                          </a:rPr>
                        </m:ctrlPr>
                      </m:sSubPr>
                      <m:e>
                        <m:acc>
                          <m:accPr>
                            <m:chr m:val="̅"/>
                            <m:ctrlPr>
                              <a:rPr lang="en-US" altLang="ko-KR" sz="2200" i="1">
                                <a:latin typeface="Cambria Math" panose="02040503050406030204" pitchFamily="18" charset="0"/>
                              </a:rPr>
                            </m:ctrlPr>
                          </m:accPr>
                          <m:e>
                            <m:r>
                              <a:rPr lang="en-US" altLang="ko-KR" sz="2200" i="1">
                                <a:latin typeface="Cambria Math" panose="02040503050406030204" pitchFamily="18" charset="0"/>
                              </a:rPr>
                              <m:t>𝑈</m:t>
                            </m:r>
                          </m:e>
                        </m:acc>
                      </m:e>
                      <m:sub>
                        <m:r>
                          <a:rPr lang="ko-KR" altLang="ar-AE" sz="2200" i="1">
                            <a:latin typeface="Cambria Math" panose="02040503050406030204" pitchFamily="18" charset="0"/>
                          </a:rPr>
                          <m:t>𝑖</m:t>
                        </m:r>
                      </m:sub>
                    </m:sSub>
                    <m:r>
                      <a:rPr lang="ar-AE" altLang="ko-KR" sz="2200">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𝑢</m:t>
                        </m:r>
                      </m:e>
                      <m:sub>
                        <m:r>
                          <a:rPr lang="ko-KR" altLang="ar-AE" sz="2200" i="1">
                            <a:latin typeface="Cambria Math" panose="02040503050406030204" pitchFamily="18" charset="0"/>
                          </a:rPr>
                          <m:t>𝑖</m:t>
                        </m:r>
                      </m:sub>
                    </m:sSub>
                  </m:oMath>
                </a14:m>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Averaging the Navier–Stokes equations yields the Reynolds equations:</a:t>
                </a:r>
              </a:p>
              <a:p>
                <a:endParaRPr lang="en-US" sz="22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ar-AE" altLang="ko-KR" sz="2200" i="1">
                              <a:latin typeface="Cambria Math" panose="02040503050406030204" pitchFamily="18" charset="0"/>
                            </a:rPr>
                          </m:ctrlPr>
                        </m:fPr>
                        <m:num>
                          <m:acc>
                            <m:accPr>
                              <m:chr m:val="̅"/>
                              <m:ctrlPr>
                                <a:rPr lang="en-US" altLang="ko-KR" sz="2200" i="1">
                                  <a:latin typeface="Cambria Math" panose="02040503050406030204" pitchFamily="18" charset="0"/>
                                </a:rPr>
                              </m:ctrlPr>
                            </m:accPr>
                            <m:e>
                              <m:r>
                                <m:rPr>
                                  <m:sty m:val="p"/>
                                </m:rPr>
                                <a:rPr lang="en-US" altLang="ko-KR" sz="2200" b="0" i="1" smtClean="0">
                                  <a:latin typeface="Cambria Math" panose="02040503050406030204" pitchFamily="18" charset="0"/>
                                  <a:ea typeface="Cambria Math" panose="02040503050406030204" pitchFamily="18" charset="0"/>
                                </a:rPr>
                                <m:t>D</m:t>
                              </m:r>
                              <m:sSub>
                                <m:sSubPr>
                                  <m:ctrlPr>
                                    <a:rPr lang="ar-AE" altLang="ko-KR" sz="2200" i="1" smtClean="0">
                                      <a:latin typeface="Cambria Math" panose="02040503050406030204" pitchFamily="18" charset="0"/>
                                      <a:ea typeface="Cambria Math" panose="02040503050406030204" pitchFamily="18" charset="0"/>
                                    </a:rPr>
                                  </m:ctrlPr>
                                </m:sSubPr>
                                <m:e>
                                  <m:r>
                                    <a:rPr lang="ko-KR" altLang="ar-AE" sz="2200" i="1">
                                      <a:latin typeface="Cambria Math" panose="02040503050406030204" pitchFamily="18" charset="0"/>
                                    </a:rPr>
                                    <m:t>𝑈</m:t>
                                  </m:r>
                                </m:e>
                                <m:sub>
                                  <m:r>
                                    <m:rPr>
                                      <m:sty m:val="p"/>
                                    </m:rPr>
                                    <a:rPr lang="ko-KR" altLang="ar-AE" sz="2200" i="1">
                                      <a:latin typeface="Cambria Math" panose="02040503050406030204" pitchFamily="18" charset="0"/>
                                    </a:rPr>
                                    <m:t>j</m:t>
                                  </m:r>
                                </m:sub>
                              </m:sSub>
                            </m:e>
                          </m:acc>
                        </m:num>
                        <m:den>
                          <m:acc>
                            <m:accPr>
                              <m:chr m:val="̅"/>
                              <m:ctrlPr>
                                <a:rPr lang="en-US" altLang="ko-KR" sz="2200" i="1">
                                  <a:latin typeface="Cambria Math" panose="02040503050406030204" pitchFamily="18" charset="0"/>
                                </a:rPr>
                              </m:ctrlPr>
                            </m:accPr>
                            <m:e>
                              <m:r>
                                <m:rPr>
                                  <m:sty m:val="p"/>
                                </m:rPr>
                                <a:rPr lang="en-US" altLang="ko-KR" sz="2200" i="1">
                                  <a:latin typeface="Cambria Math" panose="02040503050406030204" pitchFamily="18" charset="0"/>
                                </a:rPr>
                                <m:t>D</m:t>
                              </m:r>
                            </m:e>
                          </m:acc>
                          <m:r>
                            <a:rPr lang="ko-KR" altLang="ar-AE" sz="2200" i="1">
                              <a:latin typeface="Cambria Math" panose="02040503050406030204" pitchFamily="18" charset="0"/>
                            </a:rPr>
                            <m:t>𝑡</m:t>
                          </m:r>
                        </m:den>
                      </m:f>
                      <m:r>
                        <a:rPr lang="ar-AE" altLang="ko-KR" sz="2200">
                          <a:latin typeface="Cambria Math" panose="02040503050406030204" pitchFamily="18" charset="0"/>
                        </a:rPr>
                        <m:t>=</m:t>
                      </m:r>
                      <m:r>
                        <a:rPr lang="ko-KR" altLang="ar-AE" sz="2200" i="1">
                          <a:latin typeface="Cambria Math" panose="02040503050406030204" pitchFamily="18" charset="0"/>
                        </a:rPr>
                        <m:t>𝜈</m:t>
                      </m:r>
                      <m:sSup>
                        <m:sSupPr>
                          <m:ctrlPr>
                            <a:rPr lang="ar-AE" altLang="ko-KR" sz="2200" i="1">
                              <a:latin typeface="Cambria Math" panose="02040503050406030204" pitchFamily="18" charset="0"/>
                            </a:rPr>
                          </m:ctrlPr>
                        </m:sSupPr>
                        <m:e>
                          <m:r>
                            <m:rPr>
                              <m:sty m:val="p"/>
                            </m:rPr>
                            <a:rPr lang="ar-AE" altLang="ko-KR" sz="2200">
                              <a:latin typeface="Cambria Math" panose="02040503050406030204" pitchFamily="18" charset="0"/>
                            </a:rPr>
                            <m:t>∇</m:t>
                          </m:r>
                        </m:e>
                        <m:sup>
                          <m:r>
                            <a:rPr lang="ar-AE" altLang="ko-KR" sz="2200">
                              <a:latin typeface="Cambria Math" panose="02040503050406030204" pitchFamily="18" charset="0"/>
                            </a:rPr>
                            <m:t>2</m:t>
                          </m:r>
                        </m:sup>
                      </m:sSup>
                      <m:sSub>
                        <m:sSubPr>
                          <m:ctrlPr>
                            <a:rPr lang="ar-AE" altLang="ko-KR" sz="2200" i="1">
                              <a:latin typeface="Cambria Math" panose="02040503050406030204" pitchFamily="18" charset="0"/>
                            </a:rPr>
                          </m:ctrlPr>
                        </m:sSubPr>
                        <m:e>
                          <m:acc>
                            <m:accPr>
                              <m:chr m:val="̅"/>
                              <m:ctrlPr>
                                <a:rPr lang="en-US" altLang="ko-KR" sz="2200" i="1">
                                  <a:latin typeface="Cambria Math" panose="02040503050406030204" pitchFamily="18" charset="0"/>
                                </a:rPr>
                              </m:ctrlPr>
                            </m:accPr>
                            <m:e>
                              <m:r>
                                <a:rPr lang="en-US" altLang="ko-KR" sz="2200" i="1">
                                  <a:latin typeface="Cambria Math" panose="02040503050406030204" pitchFamily="18" charset="0"/>
                                </a:rPr>
                                <m:t>𝑈</m:t>
                              </m:r>
                            </m:e>
                          </m:acc>
                        </m:e>
                        <m:sub>
                          <m:r>
                            <a:rPr lang="ko-KR" altLang="ar-AE" sz="2200" i="1">
                              <a:latin typeface="Cambria Math" panose="02040503050406030204" pitchFamily="18" charset="0"/>
                            </a:rPr>
                            <m:t>𝑗</m:t>
                          </m:r>
                        </m:sub>
                      </m:sSub>
                      <m:r>
                        <a:rPr lang="ar-AE" altLang="ko-KR" sz="2200">
                          <a:latin typeface="Cambria Math" panose="02040503050406030204" pitchFamily="18" charset="0"/>
                        </a:rPr>
                        <m:t>−</m:t>
                      </m:r>
                      <m:f>
                        <m:fPr>
                          <m:ctrlPr>
                            <a:rPr lang="ar-AE" altLang="ko-KR" sz="2200" i="1">
                              <a:latin typeface="Cambria Math" panose="02040503050406030204" pitchFamily="18" charset="0"/>
                            </a:rPr>
                          </m:ctrlPr>
                        </m:fPr>
                        <m:num>
                          <m:r>
                            <a:rPr lang="ar-AE" altLang="ko-KR" sz="2200" i="1">
                              <a:latin typeface="Cambria Math" panose="02040503050406030204" pitchFamily="18" charset="0"/>
                            </a:rPr>
                            <m:t>𝜕</m:t>
                          </m:r>
                          <m:acc>
                            <m:accPr>
                              <m:chr m:val="̅"/>
                              <m:ctrlPr>
                                <a:rPr lang="en-US" altLang="ko-KR" sz="2200" i="1">
                                  <a:latin typeface="Cambria Math" panose="02040503050406030204" pitchFamily="18" charset="0"/>
                                  <a:ea typeface="Cambria Math" panose="02040503050406030204" pitchFamily="18" charset="0"/>
                                </a:rPr>
                              </m:ctrlPr>
                            </m:accPr>
                            <m:e>
                              <m:sSub>
                                <m:sSubPr>
                                  <m:ctrlPr>
                                    <a:rPr lang="ar-AE" altLang="ko-KR" sz="2200" i="1">
                                      <a:latin typeface="Cambria Math" panose="02040503050406030204" pitchFamily="18" charset="0"/>
                                      <a:ea typeface="Cambria Math" panose="02040503050406030204" pitchFamily="18" charset="0"/>
                                    </a:rPr>
                                  </m:ctrlPr>
                                </m:sSubPr>
                                <m:e>
                                  <m:r>
                                    <a:rPr lang="ko-KR" altLang="ar-AE" sz="2200" i="1">
                                      <a:latin typeface="Cambria Math" panose="02040503050406030204" pitchFamily="18" charset="0"/>
                                    </a:rPr>
                                    <m:t>𝑢</m:t>
                                  </m:r>
                                </m:e>
                                <m:sub>
                                  <m:r>
                                    <a:rPr lang="ko-KR" altLang="ar-AE" sz="2200" i="1">
                                      <a:latin typeface="Cambria Math" panose="02040503050406030204" pitchFamily="18" charset="0"/>
                                    </a:rPr>
                                    <m:t>𝑖</m:t>
                                  </m:r>
                                </m:sub>
                              </m:sSub>
                              <m:sSub>
                                <m:sSubPr>
                                  <m:ctrlPr>
                                    <a:rPr lang="ar-AE" altLang="ko-KR" sz="2200" i="1">
                                      <a:latin typeface="Cambria Math" panose="02040503050406030204" pitchFamily="18" charset="0"/>
                                      <a:ea typeface="Cambria Math" panose="02040503050406030204" pitchFamily="18" charset="0"/>
                                    </a:rPr>
                                  </m:ctrlPr>
                                </m:sSubPr>
                                <m:e>
                                  <m:r>
                                    <a:rPr lang="ko-KR" altLang="ar-AE" sz="2200" i="1">
                                      <a:latin typeface="Cambria Math" panose="02040503050406030204" pitchFamily="18" charset="0"/>
                                    </a:rPr>
                                    <m:t>𝑢</m:t>
                                  </m:r>
                                </m:e>
                                <m:sub>
                                  <m:r>
                                    <a:rPr lang="en-US" altLang="ko-KR" sz="2200" b="0" i="1" smtClean="0">
                                      <a:latin typeface="Cambria Math" panose="02040503050406030204" pitchFamily="18" charset="0"/>
                                      <a:ea typeface="Cambria Math" panose="02040503050406030204" pitchFamily="18" charset="0"/>
                                    </a:rPr>
                                    <m:t>𝑗</m:t>
                                  </m:r>
                                </m:sub>
                              </m:sSub>
                            </m:e>
                          </m:acc>
                        </m:num>
                        <m:den>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𝑥</m:t>
                              </m:r>
                            </m:e>
                            <m:sub>
                              <m:r>
                                <a:rPr lang="ko-KR" altLang="ar-AE" sz="2200" i="1">
                                  <a:latin typeface="Cambria Math" panose="02040503050406030204" pitchFamily="18" charset="0"/>
                                </a:rPr>
                                <m:t>𝑖</m:t>
                              </m:r>
                            </m:sub>
                          </m:sSub>
                        </m:den>
                      </m:f>
                      <m:r>
                        <a:rPr lang="ar-AE" altLang="ko-KR" sz="2200">
                          <a:latin typeface="Cambria Math" panose="02040503050406030204" pitchFamily="18" charset="0"/>
                        </a:rPr>
                        <m:t>−</m:t>
                      </m:r>
                      <m:f>
                        <m:fPr>
                          <m:ctrlPr>
                            <a:rPr lang="ar-AE" altLang="ko-KR" sz="2200" i="1">
                              <a:latin typeface="Cambria Math" panose="02040503050406030204" pitchFamily="18" charset="0"/>
                            </a:rPr>
                          </m:ctrlPr>
                        </m:fPr>
                        <m:num>
                          <m:r>
                            <a:rPr lang="ar-AE" altLang="ko-KR" sz="2200">
                              <a:latin typeface="Cambria Math" panose="02040503050406030204" pitchFamily="18" charset="0"/>
                            </a:rPr>
                            <m:t>1</m:t>
                          </m:r>
                        </m:num>
                        <m:den>
                          <m:r>
                            <a:rPr lang="ko-KR" altLang="ar-AE" sz="2200" i="1">
                              <a:latin typeface="Cambria Math" panose="02040503050406030204" pitchFamily="18" charset="0"/>
                            </a:rPr>
                            <m:t>𝜌</m:t>
                          </m:r>
                        </m:den>
                      </m:f>
                      <m:f>
                        <m:fPr>
                          <m:ctrlPr>
                            <a:rPr lang="ar-AE" altLang="ko-KR" sz="2200" i="1">
                              <a:latin typeface="Cambria Math" panose="02040503050406030204" pitchFamily="18" charset="0"/>
                            </a:rPr>
                          </m:ctrlPr>
                        </m:fPr>
                        <m:num>
                          <m:r>
                            <a:rPr lang="ar-AE" altLang="ko-KR" sz="2200" i="1">
                              <a:latin typeface="Cambria Math" panose="02040503050406030204" pitchFamily="18" charset="0"/>
                            </a:rPr>
                            <m:t>𝜕</m:t>
                          </m:r>
                          <m:groupChr>
                            <m:groupChrPr>
                              <m:chr m:val="‾"/>
                              <m:pos m:val="top"/>
                              <m:vertJc m:val="bot"/>
                              <m:ctrlPr>
                                <a:rPr lang="ar-AE" altLang="ko-KR" sz="2200" i="1" smtClean="0">
                                  <a:latin typeface="Cambria Math" panose="02040503050406030204" pitchFamily="18" charset="0"/>
                                </a:rPr>
                              </m:ctrlPr>
                            </m:groupChrPr>
                            <m:e>
                              <m:r>
                                <m:rPr>
                                  <m:brk/>
                                </m:rPr>
                                <a:rPr lang="en-US" altLang="ko-KR" sz="2200" b="0" i="1" smtClean="0">
                                  <a:latin typeface="Cambria Math" panose="02040503050406030204" pitchFamily="18" charset="0"/>
                                </a:rPr>
                                <m:t>𝑝</m:t>
                              </m:r>
                            </m:e>
                          </m:groupChr>
                        </m:num>
                        <m:den>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𝑥</m:t>
                              </m:r>
                            </m:e>
                            <m:sub>
                              <m:r>
                                <a:rPr lang="ko-KR" altLang="ar-AE" sz="2200" i="1" smtClean="0">
                                  <a:latin typeface="Cambria Math" panose="02040503050406030204" pitchFamily="18" charset="0"/>
                                </a:rPr>
                                <m:t>𝑗</m:t>
                              </m:r>
                            </m:sub>
                          </m:sSub>
                        </m:den>
                      </m:f>
                    </m:oMath>
                  </m:oMathPara>
                </a14:m>
                <a:endParaRPr lang="en-US" sz="2200" i="1"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Reynolds stress tensor ​​</a:t>
                </a:r>
                <a:r>
                  <a:rPr lang="ar-AE" altLang="ko-KR" sz="2200" dirty="0"/>
                  <a:t> </a:t>
                </a:r>
                <a14:m>
                  <m:oMath xmlns:m="http://schemas.openxmlformats.org/officeDocument/2006/math">
                    <m:groupChr>
                      <m:groupChrPr>
                        <m:chr m:val="‾"/>
                        <m:pos m:val="top"/>
                        <m:vertJc m:val="bot"/>
                        <m:ctrlPr>
                          <a:rPr lang="ar-AE" altLang="ko-KR" sz="2200" i="1">
                            <a:latin typeface="Cambria Math" panose="02040503050406030204" pitchFamily="18" charset="0"/>
                          </a:rPr>
                        </m:ctrlPr>
                      </m:groupChrPr>
                      <m:e>
                        <m:r>
                          <m:rPr>
                            <m:brk/>
                          </m:rPr>
                          <a:rPr lang="en-US" altLang="ko-KR" sz="2200" b="0" i="1" smtClean="0">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𝑢</m:t>
                            </m:r>
                          </m:e>
                          <m:sub>
                            <m:r>
                              <a:rPr lang="ko-KR" altLang="ar-AE" sz="2200" i="1">
                                <a:latin typeface="Cambria Math" panose="02040503050406030204" pitchFamily="18" charset="0"/>
                              </a:rPr>
                              <m:t>𝑖</m:t>
                            </m:r>
                          </m:sub>
                        </m:sSub>
                      </m:e>
                    </m:groupChr>
                    <m:groupChr>
                      <m:groupChrPr>
                        <m:chr m:val="‾"/>
                        <m:pos m:val="top"/>
                        <m:vertJc m:val="bot"/>
                        <m:ctrlPr>
                          <a:rPr lang="ar-AE" altLang="ko-KR" sz="2200" i="1">
                            <a:latin typeface="Cambria Math" panose="02040503050406030204" pitchFamily="18" charset="0"/>
                          </a:rPr>
                        </m:ctrlPr>
                      </m:groupChrPr>
                      <m:e>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𝑢</m:t>
                            </m:r>
                          </m:e>
                          <m:sub>
                            <m:r>
                              <m:rPr>
                                <m:sty m:val="p"/>
                              </m:rPr>
                              <a:rPr lang="ko-KR" altLang="ar-AE" sz="2200" i="1">
                                <a:latin typeface="Cambria Math" panose="02040503050406030204" pitchFamily="18" charset="0"/>
                              </a:rPr>
                              <m:t>j</m:t>
                            </m:r>
                          </m:sub>
                        </m:sSub>
                      </m:e>
                    </m:groupChr>
                  </m:oMath>
                </a14:m>
                <a:r>
                  <a:rPr lang="en-US" sz="2200" dirty="0">
                    <a:latin typeface="Times New Roman" panose="02020603050405020304" pitchFamily="18" charset="0"/>
                    <a:cs typeface="Times New Roman" panose="02020603050405020304" pitchFamily="18" charset="0"/>
                  </a:rPr>
                  <a:t> introduces the closure problem: it cannot be derived from mean quantities alone. Under the </a:t>
                </a:r>
                <a:r>
                  <a:rPr lang="en-US" sz="2200" dirty="0" err="1">
                    <a:latin typeface="Times New Roman" panose="02020603050405020304" pitchFamily="18" charset="0"/>
                    <a:cs typeface="Times New Roman" panose="02020603050405020304" pitchFamily="18" charset="0"/>
                  </a:rPr>
                  <a:t>Boussinesq</a:t>
                </a:r>
                <a:r>
                  <a:rPr lang="en-US" sz="2200" dirty="0">
                    <a:latin typeface="Times New Roman" panose="02020603050405020304" pitchFamily="18" charset="0"/>
                    <a:cs typeface="Times New Roman" panose="02020603050405020304" pitchFamily="18" charset="0"/>
                  </a:rPr>
                  <a:t> turbulent-viscosity  hypothesis:</a:t>
                </a:r>
                <a:r>
                  <a:rPr lang="ar-AE" altLang="ko-KR" sz="2200" dirty="0"/>
                  <a:t> </a:t>
                </a:r>
                <a:endParaRPr lang="en-US" altLang="ko-KR" sz="220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ar-AE" altLang="ko-KR" sz="2200" smtClean="0">
                          <a:latin typeface="Cambria Math" panose="02040503050406030204" pitchFamily="18" charset="0"/>
                        </a:rPr>
                        <m:t>−</m:t>
                      </m:r>
                      <m:acc>
                        <m:accPr>
                          <m:chr m:val="̅"/>
                          <m:ctrlPr>
                            <a:rPr lang="en-US" altLang="ko-KR" sz="2200" b="0" i="1" smtClean="0">
                              <a:latin typeface="Cambria Math" panose="02040503050406030204" pitchFamily="18" charset="0"/>
                            </a:rPr>
                          </m:ctrlPr>
                        </m:accPr>
                        <m:e>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𝑢</m:t>
                              </m:r>
                            </m:e>
                            <m:sub>
                              <m:r>
                                <a:rPr lang="ko-KR" altLang="ar-AE" sz="2200" i="1">
                                  <a:latin typeface="Cambria Math" panose="02040503050406030204" pitchFamily="18" charset="0"/>
                                </a:rPr>
                                <m:t>𝑖</m:t>
                              </m:r>
                            </m:sub>
                          </m:sSub>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𝑢</m:t>
                              </m:r>
                            </m:e>
                            <m:sub>
                              <m:r>
                                <m:rPr>
                                  <m:sty m:val="p"/>
                                </m:rPr>
                                <a:rPr lang="ko-KR" altLang="ar-AE" sz="2200" i="1" smtClean="0">
                                  <a:latin typeface="Cambria Math" panose="02040503050406030204" pitchFamily="18" charset="0"/>
                                </a:rPr>
                                <m:t>j</m:t>
                              </m:r>
                            </m:sub>
                          </m:sSub>
                        </m:e>
                      </m:acc>
                      <m:r>
                        <a:rPr lang="ar-AE" altLang="ko-KR" sz="2200">
                          <a:latin typeface="Cambria Math" panose="02040503050406030204" pitchFamily="18" charset="0"/>
                        </a:rPr>
                        <m:t>+</m:t>
                      </m:r>
                      <m:f>
                        <m:fPr>
                          <m:ctrlPr>
                            <a:rPr lang="ar-AE" altLang="ko-KR" sz="2200" i="1">
                              <a:latin typeface="Cambria Math" panose="02040503050406030204" pitchFamily="18" charset="0"/>
                            </a:rPr>
                          </m:ctrlPr>
                        </m:fPr>
                        <m:num>
                          <m:r>
                            <a:rPr lang="ar-AE" altLang="ko-KR" sz="2200" i="1">
                              <a:latin typeface="Cambria Math" panose="02040503050406030204" pitchFamily="18" charset="0"/>
                            </a:rPr>
                            <m:t>2</m:t>
                          </m:r>
                        </m:num>
                        <m:den>
                          <m:r>
                            <a:rPr lang="ar-AE" altLang="ko-KR" sz="2200" i="1">
                              <a:latin typeface="Cambria Math" panose="02040503050406030204" pitchFamily="18" charset="0"/>
                            </a:rPr>
                            <m:t>3</m:t>
                          </m:r>
                        </m:den>
                      </m:f>
                      <m:r>
                        <a:rPr lang="ko-KR" altLang="ar-AE" sz="2200" i="1">
                          <a:latin typeface="Cambria Math" panose="02040503050406030204" pitchFamily="18" charset="0"/>
                        </a:rPr>
                        <m:t>𝑘</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𝛿</m:t>
                          </m:r>
                        </m:e>
                        <m:sub>
                          <m:r>
                            <a:rPr lang="ko-KR" altLang="ar-AE" sz="2200" i="1">
                              <a:latin typeface="Cambria Math" panose="02040503050406030204" pitchFamily="18" charset="0"/>
                            </a:rPr>
                            <m:t>𝑖𝑗</m:t>
                          </m:r>
                        </m:sub>
                      </m:sSub>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𝜈</m:t>
                          </m:r>
                        </m:e>
                        <m:sub>
                          <m:r>
                            <a:rPr lang="ko-KR" altLang="ar-AE" sz="2200" i="1">
                              <a:latin typeface="Cambria Math" panose="02040503050406030204" pitchFamily="18" charset="0"/>
                            </a:rPr>
                            <m:t>𝑇</m:t>
                          </m:r>
                        </m:sub>
                      </m:sSub>
                      <m:r>
                        <m:rPr>
                          <m:nor/>
                        </m:rPr>
                        <a:rPr lang="ar-AE" altLang="ko-KR" sz="2200" i="1"/>
                        <m:t> </m:t>
                      </m:r>
                      <m:d>
                        <m:dPr>
                          <m:ctrlPr>
                            <a:rPr lang="ar-AE" altLang="ko-KR" sz="2200" i="1">
                              <a:latin typeface="Cambria Math" panose="02040503050406030204" pitchFamily="18" charset="0"/>
                            </a:rPr>
                          </m:ctrlPr>
                        </m:dPr>
                        <m:e>
                          <m:f>
                            <m:fPr>
                              <m:ctrlPr>
                                <a:rPr lang="ar-AE" altLang="ko-KR" sz="2200" i="1">
                                  <a:latin typeface="Cambria Math" panose="02040503050406030204" pitchFamily="18" charset="0"/>
                                </a:rPr>
                              </m:ctrlPr>
                            </m:fPr>
                            <m:num>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acc>
                                    <m:accPr>
                                      <m:chr m:val="̅"/>
                                      <m:ctrlPr>
                                        <a:rPr lang="en-US" altLang="ko-KR" sz="2200" i="1">
                                          <a:latin typeface="Cambria Math" panose="02040503050406030204" pitchFamily="18" charset="0"/>
                                        </a:rPr>
                                      </m:ctrlPr>
                                    </m:accPr>
                                    <m:e>
                                      <m:r>
                                        <a:rPr lang="en-US" altLang="ko-KR" sz="2200" i="1">
                                          <a:latin typeface="Cambria Math" panose="02040503050406030204" pitchFamily="18" charset="0"/>
                                        </a:rPr>
                                        <m:t>𝑈</m:t>
                                      </m:r>
                                    </m:e>
                                  </m:acc>
                                </m:e>
                                <m:sub>
                                  <m:r>
                                    <a:rPr lang="ko-KR" altLang="ar-AE" sz="2200" i="1">
                                      <a:latin typeface="Cambria Math" panose="02040503050406030204" pitchFamily="18" charset="0"/>
                                    </a:rPr>
                                    <m:t>𝑖</m:t>
                                  </m:r>
                                </m:sub>
                              </m:sSub>
                            </m:num>
                            <m:den>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𝑥</m:t>
                                  </m:r>
                                </m:e>
                                <m:sub>
                                  <m:r>
                                    <a:rPr lang="ko-KR" altLang="ar-AE" sz="2200" i="1">
                                      <a:latin typeface="Cambria Math" panose="02040503050406030204" pitchFamily="18" charset="0"/>
                                    </a:rPr>
                                    <m:t>𝑗</m:t>
                                  </m:r>
                                </m:sub>
                              </m:sSub>
                            </m:den>
                          </m:f>
                          <m:r>
                            <a:rPr lang="ar-AE" altLang="ko-KR" sz="2200" i="1">
                              <a:latin typeface="Cambria Math" panose="02040503050406030204" pitchFamily="18" charset="0"/>
                            </a:rPr>
                            <m:t>+</m:t>
                          </m:r>
                          <m:f>
                            <m:fPr>
                              <m:ctrlPr>
                                <a:rPr lang="ar-AE" altLang="ko-KR" sz="2200" i="1">
                                  <a:latin typeface="Cambria Math" panose="02040503050406030204" pitchFamily="18" charset="0"/>
                                </a:rPr>
                              </m:ctrlPr>
                            </m:fPr>
                            <m:num>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acc>
                                    <m:accPr>
                                      <m:chr m:val="̅"/>
                                      <m:ctrlPr>
                                        <a:rPr lang="en-US" altLang="ko-KR" sz="2200" i="1">
                                          <a:latin typeface="Cambria Math" panose="02040503050406030204" pitchFamily="18" charset="0"/>
                                        </a:rPr>
                                      </m:ctrlPr>
                                    </m:accPr>
                                    <m:e>
                                      <m:r>
                                        <a:rPr lang="en-US" altLang="ko-KR" sz="2200" i="1">
                                          <a:latin typeface="Cambria Math" panose="02040503050406030204" pitchFamily="18" charset="0"/>
                                        </a:rPr>
                                        <m:t>𝑈</m:t>
                                      </m:r>
                                    </m:e>
                                  </m:acc>
                                </m:e>
                                <m:sub>
                                  <m:r>
                                    <a:rPr lang="en-US" altLang="ko-KR" sz="2200" b="0" i="1" smtClean="0">
                                      <a:latin typeface="Cambria Math" panose="02040503050406030204" pitchFamily="18" charset="0"/>
                                    </a:rPr>
                                    <m:t>𝑗</m:t>
                                  </m:r>
                                </m:sub>
                              </m:sSub>
                            </m:num>
                            <m:den>
                              <m:r>
                                <a:rPr lang="ar-AE" altLang="ko-KR" sz="2200" i="1">
                                  <a:latin typeface="Cambria Math" panose="02040503050406030204" pitchFamily="18" charset="0"/>
                                </a:rPr>
                                <m:t>𝜕</m:t>
                              </m:r>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𝑥</m:t>
                                  </m:r>
                                </m:e>
                                <m:sub>
                                  <m:r>
                                    <a:rPr lang="ko-KR" altLang="ar-AE" sz="2200" i="1">
                                      <a:latin typeface="Cambria Math" panose="02040503050406030204" pitchFamily="18" charset="0"/>
                                    </a:rPr>
                                    <m:t>𝑖</m:t>
                                  </m:r>
                                </m:sub>
                              </m:sSub>
                            </m:den>
                          </m:f>
                        </m:e>
                      </m:d>
                    </m:oMath>
                  </m:oMathPara>
                </a14:m>
                <a:endParaRPr lang="en-US" altLang="ko-KR" sz="2200" b="0" i="1" dirty="0"/>
              </a:p>
              <a:p>
                <a:endParaRPr lang="ar-AE" altLang="ko-KR" sz="2200" b="0" i="1" dirty="0"/>
              </a:p>
              <a:p>
                <a:r>
                  <a:rPr lang="en-US" altLang="ko-KR" sz="2200" dirty="0">
                    <a:latin typeface="Times New Roman" panose="02020603050405020304" pitchFamily="18" charset="0"/>
                    <a:ea typeface="Cambria" panose="02040503050406030204" pitchFamily="18" charset="0"/>
                    <a:cs typeface="Times New Roman" panose="02020603050405020304" pitchFamily="18" charset="0"/>
                  </a:rPr>
                  <a:t>The turbulent viscosity </a:t>
                </a:r>
                <a14:m>
                  <m:oMath xmlns:m="http://schemas.openxmlformats.org/officeDocument/2006/math">
                    <m:sSub>
                      <m:sSubPr>
                        <m:ctrlPr>
                          <a:rPr lang="ar-AE" altLang="ko-KR" sz="2200" i="1">
                            <a:latin typeface="Cambria Math" panose="02040503050406030204" pitchFamily="18" charset="0"/>
                          </a:rPr>
                        </m:ctrlPr>
                      </m:sSubPr>
                      <m:e>
                        <m:r>
                          <a:rPr lang="ko-KR" altLang="ar-AE" sz="2200" i="1">
                            <a:latin typeface="Cambria Math" panose="02040503050406030204" pitchFamily="18" charset="0"/>
                          </a:rPr>
                          <m:t>𝜈</m:t>
                        </m:r>
                      </m:e>
                      <m:sub>
                        <m:r>
                          <a:rPr lang="ko-KR" altLang="ar-AE" sz="2200" i="1">
                            <a:latin typeface="Cambria Math" panose="02040503050406030204" pitchFamily="18" charset="0"/>
                          </a:rPr>
                          <m:t>𝑇</m:t>
                        </m:r>
                      </m:sub>
                    </m:sSub>
                  </m:oMath>
                </a14:m>
                <a:r>
                  <a:rPr lang="en-US" altLang="ko-KR" sz="2200" dirty="0">
                    <a:latin typeface="Times New Roman" panose="02020603050405020304" pitchFamily="18" charset="0"/>
                    <a:ea typeface="Cambria" panose="02040503050406030204" pitchFamily="18" charset="0"/>
                    <a:cs typeface="Times New Roman" panose="02020603050405020304" pitchFamily="18" charset="0"/>
                  </a:rPr>
                  <a:t> is computed via the k–</a:t>
                </a:r>
                <a:r>
                  <a:rPr lang="el-GR" altLang="ko-KR" sz="2200" dirty="0">
                    <a:latin typeface="Times New Roman" panose="02020603050405020304" pitchFamily="18" charset="0"/>
                    <a:ea typeface="Cambria" panose="02040503050406030204" pitchFamily="18" charset="0"/>
                    <a:cs typeface="Times New Roman" panose="02020603050405020304" pitchFamily="18" charset="0"/>
                  </a:rPr>
                  <a:t>ω </a:t>
                </a:r>
                <a:r>
                  <a:rPr lang="en-US" altLang="ko-KR" sz="2200" dirty="0">
                    <a:latin typeface="Times New Roman" panose="02020603050405020304" pitchFamily="18" charset="0"/>
                    <a:ea typeface="Cambria" panose="02040503050406030204" pitchFamily="18" charset="0"/>
                    <a:cs typeface="Times New Roman" panose="02020603050405020304" pitchFamily="18" charset="0"/>
                  </a:rPr>
                  <a:t>SST model, making it one of the four flow fields our surrogate model must predict.</a:t>
                </a:r>
                <a:endParaRPr lang="en-US" altLang="ko-KR" sz="2200" b="0" dirty="0">
                  <a:latin typeface="Times New Roman" panose="02020603050405020304" pitchFamily="18" charset="0"/>
                  <a:ea typeface="Cambria" panose="02040503050406030204" pitchFamily="18" charset="0"/>
                  <a:cs typeface="Times New Roman" panose="02020603050405020304" pitchFamily="18" charset="0"/>
                </a:endParaRPr>
              </a:p>
              <a:p>
                <a:endParaRPr lang="en-US" altLang="ko-KR" sz="2200" dirty="0"/>
              </a:p>
            </p:txBody>
          </p:sp>
        </mc:Choice>
        <mc:Fallback xmlns="">
          <p:sp>
            <p:nvSpPr>
              <p:cNvPr id="3" name="TextBox 2">
                <a:extLst>
                  <a:ext uri="{FF2B5EF4-FFF2-40B4-BE49-F238E27FC236}">
                    <a16:creationId xmlns:a16="http://schemas.microsoft.com/office/drawing/2014/main" id="{E702689C-B432-7A93-F6BA-1D18C6682108}"/>
                  </a:ext>
                </a:extLst>
              </p:cNvPr>
              <p:cNvSpPr txBox="1">
                <a:spLocks noRot="1" noChangeAspect="1" noMove="1" noResize="1" noEditPoints="1" noAdjustHandles="1" noChangeArrowheads="1" noChangeShapeType="1" noTextEdit="1"/>
              </p:cNvSpPr>
              <p:nvPr/>
            </p:nvSpPr>
            <p:spPr>
              <a:xfrm>
                <a:off x="10757603" y="6178735"/>
                <a:ext cx="9923761" cy="5758564"/>
              </a:xfrm>
              <a:prstGeom prst="rect">
                <a:avLst/>
              </a:prstGeom>
              <a:blipFill>
                <a:blip r:embed="rId7"/>
                <a:stretch>
                  <a:fillRect l="-799" t="-742"/>
                </a:stretch>
              </a:blipFill>
            </p:spPr>
            <p:txBody>
              <a:bodyPr/>
              <a:lstStyle/>
              <a:p>
                <a:r>
                  <a:rPr lang="ko-KR" altLang="en-US">
                    <a:noFill/>
                  </a:rPr>
                  <a:t> </a:t>
                </a:r>
              </a:p>
            </p:txBody>
          </p:sp>
        </mc:Fallback>
      </mc:AlternateContent>
      <p:graphicFrame>
        <p:nvGraphicFramePr>
          <p:cNvPr id="27" name="표 26">
            <a:extLst>
              <a:ext uri="{FF2B5EF4-FFF2-40B4-BE49-F238E27FC236}">
                <a16:creationId xmlns:a16="http://schemas.microsoft.com/office/drawing/2014/main" id="{E16136AA-3EC3-B59D-CB27-1111AB49B917}"/>
              </a:ext>
            </a:extLst>
          </p:cNvPr>
          <p:cNvGraphicFramePr>
            <a:graphicFrameLocks noGrp="1"/>
          </p:cNvGraphicFramePr>
          <p:nvPr>
            <p:extLst>
              <p:ext uri="{D42A27DB-BD31-4B8C-83A1-F6EECF244321}">
                <p14:modId xmlns:p14="http://schemas.microsoft.com/office/powerpoint/2010/main" val="2694163972"/>
              </p:ext>
            </p:extLst>
          </p:nvPr>
        </p:nvGraphicFramePr>
        <p:xfrm>
          <a:off x="342518" y="11564987"/>
          <a:ext cx="10064224" cy="4500693"/>
        </p:xfrm>
        <a:graphic>
          <a:graphicData uri="http://schemas.openxmlformats.org/drawingml/2006/table">
            <a:tbl>
              <a:tblPr firstRow="1" bandRow="1">
                <a:tableStyleId>{5C22544A-7EE6-4342-B048-85BDC9FD1C3A}</a:tableStyleId>
              </a:tblPr>
              <a:tblGrid>
                <a:gridCol w="5032112">
                  <a:extLst>
                    <a:ext uri="{9D8B030D-6E8A-4147-A177-3AD203B41FA5}">
                      <a16:colId xmlns:a16="http://schemas.microsoft.com/office/drawing/2014/main" val="1904415591"/>
                    </a:ext>
                  </a:extLst>
                </a:gridCol>
                <a:gridCol w="5032112">
                  <a:extLst>
                    <a:ext uri="{9D8B030D-6E8A-4147-A177-3AD203B41FA5}">
                      <a16:colId xmlns:a16="http://schemas.microsoft.com/office/drawing/2014/main" val="3986792996"/>
                    </a:ext>
                  </a:extLst>
                </a:gridCol>
              </a:tblGrid>
              <a:tr h="1823453">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a:stretch>
                    </a:blipFill>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9"/>
                      <a:stretch>
                        <a:fillRect/>
                      </a:stretch>
                    </a:blipFill>
                  </a:tcPr>
                </a:tc>
                <a:extLst>
                  <a:ext uri="{0D108BD9-81ED-4DB2-BD59-A6C34878D82A}">
                    <a16:rowId xmlns:a16="http://schemas.microsoft.com/office/drawing/2014/main" val="3790897978"/>
                  </a:ext>
                </a:extLst>
              </a:tr>
              <a:tr h="1963344">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a:stretch>
                    </a:blipFill>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1"/>
                      <a:stretch>
                        <a:fillRect/>
                      </a:stretch>
                    </a:blipFill>
                  </a:tcPr>
                </a:tc>
                <a:extLst>
                  <a:ext uri="{0D108BD9-81ED-4DB2-BD59-A6C34878D82A}">
                    <a16:rowId xmlns:a16="http://schemas.microsoft.com/office/drawing/2014/main" val="2257987002"/>
                  </a:ext>
                </a:extLst>
              </a:tr>
              <a:tr h="713896">
                <a:tc gridSpan="2">
                  <a:txBody>
                    <a:bodyPr/>
                    <a:lstStyle/>
                    <a:p>
                      <a:pPr algn="ctr" latinLnBrk="1"/>
                      <a:r>
                        <a:rPr lang="en-US" altLang="ko-KR" sz="2000" b="1" dirty="0">
                          <a:solidFill>
                            <a:sysClr val="windowText" lastClr="000000"/>
                          </a:solidFill>
                          <a:latin typeface="Times New Roman" panose="02020603050405020304" pitchFamily="18" charset="0"/>
                          <a:cs typeface="Times New Roman" panose="02020603050405020304" pitchFamily="18" charset="0"/>
                        </a:rPr>
                        <a:t>Fig. 1 </a:t>
                      </a:r>
                      <a:r>
                        <a:rPr lang="en-US" altLang="ko-KR" sz="2000" b="0" dirty="0">
                          <a:solidFill>
                            <a:sysClr val="windowText" lastClr="000000"/>
                          </a:solidFill>
                          <a:latin typeface="Times New Roman" panose="02020603050405020304" pitchFamily="18" charset="0"/>
                          <a:cs typeface="Times New Roman" panose="02020603050405020304" pitchFamily="18" charset="0"/>
                        </a:rPr>
                        <a:t>Sample </a:t>
                      </a:r>
                      <a:r>
                        <a:rPr lang="en-US" altLang="ko-KR" sz="2000" dirty="0">
                          <a:solidFill>
                            <a:sysClr val="windowText" lastClr="000000"/>
                          </a:solidFill>
                          <a:latin typeface="Times New Roman" panose="02020603050405020304" pitchFamily="18" charset="0"/>
                          <a:cs typeface="Times New Roman" panose="02020603050405020304" pitchFamily="18" charset="0"/>
                        </a:rPr>
                        <a:t>Simulation output (a) Velocity — x component  [m/s] (b) Pressure  [Pa/</a:t>
                      </a:r>
                      <a:r>
                        <a:rPr lang="el-GR" altLang="ko-KR" sz="2000" dirty="0">
                          <a:solidFill>
                            <a:sysClr val="windowText" lastClr="000000"/>
                          </a:solidFill>
                          <a:latin typeface="Times New Roman" panose="02020603050405020304" pitchFamily="18" charset="0"/>
                          <a:cs typeface="Times New Roman" panose="02020603050405020304" pitchFamily="18" charset="0"/>
                        </a:rPr>
                        <a:t>ρ]</a:t>
                      </a:r>
                      <a:endParaRPr lang="en-US" altLang="ko-KR" sz="2000" dirty="0">
                        <a:solidFill>
                          <a:sysClr val="windowText" lastClr="000000"/>
                        </a:solidFill>
                        <a:latin typeface="Times New Roman" panose="02020603050405020304" pitchFamily="18" charset="0"/>
                        <a:cs typeface="Times New Roman" panose="02020603050405020304" pitchFamily="18" charset="0"/>
                      </a:endParaRPr>
                    </a:p>
                    <a:p>
                      <a:pPr algn="ctr" latinLnBrk="1"/>
                      <a:r>
                        <a:rPr lang="en-US" altLang="ko-KR" sz="2000" dirty="0">
                          <a:solidFill>
                            <a:sysClr val="windowText" lastClr="000000"/>
                          </a:solidFill>
                          <a:latin typeface="Times New Roman" panose="02020603050405020304" pitchFamily="18" charset="0"/>
                          <a:cs typeface="Times New Roman" panose="02020603050405020304" pitchFamily="18" charset="0"/>
                        </a:rPr>
                        <a:t>(c) Velocity — y component  [m/s] (d) Kinematic turbulent viscosity  [m²/s]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4699889"/>
                  </a:ext>
                </a:extLst>
              </a:tr>
            </a:tbl>
          </a:graphicData>
        </a:graphic>
      </p:graphicFrame>
      <p:grpSp>
        <p:nvGrpSpPr>
          <p:cNvPr id="35" name="그룹 34">
            <a:extLst>
              <a:ext uri="{FF2B5EF4-FFF2-40B4-BE49-F238E27FC236}">
                <a16:creationId xmlns:a16="http://schemas.microsoft.com/office/drawing/2014/main" id="{7C9F58B2-8A18-AFEB-4AEF-CA99574B12B6}"/>
              </a:ext>
            </a:extLst>
          </p:cNvPr>
          <p:cNvGrpSpPr/>
          <p:nvPr/>
        </p:nvGrpSpPr>
        <p:grpSpPr>
          <a:xfrm>
            <a:off x="4426625" y="11678315"/>
            <a:ext cx="5363772" cy="457200"/>
            <a:chOff x="3246383" y="10610852"/>
            <a:chExt cx="3757301" cy="457200"/>
          </a:xfrm>
        </p:grpSpPr>
        <p:sp>
          <p:nvSpPr>
            <p:cNvPr id="36" name="직사각형 35">
              <a:extLst>
                <a:ext uri="{FF2B5EF4-FFF2-40B4-BE49-F238E27FC236}">
                  <a16:creationId xmlns:a16="http://schemas.microsoft.com/office/drawing/2014/main" id="{3F2F088A-CD2A-C476-B40F-F9FBD2A705DD}"/>
                </a:ext>
              </a:extLst>
            </p:cNvPr>
            <p:cNvSpPr/>
            <p:nvPr/>
          </p:nvSpPr>
          <p:spPr>
            <a:xfrm>
              <a:off x="3246383" y="10610852"/>
              <a:ext cx="337545"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38" name="직사각형 37">
              <a:extLst>
                <a:ext uri="{FF2B5EF4-FFF2-40B4-BE49-F238E27FC236}">
                  <a16:creationId xmlns:a16="http://schemas.microsoft.com/office/drawing/2014/main" id="{063119F4-C551-41B5-AD5E-4F92F979E5F8}"/>
                </a:ext>
              </a:extLst>
            </p:cNvPr>
            <p:cNvSpPr/>
            <p:nvPr/>
          </p:nvSpPr>
          <p:spPr>
            <a:xfrm>
              <a:off x="6666139" y="10610852"/>
              <a:ext cx="337545"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grpSp>
      <p:grpSp>
        <p:nvGrpSpPr>
          <p:cNvPr id="42" name="그룹 41">
            <a:extLst>
              <a:ext uri="{FF2B5EF4-FFF2-40B4-BE49-F238E27FC236}">
                <a16:creationId xmlns:a16="http://schemas.microsoft.com/office/drawing/2014/main" id="{EE6BEDE4-E5D5-4360-14C9-59B021D68CFB}"/>
              </a:ext>
            </a:extLst>
          </p:cNvPr>
          <p:cNvGrpSpPr/>
          <p:nvPr/>
        </p:nvGrpSpPr>
        <p:grpSpPr>
          <a:xfrm>
            <a:off x="4426625" y="13498837"/>
            <a:ext cx="5363772" cy="457200"/>
            <a:chOff x="3246383" y="10610852"/>
            <a:chExt cx="3757301" cy="457200"/>
          </a:xfrm>
        </p:grpSpPr>
        <p:sp>
          <p:nvSpPr>
            <p:cNvPr id="43" name="직사각형 42">
              <a:extLst>
                <a:ext uri="{FF2B5EF4-FFF2-40B4-BE49-F238E27FC236}">
                  <a16:creationId xmlns:a16="http://schemas.microsoft.com/office/drawing/2014/main" id="{BA2E0CAC-9C2D-D21B-97B7-B55A0D8485A4}"/>
                </a:ext>
              </a:extLst>
            </p:cNvPr>
            <p:cNvSpPr/>
            <p:nvPr/>
          </p:nvSpPr>
          <p:spPr>
            <a:xfrm>
              <a:off x="3246383" y="10610852"/>
              <a:ext cx="337545"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(c)</a:t>
              </a:r>
              <a:endParaRPr lang="ko-KR" altLang="en-US" sz="2000" b="1" dirty="0">
                <a:solidFill>
                  <a:schemeClr val="tx1"/>
                </a:solidFill>
              </a:endParaRPr>
            </a:p>
          </p:txBody>
        </p:sp>
        <p:sp>
          <p:nvSpPr>
            <p:cNvPr id="44" name="직사각형 43">
              <a:extLst>
                <a:ext uri="{FF2B5EF4-FFF2-40B4-BE49-F238E27FC236}">
                  <a16:creationId xmlns:a16="http://schemas.microsoft.com/office/drawing/2014/main" id="{3A142D14-D17B-91A2-5176-A67324FEF190}"/>
                </a:ext>
              </a:extLst>
            </p:cNvPr>
            <p:cNvSpPr/>
            <p:nvPr/>
          </p:nvSpPr>
          <p:spPr>
            <a:xfrm>
              <a:off x="6666139" y="10610852"/>
              <a:ext cx="337545"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(d)</a:t>
              </a:r>
              <a:endParaRPr lang="ko-KR" altLang="en-US" sz="2000" b="1" dirty="0">
                <a:solidFill>
                  <a:schemeClr val="tx1"/>
                </a:solidFill>
              </a:endParaRPr>
            </a:p>
          </p:txBody>
        </p:sp>
      </p:grpSp>
      <p:sp>
        <p:nvSpPr>
          <p:cNvPr id="49" name="Text 6">
            <a:extLst>
              <a:ext uri="{FF2B5EF4-FFF2-40B4-BE49-F238E27FC236}">
                <a16:creationId xmlns:a16="http://schemas.microsoft.com/office/drawing/2014/main" id="{081C0E33-635C-6F30-155E-B30AFA6852E4}"/>
              </a:ext>
            </a:extLst>
          </p:cNvPr>
          <p:cNvSpPr/>
          <p:nvPr/>
        </p:nvSpPr>
        <p:spPr>
          <a:xfrm>
            <a:off x="550068" y="6254318"/>
            <a:ext cx="4853869" cy="2322523"/>
          </a:xfrm>
          <a:prstGeom prst="rect">
            <a:avLst/>
          </a:prstGeom>
          <a:noFill/>
          <a:ln/>
        </p:spPr>
        <p:txBody>
          <a:bodyPr wrap="square" lIns="0" tIns="0" rIns="0" bIns="0" rtlCol="0" anchor="t"/>
          <a:lstStyle/>
          <a:p>
            <a:r>
              <a:rPr lang="en-US" sz="2200" dirty="0">
                <a:solidFill>
                  <a:srgbClr val="1A1A1A"/>
                </a:solidFill>
                <a:latin typeface="Times New Roman" panose="02020603050405020304" pitchFamily="18" charset="0"/>
                <a:cs typeface="Times New Roman" panose="02020603050405020304" pitchFamily="18" charset="0"/>
              </a:rPr>
              <a:t>AirfRANS is a public benchmark dataset </a:t>
            </a:r>
          </a:p>
          <a:p>
            <a:r>
              <a:rPr lang="en-US" sz="2200" dirty="0">
                <a:solidFill>
                  <a:srgbClr val="1A1A1A"/>
                </a:solidFill>
                <a:latin typeface="Times New Roman" panose="02020603050405020304" pitchFamily="18" charset="0"/>
                <a:cs typeface="Times New Roman" panose="02020603050405020304" pitchFamily="18" charset="0"/>
              </a:rPr>
              <a:t>providing CFD simulation results of 2D </a:t>
            </a:r>
          </a:p>
          <a:p>
            <a:r>
              <a:rPr lang="en-US" sz="2200" dirty="0">
                <a:solidFill>
                  <a:srgbClr val="1A1A1A"/>
                </a:solidFill>
                <a:latin typeface="Times New Roman" panose="02020603050405020304" pitchFamily="18" charset="0"/>
                <a:cs typeface="Times New Roman" panose="02020603050405020304" pitchFamily="18" charset="0"/>
              </a:rPr>
              <a:t>RANS s</a:t>
            </a:r>
            <a:r>
              <a:rPr lang="en-US" altLang="ko-KR" sz="2200" dirty="0">
                <a:solidFill>
                  <a:srgbClr val="1A1A1A"/>
                </a:solidFill>
                <a:latin typeface="Times New Roman" panose="02020603050405020304" pitchFamily="18" charset="0"/>
                <a:cs typeface="Times New Roman" panose="02020603050405020304" pitchFamily="18" charset="0"/>
              </a:rPr>
              <a:t>teady-state, incompressible </a:t>
            </a:r>
            <a:r>
              <a:rPr lang="en-US" sz="2200" dirty="0">
                <a:solidFill>
                  <a:srgbClr val="1A1A1A"/>
                </a:solidFill>
                <a:latin typeface="Times New Roman" panose="02020603050405020304" pitchFamily="18" charset="0"/>
                <a:cs typeface="Times New Roman" panose="02020603050405020304" pitchFamily="18" charset="0"/>
              </a:rPr>
              <a:t>airflow around airfoil geometries.</a:t>
            </a:r>
          </a:p>
          <a:p>
            <a:r>
              <a:rPr lang="en-US" sz="2200" dirty="0">
                <a:solidFill>
                  <a:srgbClr val="1A1A1A"/>
                </a:solidFill>
                <a:latin typeface="Times New Roman" panose="02020603050405020304" pitchFamily="18" charset="0"/>
                <a:cs typeface="Times New Roman" panose="02020603050405020304" pitchFamily="18" charset="0"/>
              </a:rPr>
              <a:t> </a:t>
            </a:r>
          </a:p>
          <a:p>
            <a:r>
              <a:rPr lang="en-US" altLang="ko-KR" sz="2200" dirty="0">
                <a:solidFill>
                  <a:srgbClr val="1A1A1A"/>
                </a:solidFill>
                <a:latin typeface="Times New Roman" panose="02020603050405020304" pitchFamily="18" charset="0"/>
                <a:cs typeface="Times New Roman" panose="02020603050405020304" pitchFamily="18" charset="0"/>
              </a:rPr>
              <a:t>Mesh nodes from </a:t>
            </a:r>
            <a:r>
              <a:rPr lang="en-US" altLang="ko-KR" sz="2200" dirty="0" err="1">
                <a:solidFill>
                  <a:srgbClr val="1A1A1A"/>
                </a:solidFill>
                <a:latin typeface="Times New Roman" panose="02020603050405020304" pitchFamily="18" charset="0"/>
                <a:cs typeface="Times New Roman" panose="02020603050405020304" pitchFamily="18" charset="0"/>
              </a:rPr>
              <a:t>OpenFOAM</a:t>
            </a:r>
            <a:r>
              <a:rPr lang="en-US" altLang="ko-KR" sz="2200" dirty="0">
                <a:solidFill>
                  <a:srgbClr val="1A1A1A"/>
                </a:solidFill>
                <a:latin typeface="Times New Roman" panose="02020603050405020304" pitchFamily="18" charset="0"/>
                <a:cs typeface="Times New Roman" panose="02020603050405020304" pitchFamily="18" charset="0"/>
              </a:rPr>
              <a:t>: simulations serve as the point cloud input to the model.</a:t>
            </a:r>
            <a:endParaRPr lang="en-US" altLang="ko-KR"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50" name="Text 8">
            <a:extLst>
              <a:ext uri="{FF2B5EF4-FFF2-40B4-BE49-F238E27FC236}">
                <a16:creationId xmlns:a16="http://schemas.microsoft.com/office/drawing/2014/main" id="{712982C2-482F-5B46-FF44-05A3E9F11CA2}"/>
              </a:ext>
            </a:extLst>
          </p:cNvPr>
          <p:cNvSpPr/>
          <p:nvPr/>
        </p:nvSpPr>
        <p:spPr>
          <a:xfrm>
            <a:off x="559744" y="9259131"/>
            <a:ext cx="4749415" cy="480206"/>
          </a:xfrm>
          <a:prstGeom prst="rect">
            <a:avLst/>
          </a:prstGeom>
          <a:noFill/>
          <a:ln/>
        </p:spPr>
        <p:txBody>
          <a:bodyPr wrap="square" lIns="0" tIns="0" rIns="0" bIns="0" rtlCol="0" anchor="ctr"/>
          <a:lstStyle/>
          <a:p>
            <a:r>
              <a:rPr lang="en-US" sz="2200" b="1" dirty="0">
                <a:solidFill>
                  <a:srgbClr val="1C3557"/>
                </a:solidFill>
                <a:latin typeface="Times New Roman" panose="02020603050405020304" pitchFamily="18" charset="0"/>
                <a:cs typeface="Times New Roman" panose="02020603050405020304" pitchFamily="18" charset="0"/>
              </a:rPr>
              <a:t>Dataset Splits</a:t>
            </a:r>
            <a:endParaRPr lang="en-US" sz="2200" dirty="0">
              <a:latin typeface="Times New Roman" panose="02020603050405020304" pitchFamily="18" charset="0"/>
              <a:cs typeface="Times New Roman" panose="02020603050405020304" pitchFamily="18" charset="0"/>
            </a:endParaRPr>
          </a:p>
        </p:txBody>
      </p:sp>
      <p:sp>
        <p:nvSpPr>
          <p:cNvPr id="51" name="Shape 9">
            <a:extLst>
              <a:ext uri="{FF2B5EF4-FFF2-40B4-BE49-F238E27FC236}">
                <a16:creationId xmlns:a16="http://schemas.microsoft.com/office/drawing/2014/main" id="{13173948-01FB-D44D-6EE8-B89ACC99ED6B}"/>
              </a:ext>
            </a:extLst>
          </p:cNvPr>
          <p:cNvSpPr/>
          <p:nvPr/>
        </p:nvSpPr>
        <p:spPr>
          <a:xfrm>
            <a:off x="559744" y="9910236"/>
            <a:ext cx="124984" cy="137202"/>
          </a:xfrm>
          <a:prstGeom prst="ellipse">
            <a:avLst/>
          </a:prstGeom>
          <a:solidFill>
            <a:srgbClr val="1C3557"/>
          </a:solidFill>
          <a:ln w="12700">
            <a:solidFill>
              <a:srgbClr val="1C3557"/>
            </a:solidFill>
            <a:prstDash val="solid"/>
          </a:ln>
        </p:spPr>
        <p:txBody>
          <a:bodyPr/>
          <a:lstStyle/>
          <a:p>
            <a:endParaRPr lang="ko-KR" altLang="en-US" sz="2200">
              <a:latin typeface="Times New Roman" panose="02020603050405020304" pitchFamily="18" charset="0"/>
              <a:cs typeface="Times New Roman" panose="02020603050405020304" pitchFamily="18" charset="0"/>
            </a:endParaRPr>
          </a:p>
        </p:txBody>
      </p:sp>
      <p:sp>
        <p:nvSpPr>
          <p:cNvPr id="52" name="Text 10">
            <a:extLst>
              <a:ext uri="{FF2B5EF4-FFF2-40B4-BE49-F238E27FC236}">
                <a16:creationId xmlns:a16="http://schemas.microsoft.com/office/drawing/2014/main" id="{DBE3C17F-5149-ECCD-E399-22A74E2F83A6}"/>
              </a:ext>
            </a:extLst>
          </p:cNvPr>
          <p:cNvSpPr/>
          <p:nvPr/>
        </p:nvSpPr>
        <p:spPr>
          <a:xfrm>
            <a:off x="834709" y="9676533"/>
            <a:ext cx="4474449" cy="576247"/>
          </a:xfrm>
          <a:prstGeom prst="rect">
            <a:avLst/>
          </a:prstGeom>
          <a:noFill/>
          <a:ln/>
        </p:spPr>
        <p:txBody>
          <a:bodyPr wrap="square" lIns="0" tIns="0" rIns="0" bIns="0" rtlCol="0" anchor="ctr"/>
          <a:lstStyle/>
          <a:p>
            <a:r>
              <a:rPr lang="en-US" sz="2200" b="1" dirty="0">
                <a:solidFill>
                  <a:srgbClr val="1A1A1A"/>
                </a:solidFill>
                <a:latin typeface="Times New Roman" panose="02020603050405020304" pitchFamily="18" charset="0"/>
                <a:cs typeface="Times New Roman" panose="02020603050405020304" pitchFamily="18" charset="0"/>
              </a:rPr>
              <a:t>Train</a:t>
            </a:r>
            <a:r>
              <a:rPr lang="en-US" sz="2200" dirty="0">
                <a:solidFill>
                  <a:srgbClr val="1A1A1A"/>
                </a:solidFill>
                <a:latin typeface="Times New Roman" panose="02020603050405020304" pitchFamily="18" charset="0"/>
                <a:cs typeface="Times New Roman" panose="02020603050405020304" pitchFamily="18" charset="0"/>
              </a:rPr>
              <a:t>:  200 simulations</a:t>
            </a:r>
            <a:endParaRPr lang="en-US" sz="2200" dirty="0">
              <a:latin typeface="Times New Roman" panose="02020603050405020304" pitchFamily="18" charset="0"/>
              <a:cs typeface="Times New Roman" panose="02020603050405020304" pitchFamily="18" charset="0"/>
            </a:endParaRPr>
          </a:p>
        </p:txBody>
      </p:sp>
      <p:sp>
        <p:nvSpPr>
          <p:cNvPr id="53" name="Shape 11">
            <a:extLst>
              <a:ext uri="{FF2B5EF4-FFF2-40B4-BE49-F238E27FC236}">
                <a16:creationId xmlns:a16="http://schemas.microsoft.com/office/drawing/2014/main" id="{1DB3EA41-323B-9100-518B-BA60385B585D}"/>
              </a:ext>
            </a:extLst>
          </p:cNvPr>
          <p:cNvSpPr/>
          <p:nvPr/>
        </p:nvSpPr>
        <p:spPr>
          <a:xfrm>
            <a:off x="559744" y="10508042"/>
            <a:ext cx="124984" cy="137202"/>
          </a:xfrm>
          <a:prstGeom prst="ellipse">
            <a:avLst/>
          </a:prstGeom>
          <a:solidFill>
            <a:srgbClr val="1C3557"/>
          </a:solidFill>
          <a:ln w="12700">
            <a:solidFill>
              <a:srgbClr val="1C3557"/>
            </a:solidFill>
            <a:prstDash val="solid"/>
          </a:ln>
        </p:spPr>
        <p:txBody>
          <a:bodyPr/>
          <a:lstStyle/>
          <a:p>
            <a:endParaRPr lang="ko-KR" altLang="en-US" sz="2200">
              <a:latin typeface="Times New Roman" panose="02020603050405020304" pitchFamily="18" charset="0"/>
              <a:cs typeface="Times New Roman" panose="02020603050405020304" pitchFamily="18" charset="0"/>
            </a:endParaRPr>
          </a:p>
        </p:txBody>
      </p:sp>
      <p:sp>
        <p:nvSpPr>
          <p:cNvPr id="54" name="Text 12">
            <a:extLst>
              <a:ext uri="{FF2B5EF4-FFF2-40B4-BE49-F238E27FC236}">
                <a16:creationId xmlns:a16="http://schemas.microsoft.com/office/drawing/2014/main" id="{1B52B6C5-C18E-B736-E429-890CF4459988}"/>
              </a:ext>
            </a:extLst>
          </p:cNvPr>
          <p:cNvSpPr/>
          <p:nvPr/>
        </p:nvSpPr>
        <p:spPr>
          <a:xfrm>
            <a:off x="834710" y="10254275"/>
            <a:ext cx="4474449" cy="576247"/>
          </a:xfrm>
          <a:prstGeom prst="rect">
            <a:avLst/>
          </a:prstGeom>
          <a:noFill/>
          <a:ln/>
        </p:spPr>
        <p:txBody>
          <a:bodyPr wrap="square" lIns="0" tIns="0" rIns="0" bIns="0" rtlCol="0" anchor="ctr"/>
          <a:lstStyle/>
          <a:p>
            <a:r>
              <a:rPr lang="en-US" sz="2200" b="1" dirty="0">
                <a:solidFill>
                  <a:srgbClr val="1A1A1A"/>
                </a:solidFill>
                <a:latin typeface="Times New Roman" panose="02020603050405020304" pitchFamily="18" charset="0"/>
                <a:cs typeface="Times New Roman" panose="02020603050405020304" pitchFamily="18" charset="0"/>
              </a:rPr>
              <a:t>Test</a:t>
            </a:r>
            <a:r>
              <a:rPr lang="en-US" sz="2200" dirty="0">
                <a:solidFill>
                  <a:srgbClr val="1A1A1A"/>
                </a:solidFill>
                <a:latin typeface="Times New Roman" panose="02020603050405020304" pitchFamily="18" charset="0"/>
                <a:cs typeface="Times New Roman" panose="02020603050405020304" pitchFamily="18" charset="0"/>
              </a:rPr>
              <a:t>:  200 simulations  (in-distribution)</a:t>
            </a:r>
            <a:endParaRPr lang="en-US" sz="2200" dirty="0">
              <a:latin typeface="Times New Roman" panose="02020603050405020304" pitchFamily="18" charset="0"/>
              <a:cs typeface="Times New Roman" panose="02020603050405020304" pitchFamily="18" charset="0"/>
            </a:endParaRPr>
          </a:p>
        </p:txBody>
      </p:sp>
      <p:sp>
        <p:nvSpPr>
          <p:cNvPr id="55" name="Shape 13">
            <a:extLst>
              <a:ext uri="{FF2B5EF4-FFF2-40B4-BE49-F238E27FC236}">
                <a16:creationId xmlns:a16="http://schemas.microsoft.com/office/drawing/2014/main" id="{6A7847E0-D195-3D9E-03C2-028AD6C7AC47}"/>
              </a:ext>
            </a:extLst>
          </p:cNvPr>
          <p:cNvSpPr/>
          <p:nvPr/>
        </p:nvSpPr>
        <p:spPr>
          <a:xfrm>
            <a:off x="559744" y="11101518"/>
            <a:ext cx="124984" cy="137202"/>
          </a:xfrm>
          <a:prstGeom prst="ellipse">
            <a:avLst/>
          </a:prstGeom>
          <a:solidFill>
            <a:srgbClr val="1C3557"/>
          </a:solidFill>
          <a:ln w="12700">
            <a:solidFill>
              <a:srgbClr val="1C3557"/>
            </a:solidFill>
            <a:prstDash val="solid"/>
          </a:ln>
        </p:spPr>
        <p:txBody>
          <a:bodyPr/>
          <a:lstStyle/>
          <a:p>
            <a:endParaRPr lang="ko-KR" altLang="en-US" sz="2200">
              <a:latin typeface="Times New Roman" panose="02020603050405020304" pitchFamily="18" charset="0"/>
              <a:cs typeface="Times New Roman" panose="02020603050405020304" pitchFamily="18" charset="0"/>
            </a:endParaRPr>
          </a:p>
        </p:txBody>
      </p:sp>
      <p:sp>
        <p:nvSpPr>
          <p:cNvPr id="56" name="Text 14">
            <a:extLst>
              <a:ext uri="{FF2B5EF4-FFF2-40B4-BE49-F238E27FC236}">
                <a16:creationId xmlns:a16="http://schemas.microsoft.com/office/drawing/2014/main" id="{6D704A7F-4F32-404F-31B0-ACC131B3F31A}"/>
              </a:ext>
            </a:extLst>
          </p:cNvPr>
          <p:cNvSpPr/>
          <p:nvPr/>
        </p:nvSpPr>
        <p:spPr>
          <a:xfrm>
            <a:off x="848321" y="10845500"/>
            <a:ext cx="4633669" cy="576247"/>
          </a:xfrm>
          <a:prstGeom prst="rect">
            <a:avLst/>
          </a:prstGeom>
          <a:noFill/>
          <a:ln/>
        </p:spPr>
        <p:txBody>
          <a:bodyPr wrap="square" lIns="0" tIns="0" rIns="0" bIns="0" rtlCol="0" anchor="ctr"/>
          <a:lstStyle/>
          <a:p>
            <a:r>
              <a:rPr lang="en-US" sz="2200" b="1" dirty="0">
                <a:solidFill>
                  <a:srgbClr val="1A1A1A"/>
                </a:solidFill>
                <a:latin typeface="Times New Roman" panose="02020603050405020304" pitchFamily="18" charset="0"/>
                <a:cs typeface="Times New Roman" panose="02020603050405020304" pitchFamily="18" charset="0"/>
              </a:rPr>
              <a:t>OOD Test</a:t>
            </a:r>
            <a:r>
              <a:rPr lang="en-US" sz="2200" dirty="0">
                <a:solidFill>
                  <a:srgbClr val="1A1A1A"/>
                </a:solidFill>
                <a:latin typeface="Times New Roman" panose="02020603050405020304" pitchFamily="18" charset="0"/>
                <a:cs typeface="Times New Roman" panose="02020603050405020304" pitchFamily="18" charset="0"/>
              </a:rPr>
              <a:t>:  496 simulations (unseen Re)</a:t>
            </a:r>
            <a:endParaRPr lang="en-US" sz="2200" dirty="0">
              <a:latin typeface="Times New Roman" panose="02020603050405020304" pitchFamily="18" charset="0"/>
              <a:cs typeface="Times New Roman" panose="02020603050405020304" pitchFamily="18" charset="0"/>
            </a:endParaRPr>
          </a:p>
        </p:txBody>
      </p:sp>
      <p:grpSp>
        <p:nvGrpSpPr>
          <p:cNvPr id="88" name="그룹 87">
            <a:extLst>
              <a:ext uri="{FF2B5EF4-FFF2-40B4-BE49-F238E27FC236}">
                <a16:creationId xmlns:a16="http://schemas.microsoft.com/office/drawing/2014/main" id="{1D2D7BA4-35E2-0653-D568-776C54913FB5}"/>
              </a:ext>
            </a:extLst>
          </p:cNvPr>
          <p:cNvGrpSpPr/>
          <p:nvPr/>
        </p:nvGrpSpPr>
        <p:grpSpPr>
          <a:xfrm>
            <a:off x="5567530" y="6121402"/>
            <a:ext cx="4520041" cy="5294850"/>
            <a:chOff x="14433946" y="11176290"/>
            <a:chExt cx="6156431" cy="6705834"/>
          </a:xfrm>
        </p:grpSpPr>
        <p:sp>
          <p:nvSpPr>
            <p:cNvPr id="68" name="Text 37">
              <a:extLst>
                <a:ext uri="{FF2B5EF4-FFF2-40B4-BE49-F238E27FC236}">
                  <a16:creationId xmlns:a16="http://schemas.microsoft.com/office/drawing/2014/main" id="{D9649C1A-E053-679A-3673-F3A61947B9BC}"/>
                </a:ext>
              </a:extLst>
            </p:cNvPr>
            <p:cNvSpPr/>
            <p:nvPr/>
          </p:nvSpPr>
          <p:spPr>
            <a:xfrm>
              <a:off x="14433946" y="11176290"/>
              <a:ext cx="6094333" cy="561320"/>
            </a:xfrm>
            <a:prstGeom prst="rect">
              <a:avLst/>
            </a:prstGeom>
            <a:noFill/>
            <a:ln/>
          </p:spPr>
          <p:txBody>
            <a:bodyPr wrap="square" lIns="0" tIns="0" rIns="0" bIns="0" rtlCol="0" anchor="ctr"/>
            <a:lstStyle/>
            <a:p>
              <a:r>
                <a:rPr lang="en-US" sz="2105" b="1" dirty="0">
                  <a:solidFill>
                    <a:srgbClr val="1C3557"/>
                  </a:solidFill>
                  <a:latin typeface="Times New Roman" panose="02020603050405020304" pitchFamily="18" charset="0"/>
                  <a:cs typeface="Times New Roman" panose="02020603050405020304" pitchFamily="18" charset="0"/>
                </a:rPr>
                <a:t>Inputs  (per mesh node)</a:t>
              </a:r>
              <a:endParaRPr lang="en-US" sz="2105" dirty="0">
                <a:latin typeface="Times New Roman" panose="02020603050405020304" pitchFamily="18" charset="0"/>
                <a:cs typeface="Times New Roman" panose="02020603050405020304" pitchFamily="18" charset="0"/>
              </a:endParaRPr>
            </a:p>
          </p:txBody>
        </p:sp>
        <p:sp>
          <p:nvSpPr>
            <p:cNvPr id="69" name="Shape 38">
              <a:extLst>
                <a:ext uri="{FF2B5EF4-FFF2-40B4-BE49-F238E27FC236}">
                  <a16:creationId xmlns:a16="http://schemas.microsoft.com/office/drawing/2014/main" id="{A15AEA27-6D61-0CF3-B3FF-7C06120A7707}"/>
                </a:ext>
              </a:extLst>
            </p:cNvPr>
            <p:cNvSpPr/>
            <p:nvPr/>
          </p:nvSpPr>
          <p:spPr>
            <a:xfrm>
              <a:off x="14594324" y="12042326"/>
              <a:ext cx="160377" cy="160377"/>
            </a:xfrm>
            <a:prstGeom prst="ellipse">
              <a:avLst/>
            </a:prstGeom>
            <a:solidFill>
              <a:srgbClr val="4A90D9"/>
            </a:solidFill>
            <a:ln w="12700">
              <a:solidFill>
                <a:srgbClr val="4A90D9"/>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70" name="Text 39">
              <a:extLst>
                <a:ext uri="{FF2B5EF4-FFF2-40B4-BE49-F238E27FC236}">
                  <a16:creationId xmlns:a16="http://schemas.microsoft.com/office/drawing/2014/main" id="{E52999A1-F68F-03F0-03C6-0B51736D2621}"/>
                </a:ext>
              </a:extLst>
            </p:cNvPr>
            <p:cNvSpPr/>
            <p:nvPr/>
          </p:nvSpPr>
          <p:spPr>
            <a:xfrm>
              <a:off x="14977174" y="11819868"/>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Position              (x, y)</a:t>
              </a:r>
              <a:endParaRPr lang="en-US" sz="2017" dirty="0">
                <a:latin typeface="Times New Roman" panose="02020603050405020304" pitchFamily="18" charset="0"/>
                <a:cs typeface="Times New Roman" panose="02020603050405020304" pitchFamily="18" charset="0"/>
              </a:endParaRPr>
            </a:p>
          </p:txBody>
        </p:sp>
        <p:sp>
          <p:nvSpPr>
            <p:cNvPr id="71" name="Shape 40">
              <a:extLst>
                <a:ext uri="{FF2B5EF4-FFF2-40B4-BE49-F238E27FC236}">
                  <a16:creationId xmlns:a16="http://schemas.microsoft.com/office/drawing/2014/main" id="{B95B938D-EB12-AEC6-1C07-B99EF4A305A1}"/>
                </a:ext>
              </a:extLst>
            </p:cNvPr>
            <p:cNvSpPr/>
            <p:nvPr/>
          </p:nvSpPr>
          <p:spPr>
            <a:xfrm>
              <a:off x="14594324" y="12764024"/>
              <a:ext cx="160377" cy="160377"/>
            </a:xfrm>
            <a:prstGeom prst="ellipse">
              <a:avLst/>
            </a:prstGeom>
            <a:solidFill>
              <a:srgbClr val="4A90D9"/>
            </a:solidFill>
            <a:ln w="12700">
              <a:solidFill>
                <a:srgbClr val="4A90D9"/>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72" name="Text 41">
              <a:extLst>
                <a:ext uri="{FF2B5EF4-FFF2-40B4-BE49-F238E27FC236}">
                  <a16:creationId xmlns:a16="http://schemas.microsoft.com/office/drawing/2014/main" id="{CCCEFFEC-33B2-2F79-41FA-E10B11AA1539}"/>
                </a:ext>
              </a:extLst>
            </p:cNvPr>
            <p:cNvSpPr/>
            <p:nvPr/>
          </p:nvSpPr>
          <p:spPr>
            <a:xfrm>
              <a:off x="14977174" y="12541566"/>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Inlet velocity        (u, v)</a:t>
              </a:r>
              <a:endParaRPr lang="en-US" sz="2017" dirty="0">
                <a:latin typeface="Times New Roman" panose="02020603050405020304" pitchFamily="18" charset="0"/>
                <a:cs typeface="Times New Roman" panose="02020603050405020304" pitchFamily="18" charset="0"/>
              </a:endParaRPr>
            </a:p>
          </p:txBody>
        </p:sp>
        <p:sp>
          <p:nvSpPr>
            <p:cNvPr id="74" name="Shape 42">
              <a:extLst>
                <a:ext uri="{FF2B5EF4-FFF2-40B4-BE49-F238E27FC236}">
                  <a16:creationId xmlns:a16="http://schemas.microsoft.com/office/drawing/2014/main" id="{D56A4599-1509-1712-0046-A7D4C3F73D04}"/>
                </a:ext>
              </a:extLst>
            </p:cNvPr>
            <p:cNvSpPr/>
            <p:nvPr/>
          </p:nvSpPr>
          <p:spPr>
            <a:xfrm>
              <a:off x="14594324" y="13485721"/>
              <a:ext cx="160377" cy="160377"/>
            </a:xfrm>
            <a:prstGeom prst="ellipse">
              <a:avLst/>
            </a:prstGeom>
            <a:solidFill>
              <a:srgbClr val="4A90D9"/>
            </a:solidFill>
            <a:ln w="12700">
              <a:solidFill>
                <a:srgbClr val="4A90D9"/>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75" name="Text 43">
              <a:extLst>
                <a:ext uri="{FF2B5EF4-FFF2-40B4-BE49-F238E27FC236}">
                  <a16:creationId xmlns:a16="http://schemas.microsoft.com/office/drawing/2014/main" id="{43FD342C-4E5B-9062-548E-88A8231D2DB6}"/>
                </a:ext>
              </a:extLst>
            </p:cNvPr>
            <p:cNvSpPr/>
            <p:nvPr/>
          </p:nvSpPr>
          <p:spPr>
            <a:xfrm>
              <a:off x="14977174" y="13263263"/>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Surface normal        (nₓ, nᵧ)</a:t>
              </a:r>
              <a:endParaRPr lang="en-US" sz="2017" dirty="0">
                <a:latin typeface="Times New Roman" panose="02020603050405020304" pitchFamily="18" charset="0"/>
                <a:cs typeface="Times New Roman" panose="02020603050405020304" pitchFamily="18" charset="0"/>
              </a:endParaRPr>
            </a:p>
          </p:txBody>
        </p:sp>
        <p:sp>
          <p:nvSpPr>
            <p:cNvPr id="76" name="Shape 44">
              <a:extLst>
                <a:ext uri="{FF2B5EF4-FFF2-40B4-BE49-F238E27FC236}">
                  <a16:creationId xmlns:a16="http://schemas.microsoft.com/office/drawing/2014/main" id="{8CB34842-FB4B-B711-170C-6B9639D58719}"/>
                </a:ext>
              </a:extLst>
            </p:cNvPr>
            <p:cNvSpPr/>
            <p:nvPr/>
          </p:nvSpPr>
          <p:spPr>
            <a:xfrm>
              <a:off x="14594324" y="14207418"/>
              <a:ext cx="160377" cy="160377"/>
            </a:xfrm>
            <a:prstGeom prst="ellipse">
              <a:avLst/>
            </a:prstGeom>
            <a:solidFill>
              <a:srgbClr val="4A90D9"/>
            </a:solidFill>
            <a:ln w="12700">
              <a:solidFill>
                <a:srgbClr val="4A90D9"/>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77" name="Text 45">
              <a:extLst>
                <a:ext uri="{FF2B5EF4-FFF2-40B4-BE49-F238E27FC236}">
                  <a16:creationId xmlns:a16="http://schemas.microsoft.com/office/drawing/2014/main" id="{E9A7C585-5C73-33AC-4719-B1C282F3D63C}"/>
                </a:ext>
              </a:extLst>
            </p:cNvPr>
            <p:cNvSpPr/>
            <p:nvPr/>
          </p:nvSpPr>
          <p:spPr>
            <a:xfrm>
              <a:off x="14977174" y="13984960"/>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Distance to surface   d</a:t>
              </a:r>
              <a:endParaRPr lang="en-US" sz="2017" dirty="0">
                <a:latin typeface="Times New Roman" panose="02020603050405020304" pitchFamily="18" charset="0"/>
                <a:cs typeface="Times New Roman" panose="02020603050405020304" pitchFamily="18" charset="0"/>
              </a:endParaRPr>
            </a:p>
          </p:txBody>
        </p:sp>
        <p:sp>
          <p:nvSpPr>
            <p:cNvPr id="78" name="Shape 46">
              <a:extLst>
                <a:ext uri="{FF2B5EF4-FFF2-40B4-BE49-F238E27FC236}">
                  <a16:creationId xmlns:a16="http://schemas.microsoft.com/office/drawing/2014/main" id="{65BDA6B7-6A8F-EF6F-A9A2-740134737E20}"/>
                </a:ext>
              </a:extLst>
            </p:cNvPr>
            <p:cNvSpPr/>
            <p:nvPr/>
          </p:nvSpPr>
          <p:spPr>
            <a:xfrm>
              <a:off x="14433946" y="14929116"/>
              <a:ext cx="6094333" cy="0"/>
            </a:xfrm>
            <a:prstGeom prst="line">
              <a:avLst/>
            </a:prstGeom>
            <a:noFill/>
            <a:ln w="6350">
              <a:solidFill>
                <a:srgbClr val="BBBBBB"/>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80" name="Text 47">
              <a:extLst>
                <a:ext uri="{FF2B5EF4-FFF2-40B4-BE49-F238E27FC236}">
                  <a16:creationId xmlns:a16="http://schemas.microsoft.com/office/drawing/2014/main" id="{F91BDD51-508B-5114-5D88-2CDB3634717D}"/>
                </a:ext>
              </a:extLst>
            </p:cNvPr>
            <p:cNvSpPr/>
            <p:nvPr/>
          </p:nvSpPr>
          <p:spPr>
            <a:xfrm>
              <a:off x="14433946" y="15089493"/>
              <a:ext cx="6094333" cy="561320"/>
            </a:xfrm>
            <a:prstGeom prst="rect">
              <a:avLst/>
            </a:prstGeom>
            <a:noFill/>
            <a:ln/>
          </p:spPr>
          <p:txBody>
            <a:bodyPr wrap="square" lIns="0" tIns="0" rIns="0" bIns="0" rtlCol="0" anchor="ctr"/>
            <a:lstStyle/>
            <a:p>
              <a:r>
                <a:rPr lang="en-US" sz="2105" b="1" dirty="0">
                  <a:solidFill>
                    <a:srgbClr val="1C3557"/>
                  </a:solidFill>
                  <a:latin typeface="Times New Roman" panose="02020603050405020304" pitchFamily="18" charset="0"/>
                  <a:cs typeface="Times New Roman" panose="02020603050405020304" pitchFamily="18" charset="0"/>
                </a:rPr>
                <a:t>Outputs  (target flow fields)</a:t>
              </a:r>
              <a:endParaRPr lang="en-US" sz="2105" dirty="0">
                <a:latin typeface="Times New Roman" panose="02020603050405020304" pitchFamily="18" charset="0"/>
                <a:cs typeface="Times New Roman" panose="02020603050405020304" pitchFamily="18" charset="0"/>
              </a:endParaRPr>
            </a:p>
          </p:txBody>
        </p:sp>
        <p:sp>
          <p:nvSpPr>
            <p:cNvPr id="81" name="Shape 48">
              <a:extLst>
                <a:ext uri="{FF2B5EF4-FFF2-40B4-BE49-F238E27FC236}">
                  <a16:creationId xmlns:a16="http://schemas.microsoft.com/office/drawing/2014/main" id="{0C92310D-22B4-AF0A-C3FF-19B46B517E51}"/>
                </a:ext>
              </a:extLst>
            </p:cNvPr>
            <p:cNvSpPr/>
            <p:nvPr/>
          </p:nvSpPr>
          <p:spPr>
            <a:xfrm>
              <a:off x="14594324" y="15955530"/>
              <a:ext cx="160377" cy="160377"/>
            </a:xfrm>
            <a:prstGeom prst="ellipse">
              <a:avLst/>
            </a:prstGeom>
            <a:solidFill>
              <a:srgbClr val="E05C2A"/>
            </a:solidFill>
            <a:ln w="12700">
              <a:solidFill>
                <a:srgbClr val="E05C2A"/>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82" name="Text 49">
              <a:extLst>
                <a:ext uri="{FF2B5EF4-FFF2-40B4-BE49-F238E27FC236}">
                  <a16:creationId xmlns:a16="http://schemas.microsoft.com/office/drawing/2014/main" id="{766CFC63-A8FE-AD26-77F8-3FC789390438}"/>
                </a:ext>
              </a:extLst>
            </p:cNvPr>
            <p:cNvSpPr/>
            <p:nvPr/>
          </p:nvSpPr>
          <p:spPr>
            <a:xfrm>
              <a:off x="14977174" y="15733071"/>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Velocity              (u, v)</a:t>
              </a:r>
              <a:endParaRPr lang="en-US" sz="2017" dirty="0">
                <a:latin typeface="Times New Roman" panose="02020603050405020304" pitchFamily="18" charset="0"/>
                <a:cs typeface="Times New Roman" panose="02020603050405020304" pitchFamily="18" charset="0"/>
              </a:endParaRPr>
            </a:p>
          </p:txBody>
        </p:sp>
        <p:sp>
          <p:nvSpPr>
            <p:cNvPr id="83" name="Shape 50">
              <a:extLst>
                <a:ext uri="{FF2B5EF4-FFF2-40B4-BE49-F238E27FC236}">
                  <a16:creationId xmlns:a16="http://schemas.microsoft.com/office/drawing/2014/main" id="{5C7338DC-FF00-EDCD-43CC-A11BD2DC2863}"/>
                </a:ext>
              </a:extLst>
            </p:cNvPr>
            <p:cNvSpPr/>
            <p:nvPr/>
          </p:nvSpPr>
          <p:spPr>
            <a:xfrm>
              <a:off x="14594324" y="16725340"/>
              <a:ext cx="160377" cy="160377"/>
            </a:xfrm>
            <a:prstGeom prst="ellipse">
              <a:avLst/>
            </a:prstGeom>
            <a:solidFill>
              <a:srgbClr val="E05C2A"/>
            </a:solidFill>
            <a:ln w="12700">
              <a:solidFill>
                <a:srgbClr val="E05C2A"/>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84" name="Text 51">
              <a:extLst>
                <a:ext uri="{FF2B5EF4-FFF2-40B4-BE49-F238E27FC236}">
                  <a16:creationId xmlns:a16="http://schemas.microsoft.com/office/drawing/2014/main" id="{65C0CED4-9FFB-5DD2-1880-18E4E307D829}"/>
                </a:ext>
              </a:extLst>
            </p:cNvPr>
            <p:cNvSpPr/>
            <p:nvPr/>
          </p:nvSpPr>
          <p:spPr>
            <a:xfrm>
              <a:off x="14977174" y="16502882"/>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Pressure/density      (p/ρ)</a:t>
              </a:r>
              <a:endParaRPr lang="en-US" sz="2017" dirty="0">
                <a:latin typeface="Times New Roman" panose="02020603050405020304" pitchFamily="18" charset="0"/>
                <a:cs typeface="Times New Roman" panose="02020603050405020304" pitchFamily="18" charset="0"/>
              </a:endParaRPr>
            </a:p>
          </p:txBody>
        </p:sp>
        <p:sp>
          <p:nvSpPr>
            <p:cNvPr id="85" name="Shape 52">
              <a:extLst>
                <a:ext uri="{FF2B5EF4-FFF2-40B4-BE49-F238E27FC236}">
                  <a16:creationId xmlns:a16="http://schemas.microsoft.com/office/drawing/2014/main" id="{A8C5EC32-C55B-7F24-02CC-9B05705EEB86}"/>
                </a:ext>
              </a:extLst>
            </p:cNvPr>
            <p:cNvSpPr/>
            <p:nvPr/>
          </p:nvSpPr>
          <p:spPr>
            <a:xfrm>
              <a:off x="14594324" y="17495151"/>
              <a:ext cx="160377" cy="160377"/>
            </a:xfrm>
            <a:prstGeom prst="ellipse">
              <a:avLst/>
            </a:prstGeom>
            <a:solidFill>
              <a:srgbClr val="E05C2A"/>
            </a:solidFill>
            <a:ln w="12700">
              <a:solidFill>
                <a:srgbClr val="E05C2A"/>
              </a:solidFill>
              <a:prstDash val="solid"/>
            </a:ln>
          </p:spPr>
          <p:txBody>
            <a:bodyPr/>
            <a:lstStyle/>
            <a:p>
              <a:endParaRPr lang="ko-KR" altLang="en-US" sz="11278">
                <a:latin typeface="Times New Roman" panose="02020603050405020304" pitchFamily="18" charset="0"/>
                <a:cs typeface="Times New Roman" panose="02020603050405020304" pitchFamily="18" charset="0"/>
              </a:endParaRPr>
            </a:p>
          </p:txBody>
        </p:sp>
        <p:sp>
          <p:nvSpPr>
            <p:cNvPr id="86" name="Text 53">
              <a:extLst>
                <a:ext uri="{FF2B5EF4-FFF2-40B4-BE49-F238E27FC236}">
                  <a16:creationId xmlns:a16="http://schemas.microsoft.com/office/drawing/2014/main" id="{BBA86BAE-2288-B53A-CA09-CA797172E4F5}"/>
                </a:ext>
              </a:extLst>
            </p:cNvPr>
            <p:cNvSpPr/>
            <p:nvPr/>
          </p:nvSpPr>
          <p:spPr>
            <a:xfrm>
              <a:off x="14977175" y="17272691"/>
              <a:ext cx="5613202" cy="609433"/>
            </a:xfrm>
            <a:prstGeom prst="rect">
              <a:avLst/>
            </a:prstGeom>
            <a:noFill/>
            <a:ln/>
          </p:spPr>
          <p:txBody>
            <a:bodyPr wrap="square" lIns="0" tIns="0" rIns="0" bIns="0" rtlCol="0" anchor="ctr"/>
            <a:lstStyle/>
            <a:p>
              <a:r>
                <a:rPr lang="en-US" sz="2017" dirty="0">
                  <a:solidFill>
                    <a:srgbClr val="1A1A1A"/>
                  </a:solidFill>
                  <a:latin typeface="Times New Roman" panose="02020603050405020304" pitchFamily="18" charset="0"/>
                  <a:ea typeface="Consolas" pitchFamily="34" charset="-122"/>
                  <a:cs typeface="Times New Roman" panose="02020603050405020304" pitchFamily="18" charset="0"/>
                </a:rPr>
                <a:t>Turbulent viscosity   (νₜ)</a:t>
              </a:r>
              <a:endParaRPr lang="en-US" sz="2017"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100982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7B779-56E0-D30B-4659-2959159FA74D}"/>
            </a:ext>
          </a:extLst>
        </p:cNvPr>
        <p:cNvGrpSpPr/>
        <p:nvPr/>
      </p:nvGrpSpPr>
      <p:grpSpPr>
        <a:xfrm>
          <a:off x="0" y="0"/>
          <a:ext cx="0" cy="0"/>
          <a:chOff x="0" y="0"/>
          <a:chExt cx="0" cy="0"/>
        </a:xfrm>
      </p:grpSpPr>
      <p:sp>
        <p:nvSpPr>
          <p:cNvPr id="105" name="직사각형 104">
            <a:extLst>
              <a:ext uri="{FF2B5EF4-FFF2-40B4-BE49-F238E27FC236}">
                <a16:creationId xmlns:a16="http://schemas.microsoft.com/office/drawing/2014/main" id="{19994DB8-19FD-C47E-D318-3887818E941C}"/>
              </a:ext>
            </a:extLst>
          </p:cNvPr>
          <p:cNvSpPr/>
          <p:nvPr/>
        </p:nvSpPr>
        <p:spPr>
          <a:xfrm>
            <a:off x="10848282" y="17117166"/>
            <a:ext cx="10132506" cy="3767343"/>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38147CEE-6FE0-4D74-602D-5C4EA4609F6E}"/>
              </a:ext>
            </a:extLst>
          </p:cNvPr>
          <p:cNvSpPr/>
          <p:nvPr/>
        </p:nvSpPr>
        <p:spPr>
          <a:xfrm>
            <a:off x="10848282" y="6128508"/>
            <a:ext cx="10132506" cy="3642665"/>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7" name="직사각형 106">
            <a:extLst>
              <a:ext uri="{FF2B5EF4-FFF2-40B4-BE49-F238E27FC236}">
                <a16:creationId xmlns:a16="http://schemas.microsoft.com/office/drawing/2014/main" id="{0360A8DB-B7C6-D67D-2BDD-5B315198870D}"/>
              </a:ext>
            </a:extLst>
          </p:cNvPr>
          <p:cNvSpPr/>
          <p:nvPr/>
        </p:nvSpPr>
        <p:spPr>
          <a:xfrm>
            <a:off x="325631" y="6128509"/>
            <a:ext cx="10132506" cy="3306896"/>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직사각형 102">
            <a:extLst>
              <a:ext uri="{FF2B5EF4-FFF2-40B4-BE49-F238E27FC236}">
                <a16:creationId xmlns:a16="http://schemas.microsoft.com/office/drawing/2014/main" id="{9D00F8E7-521C-790D-2DEB-FB81BF2B8F88}"/>
              </a:ext>
            </a:extLst>
          </p:cNvPr>
          <p:cNvSpPr/>
          <p:nvPr/>
        </p:nvSpPr>
        <p:spPr>
          <a:xfrm>
            <a:off x="402838" y="17117166"/>
            <a:ext cx="10132506" cy="3642665"/>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제목 1">
            <a:extLst>
              <a:ext uri="{FF2B5EF4-FFF2-40B4-BE49-F238E27FC236}">
                <a16:creationId xmlns:a16="http://schemas.microsoft.com/office/drawing/2014/main" id="{3302640E-9821-4883-2D0E-C65655C90E1F}"/>
              </a:ext>
            </a:extLst>
          </p:cNvPr>
          <p:cNvSpPr txBox="1">
            <a:spLocks/>
          </p:cNvSpPr>
          <p:nvPr/>
        </p:nvSpPr>
        <p:spPr>
          <a:xfrm>
            <a:off x="194863" y="-107131"/>
            <a:ext cx="15063043" cy="3966443"/>
          </a:xfrm>
          <a:prstGeom prst="rect">
            <a:avLst/>
          </a:prstGeom>
        </p:spPr>
        <p:txBody>
          <a:bodyPr vert="horz" lIns="327331" tIns="163665" rIns="327331" bIns="163665" rtlCol="0" anchor="ctr">
            <a:noAutofit/>
          </a:bodyPr>
          <a:lstStyle>
            <a:lvl1pPr algn="ctr" defTabSz="4635115" rtl="0" eaLnBrk="1" latinLnBrk="1" hangingPunct="1">
              <a:spcBef>
                <a:spcPct val="0"/>
              </a:spcBef>
              <a:buNone/>
              <a:defRPr sz="22300" kern="1200">
                <a:solidFill>
                  <a:schemeClr val="tx1"/>
                </a:solidFill>
                <a:latin typeface="+mj-lt"/>
                <a:ea typeface="+mj-ea"/>
                <a:cs typeface="+mj-cs"/>
              </a:defRPr>
            </a:lvl1pPr>
          </a:lstStyle>
          <a:p>
            <a:r>
              <a:rPr lang="en-US" altLang="ko-KR" sz="4800" b="1" dirty="0">
                <a:latin typeface="Times New Roman" panose="02020603050405020304" pitchFamily="18" charset="0"/>
                <a:cs typeface="Times New Roman" panose="02020603050405020304" pitchFamily="18" charset="0"/>
              </a:rPr>
              <a:t>Comparative Study of 2D Lid-Driven Cavity Flow Across Python, Ansys Fluent, and </a:t>
            </a:r>
            <a:r>
              <a:rPr lang="en-US" altLang="ko-KR" sz="4800" b="1" dirty="0" err="1">
                <a:latin typeface="Times New Roman" panose="02020603050405020304" pitchFamily="18" charset="0"/>
                <a:cs typeface="Times New Roman" panose="02020603050405020304" pitchFamily="18" charset="0"/>
              </a:rPr>
              <a:t>OpenFOAM</a:t>
            </a:r>
            <a:br>
              <a:rPr lang="en-US" altLang="ko-KR" sz="5650" dirty="0"/>
            </a:br>
            <a:r>
              <a:rPr lang="en-US" altLang="ko-KR" sz="2450" dirty="0">
                <a:ea typeface="맑은 고딕"/>
              </a:rPr>
              <a:t>Seong Won Jeong</a:t>
            </a:r>
            <a:r>
              <a:rPr lang="en-US" sz="2450" i="1" baseline="30000" dirty="0">
                <a:latin typeface="Malgun Gothic"/>
                <a:ea typeface="Malgun Gothic"/>
              </a:rPr>
              <a:t>1</a:t>
            </a:r>
            <a:r>
              <a:rPr lang="en-US" altLang="ko-KR" sz="2450" dirty="0">
                <a:ea typeface="맑은 고딕"/>
              </a:rPr>
              <a:t>, Hye Rin Lim</a:t>
            </a:r>
            <a:r>
              <a:rPr lang="en-US" sz="2450" i="1" baseline="30000" dirty="0">
                <a:latin typeface="Malgun Gothic"/>
                <a:ea typeface="Malgun Gothic"/>
              </a:rPr>
              <a:t>2</a:t>
            </a:r>
            <a:r>
              <a:rPr lang="en-US" altLang="ko-KR" sz="2450" dirty="0">
                <a:ea typeface="맑은 고딕"/>
              </a:rPr>
              <a:t>, Ki Sung Park</a:t>
            </a:r>
            <a:r>
              <a:rPr lang="en-US" altLang="ko-KR" sz="2450" baseline="30000" dirty="0">
                <a:ea typeface="맑은 고딕"/>
              </a:rPr>
              <a:t>3</a:t>
            </a:r>
            <a:br>
              <a:rPr lang="ko-KR" altLang="ko-KR" sz="2450" dirty="0"/>
            </a:br>
            <a:r>
              <a:rPr lang="en-US" altLang="ko-KR" sz="2450" i="1" baseline="30000" dirty="0">
                <a:ea typeface="맑은 고딕"/>
              </a:rPr>
              <a:t>1</a:t>
            </a:r>
            <a:r>
              <a:rPr lang="en-US" altLang="ko-KR" sz="2450" i="1" dirty="0">
                <a:ea typeface="맑은 고딕"/>
              </a:rPr>
              <a:t>Department of Atmospheric Sciences, University of Yonsei, Seoul, Korea</a:t>
            </a:r>
            <a:br>
              <a:rPr lang="ko-KR" altLang="ko-KR" sz="2450" dirty="0"/>
            </a:br>
            <a:r>
              <a:rPr lang="en-US" altLang="ko-KR" sz="2450" i="1" baseline="30000" dirty="0">
                <a:ea typeface="맑은 고딕"/>
              </a:rPr>
              <a:t>2</a:t>
            </a:r>
            <a:r>
              <a:rPr lang="en-US" altLang="ko-KR" sz="2450" i="1" dirty="0">
                <a:ea typeface="맑은 고딕"/>
              </a:rPr>
              <a:t>Department of </a:t>
            </a:r>
            <a:r>
              <a:rPr lang="en-US" sz="2500" i="1" dirty="0">
                <a:latin typeface="Malgun Gothic"/>
                <a:ea typeface="Malgun Gothic"/>
              </a:rPr>
              <a:t>Mechanical Engineering, University of Yonsei, Seoul, Korea</a:t>
            </a:r>
          </a:p>
          <a:p>
            <a:r>
              <a:rPr lang="en-US" sz="2450" i="1" baseline="30000" dirty="0">
                <a:latin typeface="Malgun Gothic"/>
                <a:ea typeface="Malgun Gothic"/>
              </a:rPr>
              <a:t>3</a:t>
            </a:r>
            <a:r>
              <a:rPr lang="en-US" sz="2500" i="1" dirty="0">
                <a:latin typeface="Malgun Gothic"/>
                <a:ea typeface="Malgun Gothic"/>
              </a:rPr>
              <a:t>D</a:t>
            </a:r>
            <a:r>
              <a:rPr lang="en-US" sz="2500" i="1" dirty="0">
                <a:latin typeface="맑은 고딕"/>
                <a:ea typeface="맑은 고딕"/>
              </a:rPr>
              <a:t>epartment</a:t>
            </a:r>
            <a:r>
              <a:rPr lang="en-US" altLang="ko-KR" sz="2500" i="1" dirty="0">
                <a:latin typeface="Malgun Gothic"/>
                <a:ea typeface="+mj-lt"/>
              </a:rPr>
              <a:t> of </a:t>
            </a:r>
            <a:r>
              <a:rPr lang="en-US" sz="2500" i="1" dirty="0">
                <a:latin typeface="Malgun Gothic"/>
                <a:ea typeface="Malgun Gothic"/>
              </a:rPr>
              <a:t>Mechanical Systems Engineering</a:t>
            </a:r>
            <a:r>
              <a:rPr lang="en-US" altLang="ko-KR" sz="2500" i="1" dirty="0">
                <a:latin typeface="Malgun Gothic"/>
                <a:ea typeface="+mj-lt"/>
              </a:rPr>
              <a:t>, University of </a:t>
            </a:r>
            <a:r>
              <a:rPr lang="en-US" altLang="ko-KR" sz="2500" i="1" dirty="0" err="1">
                <a:latin typeface="Malgun Gothic"/>
                <a:ea typeface="+mj-lt"/>
              </a:rPr>
              <a:t>Myongji</a:t>
            </a:r>
            <a:r>
              <a:rPr lang="en-US" altLang="ko-KR" sz="2500" i="1" dirty="0">
                <a:latin typeface="Malgun Gothic"/>
                <a:ea typeface="+mj-lt"/>
              </a:rPr>
              <a:t>, </a:t>
            </a:r>
            <a:r>
              <a:rPr lang="en-US" altLang="ko-KR" sz="2500" i="1" dirty="0" err="1">
                <a:latin typeface="Malgun Gothic"/>
                <a:ea typeface="+mj-lt"/>
              </a:rPr>
              <a:t>Yongin</a:t>
            </a:r>
            <a:r>
              <a:rPr lang="en-US" altLang="ko-KR" sz="2500" i="1" dirty="0">
                <a:latin typeface="Malgun Gothic"/>
                <a:ea typeface="+mj-lt"/>
              </a:rPr>
              <a:t>, Korea</a:t>
            </a:r>
            <a:endParaRPr lang="ko-KR" altLang="en-US" sz="2450" dirty="0">
              <a:ea typeface="맑은 고딕"/>
            </a:endParaRPr>
          </a:p>
        </p:txBody>
      </p:sp>
      <p:sp>
        <p:nvSpPr>
          <p:cNvPr id="5" name="직사각형 4">
            <a:extLst>
              <a:ext uri="{FF2B5EF4-FFF2-40B4-BE49-F238E27FC236}">
                <a16:creationId xmlns:a16="http://schemas.microsoft.com/office/drawing/2014/main" id="{C406A558-95D6-AD0B-97E3-3CCFA87DFA84}"/>
              </a:ext>
            </a:extLst>
          </p:cNvPr>
          <p:cNvSpPr/>
          <p:nvPr/>
        </p:nvSpPr>
        <p:spPr>
          <a:xfrm>
            <a:off x="199510" y="255448"/>
            <a:ext cx="20986760" cy="2986577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541"/>
          </a:p>
        </p:txBody>
      </p:sp>
      <p:sp>
        <p:nvSpPr>
          <p:cNvPr id="100" name="직사각형 99">
            <a:extLst>
              <a:ext uri="{FF2B5EF4-FFF2-40B4-BE49-F238E27FC236}">
                <a16:creationId xmlns:a16="http://schemas.microsoft.com/office/drawing/2014/main" id="{01D08D17-042B-01AA-1CA7-5DCF58B9A70D}"/>
              </a:ext>
            </a:extLst>
          </p:cNvPr>
          <p:cNvSpPr/>
          <p:nvPr/>
        </p:nvSpPr>
        <p:spPr>
          <a:xfrm>
            <a:off x="349388" y="27363988"/>
            <a:ext cx="17980629" cy="2549430"/>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모서리가 둥근 직사각형 9">
            <a:extLst>
              <a:ext uri="{FF2B5EF4-FFF2-40B4-BE49-F238E27FC236}">
                <a16:creationId xmlns:a16="http://schemas.microsoft.com/office/drawing/2014/main" id="{9D19755A-28D9-19B4-AA56-387978E8FB2C}"/>
              </a:ext>
            </a:extLst>
          </p:cNvPr>
          <p:cNvSpPr/>
          <p:nvPr/>
        </p:nvSpPr>
        <p:spPr>
          <a:xfrm>
            <a:off x="384984" y="27378966"/>
            <a:ext cx="17924936" cy="514013"/>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a:solidFill>
                  <a:schemeClr val="tx1"/>
                </a:solidFill>
                <a:latin typeface="Times New Roman" panose="02020603050405020304" pitchFamily="18" charset="0"/>
                <a:cs typeface="Times New Roman" panose="02020603050405020304" pitchFamily="18" charset="0"/>
              </a:rPr>
              <a:t>Conclusion</a:t>
            </a:r>
            <a:endParaRPr lang="ko-KR" altLang="en-US" sz="3600">
              <a:solidFill>
                <a:schemeClr val="tx1"/>
              </a:solidFill>
              <a:latin typeface="Times New Roman" panose="02020603050405020304" pitchFamily="18" charset="0"/>
              <a:cs typeface="Times New Roman" panose="02020603050405020304" pitchFamily="18" charset="0"/>
            </a:endParaRPr>
          </a:p>
        </p:txBody>
      </p:sp>
      <p:sp>
        <p:nvSpPr>
          <p:cNvPr id="197" name="직사각형 196">
            <a:extLst>
              <a:ext uri="{FF2B5EF4-FFF2-40B4-BE49-F238E27FC236}">
                <a16:creationId xmlns:a16="http://schemas.microsoft.com/office/drawing/2014/main" id="{9D8A873A-724F-8C0F-D086-9EDA6030A651}"/>
              </a:ext>
            </a:extLst>
          </p:cNvPr>
          <p:cNvSpPr/>
          <p:nvPr/>
        </p:nvSpPr>
        <p:spPr>
          <a:xfrm>
            <a:off x="370767" y="27920664"/>
            <a:ext cx="17920059" cy="1569660"/>
          </a:xfrm>
          <a:prstGeom prst="rect">
            <a:avLst/>
          </a:prstGeom>
        </p:spPr>
        <p:txBody>
          <a:bodyPr wrap="square">
            <a:spAutoFit/>
          </a:bodyPr>
          <a:lstStyle/>
          <a:p>
            <a:pPr algn="just"/>
            <a:r>
              <a:rPr lang="en-US" altLang="ko-KR" sz="2400" dirty="0">
                <a:latin typeface="Times New Roman" panose="02020603050405020304" pitchFamily="18" charset="0"/>
                <a:cs typeface="Times New Roman" panose="02020603050405020304" pitchFamily="18" charset="0"/>
              </a:rPr>
              <a:t>This study applied a Python projection method, Ansys, and </a:t>
            </a:r>
            <a:r>
              <a:rPr lang="en-US" altLang="ko-KR" sz="2400" dirty="0" err="1">
                <a:latin typeface="Times New Roman" panose="02020603050405020304" pitchFamily="18" charset="0"/>
                <a:cs typeface="Times New Roman" panose="02020603050405020304" pitchFamily="18" charset="0"/>
              </a:rPr>
              <a:t>OpenFOAM</a:t>
            </a:r>
            <a:r>
              <a:rPr lang="en-US" altLang="ko-KR" sz="2400" dirty="0">
                <a:latin typeface="Times New Roman" panose="02020603050405020304" pitchFamily="18" charset="0"/>
                <a:cs typeface="Times New Roman" panose="02020603050405020304" pitchFamily="18" charset="0"/>
              </a:rPr>
              <a:t> to the two-dimensional lid-driven cavity problem. The results closely matched the benchmark data of Ghia et al. and showed strong agreement among the methods, confirming their reliability for this classical CFD case. Furthermore, the approach can be extended to rectangular cavities with different aspect ratios and is also applicable to three-dimensional configurations.</a:t>
            </a:r>
          </a:p>
        </p:txBody>
      </p:sp>
      <p:sp>
        <p:nvSpPr>
          <p:cNvPr id="18" name="모서리가 둥근 직사각형 9">
            <a:extLst>
              <a:ext uri="{FF2B5EF4-FFF2-40B4-BE49-F238E27FC236}">
                <a16:creationId xmlns:a16="http://schemas.microsoft.com/office/drawing/2014/main" id="{B831DC2F-B44B-7CEC-379C-B3B9FE89DF83}"/>
              </a:ext>
            </a:extLst>
          </p:cNvPr>
          <p:cNvSpPr/>
          <p:nvPr/>
        </p:nvSpPr>
        <p:spPr>
          <a:xfrm>
            <a:off x="402838" y="5562788"/>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Lid Driven Cavity</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6BF018C9-C8BF-5FA0-9ECB-E61A5545F722}"/>
              </a:ext>
            </a:extLst>
          </p:cNvPr>
          <p:cNvSpPr txBox="1"/>
          <p:nvPr/>
        </p:nvSpPr>
        <p:spPr>
          <a:xfrm>
            <a:off x="369592" y="6101471"/>
            <a:ext cx="9130666" cy="461665"/>
          </a:xfrm>
          <a:prstGeom prst="rect">
            <a:avLst/>
          </a:prstGeom>
          <a:noFill/>
        </p:spPr>
        <p:txBody>
          <a:bodyPr wrap="square" lIns="91440" tIns="45720" rIns="91440" bIns="45720" rtlCol="0" anchor="t">
            <a:spAutoFit/>
          </a:bodyPr>
          <a:lstStyle/>
          <a:p>
            <a:pPr marL="342900" indent="-342900">
              <a:buFont typeface="Wingdings" panose="05000000000000000000" pitchFamily="2" charset="2"/>
              <a:buChar char="u"/>
            </a:pPr>
            <a:r>
              <a:rPr lang="en-US" altLang="ko-KR" sz="2400" b="1" dirty="0">
                <a:latin typeface="Times New Roman"/>
                <a:ea typeface="맑은 고딕"/>
                <a:cs typeface="Times New Roman"/>
              </a:rPr>
              <a:t>Solve 2D lid driven cavity flow with Numerical Analysis </a:t>
            </a:r>
          </a:p>
        </p:txBody>
      </p:sp>
      <p:sp>
        <p:nvSpPr>
          <p:cNvPr id="22" name="TextBox 21">
            <a:extLst>
              <a:ext uri="{FF2B5EF4-FFF2-40B4-BE49-F238E27FC236}">
                <a16:creationId xmlns:a16="http://schemas.microsoft.com/office/drawing/2014/main" id="{F6A69888-B58C-2536-33D3-48D668C18D78}"/>
              </a:ext>
            </a:extLst>
          </p:cNvPr>
          <p:cNvSpPr txBox="1"/>
          <p:nvPr/>
        </p:nvSpPr>
        <p:spPr>
          <a:xfrm>
            <a:off x="590717" y="6573513"/>
            <a:ext cx="2998565" cy="430887"/>
          </a:xfrm>
          <a:prstGeom prst="rect">
            <a:avLst/>
          </a:prstGeom>
          <a:noFill/>
        </p:spPr>
        <p:txBody>
          <a:bodyPr wrap="square" rtlCol="0">
            <a:spAutoFit/>
          </a:bodyPr>
          <a:lstStyle/>
          <a:p>
            <a:r>
              <a:rPr lang="en-US" altLang="ko-KR" sz="2200" dirty="0">
                <a:latin typeface="Times New Roman" panose="02020603050405020304" pitchFamily="18" charset="0"/>
                <a:cs typeface="Times New Roman" panose="02020603050405020304" pitchFamily="18" charset="0"/>
              </a:rPr>
              <a:t>&lt;Governing Equation&gt;</a:t>
            </a:r>
          </a:p>
        </p:txBody>
      </p:sp>
      <p:grpSp>
        <p:nvGrpSpPr>
          <p:cNvPr id="2" name="그룹 1">
            <a:extLst>
              <a:ext uri="{FF2B5EF4-FFF2-40B4-BE49-F238E27FC236}">
                <a16:creationId xmlns:a16="http://schemas.microsoft.com/office/drawing/2014/main" id="{518B46A2-CF7D-DD77-ABD6-3B18E45B4F66}"/>
              </a:ext>
            </a:extLst>
          </p:cNvPr>
          <p:cNvGrpSpPr/>
          <p:nvPr/>
        </p:nvGrpSpPr>
        <p:grpSpPr>
          <a:xfrm>
            <a:off x="319806" y="3297277"/>
            <a:ext cx="20738305" cy="2133128"/>
            <a:chOff x="322659" y="4480422"/>
            <a:chExt cx="20738305" cy="2577332"/>
          </a:xfrm>
        </p:grpSpPr>
        <p:sp>
          <p:nvSpPr>
            <p:cNvPr id="4" name="직사각형 3">
              <a:extLst>
                <a:ext uri="{FF2B5EF4-FFF2-40B4-BE49-F238E27FC236}">
                  <a16:creationId xmlns:a16="http://schemas.microsoft.com/office/drawing/2014/main" id="{B218D44F-323D-2B79-A9F4-4434B67CEF30}"/>
                </a:ext>
              </a:extLst>
            </p:cNvPr>
            <p:cNvSpPr/>
            <p:nvPr/>
          </p:nvSpPr>
          <p:spPr>
            <a:xfrm>
              <a:off x="322659" y="4480422"/>
              <a:ext cx="20738305" cy="2577332"/>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B65DA91D-A842-756C-499F-09CBDE20A876}"/>
                </a:ext>
              </a:extLst>
            </p:cNvPr>
            <p:cNvSpPr txBox="1"/>
            <p:nvPr/>
          </p:nvSpPr>
          <p:spPr>
            <a:xfrm>
              <a:off x="364830" y="5075657"/>
              <a:ext cx="20523889" cy="1569660"/>
            </a:xfrm>
            <a:prstGeom prst="rect">
              <a:avLst/>
            </a:prstGeom>
            <a:noFill/>
          </p:spPr>
          <p:txBody>
            <a:bodyPr wrap="square" lIns="91440" tIns="45720" rIns="91440" bIns="45720" rtlCol="0" anchor="t">
              <a:spAutoFit/>
            </a:bodyPr>
            <a:lstStyle/>
            <a:p>
              <a:pPr algn="just"/>
              <a:r>
                <a:rPr lang="en-US" altLang="ko-KR" sz="2400" dirty="0">
                  <a:latin typeface="Times New Roman"/>
                  <a:ea typeface="맑은 고딕"/>
                  <a:cs typeface="Times New Roman"/>
                </a:rPr>
                <a:t>The two-dimensional lid-driven cavity problem has long been considered a benchmark case in computational fluid dynamics, extensively studied and validated both experimentally and numerically. With the advancement of computational power, obtaining numerical solutions to this problem has become relatively accessible even with only fundamental knowledge of fluid dynamics. In this study, a Python code based on the projection method is developed to solve the two-dimensional lid-driven cavity, and the results are compared against the classical data of Ghia et al., commercial software (Ansys), and the open-source solver (</a:t>
              </a:r>
              <a:r>
                <a:rPr lang="en-US" altLang="ko-KR" sz="2400" dirty="0" err="1">
                  <a:latin typeface="Times New Roman"/>
                  <a:ea typeface="맑은 고딕"/>
                  <a:cs typeface="Times New Roman"/>
                </a:rPr>
                <a:t>OpenFOAM</a:t>
              </a:r>
              <a:r>
                <a:rPr lang="en-US" altLang="ko-KR" sz="2400" dirty="0">
                  <a:latin typeface="Times New Roman"/>
                  <a:ea typeface="맑은 고딕"/>
                  <a:cs typeface="Times New Roman"/>
                </a:rPr>
                <a:t>).</a:t>
              </a:r>
            </a:p>
          </p:txBody>
        </p:sp>
        <p:sp>
          <p:nvSpPr>
            <p:cNvPr id="7" name="모서리가 둥근 직사각형 9">
              <a:extLst>
                <a:ext uri="{FF2B5EF4-FFF2-40B4-BE49-F238E27FC236}">
                  <a16:creationId xmlns:a16="http://schemas.microsoft.com/office/drawing/2014/main" id="{9E045E17-F1B1-D307-B0D1-BA19DACDA300}"/>
                </a:ext>
              </a:extLst>
            </p:cNvPr>
            <p:cNvSpPr/>
            <p:nvPr/>
          </p:nvSpPr>
          <p:spPr>
            <a:xfrm>
              <a:off x="405691" y="4591769"/>
              <a:ext cx="20564345"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a:solidFill>
                    <a:schemeClr val="tx1"/>
                  </a:solidFill>
                  <a:latin typeface="Times New Roman" panose="02020603050405020304" pitchFamily="18" charset="0"/>
                  <a:cs typeface="Times New Roman" panose="02020603050405020304" pitchFamily="18" charset="0"/>
                </a:rPr>
                <a:t>Introduction</a:t>
              </a:r>
              <a:endParaRPr lang="ko-KR" altLang="en-US" sz="3600">
                <a:solidFill>
                  <a:schemeClr val="tx1"/>
                </a:solidFill>
                <a:latin typeface="Times New Roman" panose="020206030504050203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2204069-90A4-D565-10B9-1688634A00DC}"/>
                  </a:ext>
                </a:extLst>
              </p:cNvPr>
              <p:cNvSpPr txBox="1"/>
              <p:nvPr/>
            </p:nvSpPr>
            <p:spPr>
              <a:xfrm>
                <a:off x="1001551" y="7434022"/>
                <a:ext cx="4213140" cy="7648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ko-KR" sz="2400" i="1" smtClean="0">
                              <a:latin typeface="Cambria Math" panose="02040503050406030204" pitchFamily="18" charset="0"/>
                            </a:rPr>
                          </m:ctrlPr>
                        </m:fPr>
                        <m:num>
                          <m:r>
                            <a:rPr lang="ko-KR" altLang="en-US" sz="2400" i="1" smtClean="0">
                              <a:latin typeface="Cambria Math" panose="02040503050406030204" pitchFamily="18" charset="0"/>
                            </a:rPr>
                            <m:t>𝜕</m:t>
                          </m:r>
                          <m:r>
                            <a:rPr lang="en-US" altLang="ko-KR" sz="2400" b="1" i="1" smtClean="0">
                              <a:latin typeface="Cambria Math" panose="02040503050406030204" pitchFamily="18" charset="0"/>
                            </a:rPr>
                            <m:t>𝒖</m:t>
                          </m:r>
                        </m:num>
                        <m:den>
                          <m:r>
                            <a:rPr lang="ko-KR" altLang="en-US" sz="2400" i="1" smtClean="0">
                              <a:latin typeface="Cambria Math" panose="02040503050406030204" pitchFamily="18" charset="0"/>
                            </a:rPr>
                            <m:t>𝜕</m:t>
                          </m:r>
                          <m:r>
                            <a:rPr lang="en-US" altLang="ko-KR" sz="2400" b="0" i="1" smtClean="0">
                              <a:latin typeface="Cambria Math" panose="02040503050406030204" pitchFamily="18" charset="0"/>
                            </a:rPr>
                            <m:t>𝑡</m:t>
                          </m:r>
                        </m:den>
                      </m:f>
                      <m:r>
                        <a:rPr lang="en-US" altLang="ko-KR" sz="2400" b="0" i="1" smtClean="0">
                          <a:latin typeface="Cambria Math" panose="02040503050406030204" pitchFamily="18" charset="0"/>
                        </a:rPr>
                        <m:t>=</m:t>
                      </m:r>
                      <m:r>
                        <a:rPr lang="en-US" altLang="ko-KR" sz="2400" i="1">
                          <a:latin typeface="Cambria Math" panose="02040503050406030204" pitchFamily="18" charset="0"/>
                        </a:rPr>
                        <m:t>−</m:t>
                      </m:r>
                      <m:f>
                        <m:fPr>
                          <m:ctrlPr>
                            <a:rPr lang="en-US" altLang="ko-KR" sz="2400" i="1">
                              <a:latin typeface="Cambria Math" panose="02040503050406030204" pitchFamily="18" charset="0"/>
                            </a:rPr>
                          </m:ctrlPr>
                        </m:fPr>
                        <m:num>
                          <m:r>
                            <a:rPr lang="en-US" altLang="ko-KR" sz="2400" i="1">
                              <a:latin typeface="Cambria Math" panose="02040503050406030204" pitchFamily="18" charset="0"/>
                            </a:rPr>
                            <m:t>1</m:t>
                          </m:r>
                        </m:num>
                        <m:den>
                          <m:r>
                            <a:rPr lang="ko-KR" altLang="en-US" sz="2400" i="1">
                              <a:latin typeface="Cambria Math" panose="02040503050406030204" pitchFamily="18" charset="0"/>
                            </a:rPr>
                            <m:t>𝜌</m:t>
                          </m:r>
                        </m:den>
                      </m:f>
                      <m:r>
                        <m:rPr>
                          <m:sty m:val="p"/>
                        </m:rPr>
                        <a:rPr lang="en-US" altLang="ko-KR" sz="2400" i="1">
                          <a:latin typeface="Cambria Math" panose="02040503050406030204" pitchFamily="18" charset="0"/>
                          <a:ea typeface="Cambria Math" panose="02040503050406030204" pitchFamily="18" charset="0"/>
                        </a:rPr>
                        <m:t>∇</m:t>
                      </m:r>
                      <m:r>
                        <a:rPr lang="en-US" altLang="ko-KR" sz="2400" b="0" i="1" smtClean="0">
                          <a:latin typeface="Cambria Math" panose="02040503050406030204" pitchFamily="18" charset="0"/>
                          <a:ea typeface="Cambria Math" panose="02040503050406030204" pitchFamily="18" charset="0"/>
                        </a:rPr>
                        <m:t>𝑝</m:t>
                      </m:r>
                      <m:r>
                        <a:rPr lang="en-US" altLang="ko-KR" sz="2400" b="0" i="1" smtClean="0">
                          <a:latin typeface="Cambria Math" panose="02040503050406030204" pitchFamily="18" charset="0"/>
                          <a:ea typeface="Cambria Math" panose="02040503050406030204" pitchFamily="18" charset="0"/>
                        </a:rPr>
                        <m:t>+</m:t>
                      </m:r>
                      <m:r>
                        <a:rPr lang="ko-KR" altLang="en-US" sz="2400" i="1">
                          <a:latin typeface="Cambria Math" panose="02040503050406030204" pitchFamily="18" charset="0"/>
                        </a:rPr>
                        <m:t>𝜈</m:t>
                      </m:r>
                      <m:sSup>
                        <m:sSupPr>
                          <m:ctrlPr>
                            <a:rPr lang="en-US" altLang="ko-KR" sz="2400" i="1">
                              <a:latin typeface="Cambria Math" panose="02040503050406030204" pitchFamily="18" charset="0"/>
                            </a:rPr>
                          </m:ctrlPr>
                        </m:sSupPr>
                        <m:e>
                          <m:r>
                            <m:rPr>
                              <m:sty m:val="p"/>
                            </m:rPr>
                            <a:rPr lang="en-US" altLang="ko-KR" sz="2400" i="1">
                              <a:latin typeface="Cambria Math" panose="02040503050406030204" pitchFamily="18" charset="0"/>
                              <a:ea typeface="Cambria Math" panose="02040503050406030204" pitchFamily="18" charset="0"/>
                            </a:rPr>
                            <m:t>∇</m:t>
                          </m:r>
                        </m:e>
                        <m:sup>
                          <m:r>
                            <a:rPr lang="en-US" altLang="ko-KR" sz="2400" i="1">
                              <a:latin typeface="Cambria Math" panose="02040503050406030204" pitchFamily="18" charset="0"/>
                            </a:rPr>
                            <m:t>2</m:t>
                          </m:r>
                        </m:sup>
                      </m:sSup>
                      <m:r>
                        <a:rPr lang="en-US" altLang="ko-KR" sz="2400" b="1" i="1" smtClean="0">
                          <a:latin typeface="Cambria Math" panose="02040503050406030204" pitchFamily="18" charset="0"/>
                        </a:rPr>
                        <m:t>𝒖</m:t>
                      </m:r>
                      <m:r>
                        <a:rPr lang="en-US" altLang="ko-KR" sz="2400" b="0" i="1" smtClean="0">
                          <a:latin typeface="Cambria Math" panose="02040503050406030204" pitchFamily="18" charset="0"/>
                        </a:rPr>
                        <m:t>−</m:t>
                      </m:r>
                      <m:d>
                        <m:dPr>
                          <m:ctrlPr>
                            <a:rPr lang="en-US" altLang="ko-KR" sz="2400" b="0" i="1" smtClean="0">
                              <a:latin typeface="Cambria Math" panose="02040503050406030204" pitchFamily="18" charset="0"/>
                            </a:rPr>
                          </m:ctrlPr>
                        </m:dPr>
                        <m:e>
                          <m:r>
                            <a:rPr lang="en-US" altLang="ko-KR" sz="2400" b="1" i="1" smtClean="0">
                              <a:latin typeface="Cambria Math" panose="02040503050406030204" pitchFamily="18" charset="0"/>
                            </a:rPr>
                            <m:t>𝒖</m:t>
                          </m:r>
                          <m:r>
                            <a:rPr lang="en-US" altLang="ko-KR" sz="2400" b="0" i="1" smtClean="0">
                              <a:latin typeface="Cambria Math" panose="02040503050406030204" pitchFamily="18" charset="0"/>
                              <a:ea typeface="Cambria Math" panose="02040503050406030204" pitchFamily="18" charset="0"/>
                            </a:rPr>
                            <m:t>∙</m:t>
                          </m:r>
                          <m:r>
                            <m:rPr>
                              <m:sty m:val="p"/>
                            </m:rPr>
                            <a:rPr lang="en-US" altLang="ko-KR" sz="2400" b="0" i="1" smtClean="0">
                              <a:latin typeface="Cambria Math" panose="02040503050406030204" pitchFamily="18" charset="0"/>
                              <a:ea typeface="Cambria Math" panose="02040503050406030204" pitchFamily="18" charset="0"/>
                            </a:rPr>
                            <m:t>∇</m:t>
                          </m:r>
                        </m:e>
                      </m:d>
                      <m:r>
                        <a:rPr lang="en-US" altLang="ko-KR" sz="2400" b="1" i="1" smtClean="0">
                          <a:latin typeface="Cambria Math" panose="02040503050406030204" pitchFamily="18" charset="0"/>
                          <a:ea typeface="Cambria Math" panose="02040503050406030204" pitchFamily="18" charset="0"/>
                        </a:rPr>
                        <m:t>𝒖</m:t>
                      </m:r>
                    </m:oMath>
                  </m:oMathPara>
                </a14:m>
                <a:endParaRPr lang="ko-KR" altLang="en-US" sz="2400" b="1" dirty="0"/>
              </a:p>
            </p:txBody>
          </p:sp>
        </mc:Choice>
        <mc:Fallback xmlns="">
          <p:sp>
            <p:nvSpPr>
              <p:cNvPr id="46" name="TextBox 45">
                <a:extLst>
                  <a:ext uri="{FF2B5EF4-FFF2-40B4-BE49-F238E27FC236}">
                    <a16:creationId xmlns:a16="http://schemas.microsoft.com/office/drawing/2014/main" id="{12204069-90A4-D565-10B9-1688634A00DC}"/>
                  </a:ext>
                </a:extLst>
              </p:cNvPr>
              <p:cNvSpPr txBox="1">
                <a:spLocks noRot="1" noChangeAspect="1" noMove="1" noResize="1" noEditPoints="1" noAdjustHandles="1" noChangeArrowheads="1" noChangeShapeType="1" noTextEdit="1"/>
              </p:cNvSpPr>
              <p:nvPr/>
            </p:nvSpPr>
            <p:spPr>
              <a:xfrm>
                <a:off x="1001551" y="7434022"/>
                <a:ext cx="4213140" cy="764825"/>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B8CC451-DA76-C76D-932B-A54A847DB22C}"/>
                  </a:ext>
                </a:extLst>
              </p:cNvPr>
              <p:cNvSpPr txBox="1"/>
              <p:nvPr/>
            </p:nvSpPr>
            <p:spPr>
              <a:xfrm>
                <a:off x="982126" y="8663887"/>
                <a:ext cx="12840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ko-KR" altLang="en-US" sz="2400" i="1" smtClean="0">
                          <a:latin typeface="Cambria Math" panose="02040503050406030204" pitchFamily="18" charset="0"/>
                        </a:rPr>
                        <m:t>∇</m:t>
                      </m:r>
                      <m:r>
                        <a:rPr lang="ko-KR" altLang="en-US" sz="2400" i="1" smtClean="0">
                          <a:latin typeface="Cambria Math" panose="02040503050406030204" pitchFamily="18" charset="0"/>
                        </a:rPr>
                        <m:t>∙</m:t>
                      </m:r>
                      <m:r>
                        <a:rPr lang="en-US" altLang="ko-KR" sz="2400" b="1" i="1" smtClean="0">
                          <a:latin typeface="Cambria Math" panose="02040503050406030204" pitchFamily="18" charset="0"/>
                        </a:rPr>
                        <m:t>𝒖</m:t>
                      </m:r>
                      <m:r>
                        <a:rPr lang="en-US" altLang="ko-KR" sz="2400" b="0" i="1" smtClean="0">
                          <a:latin typeface="Cambria Math" panose="02040503050406030204" pitchFamily="18" charset="0"/>
                        </a:rPr>
                        <m:t>=0</m:t>
                      </m:r>
                    </m:oMath>
                  </m:oMathPara>
                </a14:m>
                <a:endParaRPr lang="ko-KR" altLang="en-US" sz="2400" dirty="0"/>
              </a:p>
            </p:txBody>
          </p:sp>
        </mc:Choice>
        <mc:Fallback xmlns="">
          <p:sp>
            <p:nvSpPr>
              <p:cNvPr id="47" name="TextBox 46">
                <a:extLst>
                  <a:ext uri="{FF2B5EF4-FFF2-40B4-BE49-F238E27FC236}">
                    <a16:creationId xmlns:a16="http://schemas.microsoft.com/office/drawing/2014/main" id="{9B8CC451-DA76-C76D-932B-A54A847DB22C}"/>
                  </a:ext>
                </a:extLst>
              </p:cNvPr>
              <p:cNvSpPr txBox="1">
                <a:spLocks noRot="1" noChangeAspect="1" noMove="1" noResize="1" noEditPoints="1" noAdjustHandles="1" noChangeArrowheads="1" noChangeShapeType="1" noTextEdit="1"/>
              </p:cNvSpPr>
              <p:nvPr/>
            </p:nvSpPr>
            <p:spPr>
              <a:xfrm>
                <a:off x="982126" y="8663887"/>
                <a:ext cx="1284005" cy="369332"/>
              </a:xfrm>
              <a:prstGeom prst="rect">
                <a:avLst/>
              </a:prstGeom>
              <a:blipFill>
                <a:blip r:embed="rId5"/>
                <a:stretch>
                  <a:fillRect l="-3318" r="-3791" b="-9836"/>
                </a:stretch>
              </a:blipFill>
            </p:spPr>
            <p:txBody>
              <a:bodyPr/>
              <a:lstStyle/>
              <a:p>
                <a:r>
                  <a:rPr lang="ko-KR" altLang="en-US">
                    <a:noFill/>
                  </a:rPr>
                  <a:t> </a:t>
                </a:r>
              </a:p>
            </p:txBody>
          </p:sp>
        </mc:Fallback>
      </mc:AlternateContent>
      <p:pic>
        <p:nvPicPr>
          <p:cNvPr id="37" name="그림 36" descr="텍스트, 폰트, 상징, 로고이(가) 표시된 사진&#10;&#10;AI 생성 콘텐츠는 정확하지 않을 수 있습니다.">
            <a:extLst>
              <a:ext uri="{FF2B5EF4-FFF2-40B4-BE49-F238E27FC236}">
                <a16:creationId xmlns:a16="http://schemas.microsoft.com/office/drawing/2014/main" id="{B22F560D-6533-2751-7A6A-FE60C6336F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6987" y="471056"/>
            <a:ext cx="5842132" cy="1131683"/>
          </a:xfrm>
          <a:prstGeom prst="rect">
            <a:avLst/>
          </a:prstGeom>
        </p:spPr>
      </p:pic>
      <p:grpSp>
        <p:nvGrpSpPr>
          <p:cNvPr id="40" name="그룹 39">
            <a:extLst>
              <a:ext uri="{FF2B5EF4-FFF2-40B4-BE49-F238E27FC236}">
                <a16:creationId xmlns:a16="http://schemas.microsoft.com/office/drawing/2014/main" id="{D61EDD5B-8400-6C93-24DF-2822AD052F36}"/>
              </a:ext>
            </a:extLst>
          </p:cNvPr>
          <p:cNvGrpSpPr/>
          <p:nvPr/>
        </p:nvGrpSpPr>
        <p:grpSpPr>
          <a:xfrm>
            <a:off x="18611338" y="1795441"/>
            <a:ext cx="2399583" cy="1417598"/>
            <a:chOff x="17166946" y="1664582"/>
            <a:chExt cx="4386782" cy="2688686"/>
          </a:xfrm>
        </p:grpSpPr>
        <p:pic>
          <p:nvPicPr>
            <p:cNvPr id="41" name="그림 40">
              <a:extLst>
                <a:ext uri="{FF2B5EF4-FFF2-40B4-BE49-F238E27FC236}">
                  <a16:creationId xmlns:a16="http://schemas.microsoft.com/office/drawing/2014/main" id="{023DF4FF-3C6E-7680-AE20-E74621264EAD}"/>
                </a:ext>
              </a:extLst>
            </p:cNvPr>
            <p:cNvPicPr>
              <a:picLocks noChangeAspect="1"/>
            </p:cNvPicPr>
            <p:nvPr/>
          </p:nvPicPr>
          <p:blipFill rotWithShape="1">
            <a:blip r:embed="rId7"/>
            <a:srcRect l="20597" t="1200" r="17800" b="49434"/>
            <a:stretch/>
          </p:blipFill>
          <p:spPr>
            <a:xfrm>
              <a:off x="17550167" y="1664582"/>
              <a:ext cx="3757510" cy="2087404"/>
            </a:xfrm>
            <a:prstGeom prst="rect">
              <a:avLst/>
            </a:prstGeom>
          </p:spPr>
        </p:pic>
        <p:pic>
          <p:nvPicPr>
            <p:cNvPr id="48" name="그림 47">
              <a:extLst>
                <a:ext uri="{FF2B5EF4-FFF2-40B4-BE49-F238E27FC236}">
                  <a16:creationId xmlns:a16="http://schemas.microsoft.com/office/drawing/2014/main" id="{2096DC09-FA6D-FBAE-BF58-7441FC77D176}"/>
                </a:ext>
              </a:extLst>
            </p:cNvPr>
            <p:cNvPicPr>
              <a:picLocks noChangeAspect="1"/>
            </p:cNvPicPr>
            <p:nvPr/>
          </p:nvPicPr>
          <p:blipFill rotWithShape="1">
            <a:blip r:embed="rId7"/>
            <a:srcRect t="74345"/>
            <a:stretch/>
          </p:blipFill>
          <p:spPr>
            <a:xfrm>
              <a:off x="17166946" y="3573074"/>
              <a:ext cx="4386782" cy="780194"/>
            </a:xfrm>
            <a:prstGeom prst="rect">
              <a:avLst/>
            </a:prstGeom>
          </p:spPr>
        </p:pic>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425B0D85-6C7B-BF0F-3BDF-839A834FDA16}"/>
                  </a:ext>
                </a:extLst>
              </p:cNvPr>
              <p:cNvSpPr txBox="1"/>
              <p:nvPr/>
            </p:nvSpPr>
            <p:spPr>
              <a:xfrm>
                <a:off x="8711011" y="8661896"/>
                <a:ext cx="1757874" cy="69038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sz="2400" b="0" i="1" smtClean="0">
                          <a:latin typeface="Cambria Math" panose="02040503050406030204" pitchFamily="18" charset="0"/>
                        </a:rPr>
                        <m:t>𝑅𝑒</m:t>
                      </m:r>
                      <m:r>
                        <a:rPr lang="en-US" altLang="ko-KR" sz="2400" b="0" i="1" smtClean="0">
                          <a:latin typeface="Cambria Math" panose="02040503050406030204" pitchFamily="18" charset="0"/>
                        </a:rPr>
                        <m:t>= </m:t>
                      </m:r>
                      <m:f>
                        <m:fPr>
                          <m:ctrlPr>
                            <a:rPr lang="en-US" altLang="ko-KR" sz="2400" b="0" i="1" smtClean="0">
                              <a:latin typeface="Cambria Math" panose="02040503050406030204" pitchFamily="18" charset="0"/>
                            </a:rPr>
                          </m:ctrlPr>
                        </m:fPr>
                        <m:num>
                          <m:sSub>
                            <m:sSubPr>
                              <m:ctrlPr>
                                <a:rPr lang="en-US" altLang="ko-KR" sz="2400" b="0" i="1" smtClean="0">
                                  <a:latin typeface="Cambria Math" panose="02040503050406030204" pitchFamily="18" charset="0"/>
                                </a:rPr>
                              </m:ctrlPr>
                            </m:sSubPr>
                            <m:e>
                              <m:r>
                                <a:rPr lang="en-US" altLang="ko-KR" sz="2400" b="0" i="1" smtClean="0">
                                  <a:latin typeface="Cambria Math" panose="02040503050406030204" pitchFamily="18" charset="0"/>
                                </a:rPr>
                                <m:t>𝑢</m:t>
                              </m:r>
                            </m:e>
                            <m:sub>
                              <m:r>
                                <a:rPr lang="en-US" altLang="ko-KR" sz="2400" b="0" i="1" smtClean="0">
                                  <a:latin typeface="Cambria Math" panose="02040503050406030204" pitchFamily="18" charset="0"/>
                                </a:rPr>
                                <m:t>𝑙𝑖𝑑</m:t>
                              </m:r>
                            </m:sub>
                          </m:sSub>
                          <m:r>
                            <a:rPr lang="en-US" altLang="ko-KR" sz="2400" b="0" i="1" smtClean="0">
                              <a:latin typeface="Cambria Math" panose="02040503050406030204" pitchFamily="18" charset="0"/>
                            </a:rPr>
                            <m:t>𝐻</m:t>
                          </m:r>
                        </m:num>
                        <m:den>
                          <m:r>
                            <a:rPr lang="ko-KR" altLang="en-US" sz="2400" b="0" i="1" smtClean="0">
                              <a:latin typeface="Cambria Math" panose="02040503050406030204" pitchFamily="18" charset="0"/>
                            </a:rPr>
                            <m:t>𝜈</m:t>
                          </m:r>
                        </m:den>
                      </m:f>
                    </m:oMath>
                  </m:oMathPara>
                </a14:m>
                <a:endParaRPr lang="ko-KR" altLang="en-US" sz="2400" dirty="0"/>
              </a:p>
            </p:txBody>
          </p:sp>
        </mc:Choice>
        <mc:Fallback xmlns="">
          <p:sp>
            <p:nvSpPr>
              <p:cNvPr id="66" name="TextBox 65">
                <a:extLst>
                  <a:ext uri="{FF2B5EF4-FFF2-40B4-BE49-F238E27FC236}">
                    <a16:creationId xmlns:a16="http://schemas.microsoft.com/office/drawing/2014/main" id="{425B0D85-6C7B-BF0F-3BDF-839A834FDA16}"/>
                  </a:ext>
                </a:extLst>
              </p:cNvPr>
              <p:cNvSpPr txBox="1">
                <a:spLocks noRot="1" noChangeAspect="1" noMove="1" noResize="1" noEditPoints="1" noAdjustHandles="1" noChangeArrowheads="1" noChangeShapeType="1" noTextEdit="1"/>
              </p:cNvSpPr>
              <p:nvPr/>
            </p:nvSpPr>
            <p:spPr>
              <a:xfrm>
                <a:off x="8711011" y="8661896"/>
                <a:ext cx="1757874" cy="690382"/>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F280C2F-CFCC-7E31-DE44-DA773290047F}"/>
                  </a:ext>
                </a:extLst>
              </p:cNvPr>
              <p:cNvSpPr txBox="1"/>
              <p:nvPr/>
            </p:nvSpPr>
            <p:spPr>
              <a:xfrm>
                <a:off x="8099289" y="6940110"/>
                <a:ext cx="2103076" cy="7386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sz="2400" b="0" i="1" smtClean="0">
                          <a:latin typeface="Cambria Math" panose="02040503050406030204" pitchFamily="18" charset="0"/>
                          <a:ea typeface="Cambria Math" panose="02040503050406030204" pitchFamily="18" charset="0"/>
                        </a:rPr>
                        <m:t>𝑢</m:t>
                      </m:r>
                      <m:d>
                        <m:dPr>
                          <m:ctrlPr>
                            <a:rPr lang="en-US" altLang="ko-KR" sz="2400" b="0" i="1" smtClean="0">
                              <a:latin typeface="Cambria Math" panose="02040503050406030204" pitchFamily="18" charset="0"/>
                              <a:ea typeface="Cambria Math" panose="02040503050406030204" pitchFamily="18" charset="0"/>
                            </a:rPr>
                          </m:ctrlPr>
                        </m:dPr>
                        <m:e>
                          <m:r>
                            <a:rPr lang="en-US" altLang="ko-KR" sz="2400" b="1" i="1" smtClean="0">
                              <a:latin typeface="Cambria Math" panose="02040503050406030204" pitchFamily="18" charset="0"/>
                              <a:ea typeface="Cambria Math" panose="02040503050406030204" pitchFamily="18" charset="0"/>
                            </a:rPr>
                            <m:t>𝒙</m:t>
                          </m:r>
                          <m:r>
                            <a:rPr lang="en-US" altLang="ko-KR" sz="2400" b="0" i="1" smtClean="0">
                              <a:latin typeface="Cambria Math" panose="02040503050406030204" pitchFamily="18" charset="0"/>
                              <a:ea typeface="Cambria Math" panose="02040503050406030204" pitchFamily="18" charset="0"/>
                            </a:rPr>
                            <m:t>, </m:t>
                          </m:r>
                          <m:r>
                            <a:rPr lang="en-US" altLang="ko-KR" sz="2400" b="0" i="1" smtClean="0">
                              <a:latin typeface="Cambria Math" panose="02040503050406030204" pitchFamily="18" charset="0"/>
                              <a:ea typeface="Cambria Math" panose="02040503050406030204" pitchFamily="18" charset="0"/>
                            </a:rPr>
                            <m:t>𝑡</m:t>
                          </m:r>
                          <m:r>
                            <a:rPr lang="en-US" altLang="ko-KR" sz="2400" b="0" i="1" smtClean="0">
                              <a:latin typeface="Cambria Math" panose="02040503050406030204" pitchFamily="18" charset="0"/>
                              <a:ea typeface="Cambria Math" panose="02040503050406030204" pitchFamily="18" charset="0"/>
                            </a:rPr>
                            <m:t>&lt;0</m:t>
                          </m:r>
                        </m:e>
                      </m:d>
                      <m:r>
                        <a:rPr lang="en-US" altLang="ko-KR" sz="2400" b="0" i="1" smtClean="0">
                          <a:latin typeface="Cambria Math" panose="02040503050406030204" pitchFamily="18" charset="0"/>
                          <a:ea typeface="Cambria Math" panose="02040503050406030204" pitchFamily="18" charset="0"/>
                        </a:rPr>
                        <m:t>=0</m:t>
                      </m:r>
                    </m:oMath>
                  </m:oMathPara>
                </a14:m>
                <a:endParaRPr lang="en-US" altLang="ko-KR"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ko-KR" sz="2400" i="1">
                          <a:latin typeface="Cambria Math" panose="02040503050406030204" pitchFamily="18" charset="0"/>
                          <a:ea typeface="Cambria Math" panose="02040503050406030204" pitchFamily="18" charset="0"/>
                        </a:rPr>
                        <m:t>𝑣</m:t>
                      </m:r>
                      <m:d>
                        <m:dPr>
                          <m:ctrlPr>
                            <a:rPr lang="en-US" altLang="ko-KR" sz="2400" i="1">
                              <a:latin typeface="Cambria Math" panose="02040503050406030204" pitchFamily="18" charset="0"/>
                              <a:ea typeface="Cambria Math" panose="02040503050406030204" pitchFamily="18" charset="0"/>
                            </a:rPr>
                          </m:ctrlPr>
                        </m:dPr>
                        <m:e>
                          <m:r>
                            <a:rPr lang="en-US" altLang="ko-KR" sz="2400" b="1" i="1">
                              <a:latin typeface="Cambria Math" panose="02040503050406030204" pitchFamily="18" charset="0"/>
                              <a:ea typeface="Cambria Math" panose="02040503050406030204" pitchFamily="18" charset="0"/>
                            </a:rPr>
                            <m:t>𝒙</m:t>
                          </m:r>
                          <m:r>
                            <a:rPr lang="en-US" altLang="ko-KR" sz="2400" i="1">
                              <a:latin typeface="Cambria Math" panose="02040503050406030204" pitchFamily="18" charset="0"/>
                              <a:ea typeface="Cambria Math" panose="02040503050406030204" pitchFamily="18" charset="0"/>
                            </a:rPr>
                            <m:t>, </m:t>
                          </m:r>
                          <m:r>
                            <a:rPr lang="en-US" altLang="ko-KR" sz="2400" i="1">
                              <a:latin typeface="Cambria Math" panose="02040503050406030204" pitchFamily="18" charset="0"/>
                              <a:ea typeface="Cambria Math" panose="02040503050406030204" pitchFamily="18" charset="0"/>
                            </a:rPr>
                            <m:t>𝑡</m:t>
                          </m:r>
                          <m:r>
                            <a:rPr lang="en-US" altLang="ko-KR" sz="2400" i="1">
                              <a:latin typeface="Cambria Math" panose="02040503050406030204" pitchFamily="18" charset="0"/>
                              <a:ea typeface="Cambria Math" panose="02040503050406030204" pitchFamily="18" charset="0"/>
                            </a:rPr>
                            <m:t>&lt;0</m:t>
                          </m:r>
                        </m:e>
                      </m:d>
                      <m:r>
                        <a:rPr lang="en-US" altLang="ko-KR" sz="2400" b="0" i="1" smtClean="0">
                          <a:latin typeface="Cambria Math" panose="02040503050406030204" pitchFamily="18" charset="0"/>
                          <a:ea typeface="Cambria Math" panose="02040503050406030204" pitchFamily="18" charset="0"/>
                        </a:rPr>
                        <m:t>=0</m:t>
                      </m:r>
                    </m:oMath>
                  </m:oMathPara>
                </a14:m>
                <a:endParaRPr lang="ko-KR" altLang="en-US" sz="7200" dirty="0"/>
              </a:p>
            </p:txBody>
          </p:sp>
        </mc:Choice>
        <mc:Fallback xmlns="">
          <p:sp>
            <p:nvSpPr>
              <p:cNvPr id="12" name="TextBox 11">
                <a:extLst>
                  <a:ext uri="{FF2B5EF4-FFF2-40B4-BE49-F238E27FC236}">
                    <a16:creationId xmlns:a16="http://schemas.microsoft.com/office/drawing/2014/main" id="{CF280C2F-CFCC-7E31-DE44-DA773290047F}"/>
                  </a:ext>
                </a:extLst>
              </p:cNvPr>
              <p:cNvSpPr txBox="1">
                <a:spLocks noRot="1" noChangeAspect="1" noMove="1" noResize="1" noEditPoints="1" noAdjustHandles="1" noChangeArrowheads="1" noChangeShapeType="1" noTextEdit="1"/>
              </p:cNvSpPr>
              <p:nvPr/>
            </p:nvSpPr>
            <p:spPr>
              <a:xfrm>
                <a:off x="8099289" y="6940110"/>
                <a:ext cx="2103076" cy="738664"/>
              </a:xfrm>
              <a:prstGeom prst="rect">
                <a:avLst/>
              </a:prstGeom>
              <a:blipFill>
                <a:blip r:embed="rId9"/>
                <a:stretch>
                  <a:fillRect l="-870" r="-2029" b="-4098"/>
                </a:stretch>
              </a:blipFill>
            </p:spPr>
            <p:txBody>
              <a:bodyPr/>
              <a:lstStyle/>
              <a:p>
                <a:r>
                  <a:rPr lang="ko-KR" altLang="en-US">
                    <a:noFill/>
                  </a:rPr>
                  <a:t> </a:t>
                </a:r>
              </a:p>
            </p:txBody>
          </p:sp>
        </mc:Fallback>
      </mc:AlternateContent>
      <p:grpSp>
        <p:nvGrpSpPr>
          <p:cNvPr id="21" name="그룹 20">
            <a:extLst>
              <a:ext uri="{FF2B5EF4-FFF2-40B4-BE49-F238E27FC236}">
                <a16:creationId xmlns:a16="http://schemas.microsoft.com/office/drawing/2014/main" id="{A847CBDF-0352-AB6E-8503-905623CF2423}"/>
              </a:ext>
            </a:extLst>
          </p:cNvPr>
          <p:cNvGrpSpPr/>
          <p:nvPr/>
        </p:nvGrpSpPr>
        <p:grpSpPr>
          <a:xfrm>
            <a:off x="5444380" y="6550841"/>
            <a:ext cx="3887025" cy="2759901"/>
            <a:chOff x="1710137" y="8037054"/>
            <a:chExt cx="3887025" cy="2759901"/>
          </a:xfrm>
        </p:grpSpPr>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F8BDE13-C132-98C7-9190-ECB8B815BBE0}"/>
                    </a:ext>
                  </a:extLst>
                </p:cNvPr>
                <p:cNvSpPr txBox="1"/>
                <p:nvPr/>
              </p:nvSpPr>
              <p:spPr>
                <a:xfrm>
                  <a:off x="1710137" y="8037054"/>
                  <a:ext cx="2711016" cy="30777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b="0" i="1" smtClean="0">
                                <a:solidFill>
                                  <a:srgbClr val="00B050"/>
                                </a:solidFill>
                                <a:latin typeface="Cambria Math" panose="02040503050406030204" pitchFamily="18" charset="0"/>
                              </a:rPr>
                            </m:ctrlPr>
                          </m:sSubPr>
                          <m:e>
                            <m:r>
                              <a:rPr lang="en-US" altLang="ko-KR" sz="2000" i="1">
                                <a:solidFill>
                                  <a:srgbClr val="00B050"/>
                                </a:solidFill>
                                <a:latin typeface="Cambria Math" panose="02040503050406030204" pitchFamily="18" charset="0"/>
                              </a:rPr>
                              <m:t>𝑢</m:t>
                            </m:r>
                          </m:e>
                          <m:sub>
                            <m:r>
                              <a:rPr lang="en-US" altLang="ko-KR" sz="2000" b="0" i="1" smtClean="0">
                                <a:solidFill>
                                  <a:srgbClr val="00B050"/>
                                </a:solidFill>
                                <a:latin typeface="Cambria Math" panose="02040503050406030204" pitchFamily="18" charset="0"/>
                              </a:rPr>
                              <m:t>𝑙𝑖𝑑</m:t>
                            </m:r>
                          </m:sub>
                        </m:sSub>
                        <m:d>
                          <m:dPr>
                            <m:ctrlPr>
                              <a:rPr lang="en-US" altLang="ko-KR" sz="2000" b="0" i="1" smtClean="0">
                                <a:solidFill>
                                  <a:srgbClr val="00B050"/>
                                </a:solidFill>
                                <a:latin typeface="Cambria Math" panose="02040503050406030204" pitchFamily="18" charset="0"/>
                              </a:rPr>
                            </m:ctrlPr>
                          </m:dPr>
                          <m:e>
                            <m:r>
                              <a:rPr lang="en-US" altLang="ko-KR" sz="2000" b="0" i="1" smtClean="0">
                                <a:solidFill>
                                  <a:srgbClr val="00B050"/>
                                </a:solidFill>
                                <a:latin typeface="Cambria Math" panose="02040503050406030204" pitchFamily="18" charset="0"/>
                              </a:rPr>
                              <m:t>𝑡</m:t>
                            </m:r>
                            <m:r>
                              <a:rPr lang="en-US" altLang="ko-KR" sz="2000" b="0" i="1" smtClean="0">
                                <a:solidFill>
                                  <a:srgbClr val="00B050"/>
                                </a:solidFill>
                                <a:latin typeface="Cambria Math" panose="02040503050406030204" pitchFamily="18" charset="0"/>
                                <a:ea typeface="Cambria Math" panose="02040503050406030204" pitchFamily="18" charset="0"/>
                              </a:rPr>
                              <m:t>≥0</m:t>
                            </m:r>
                          </m:e>
                        </m:d>
                        <m:r>
                          <a:rPr lang="en-US" altLang="ko-KR" sz="2000" b="0" i="1" smtClean="0">
                            <a:solidFill>
                              <a:srgbClr val="00B050"/>
                            </a:solidFill>
                            <a:latin typeface="Cambria Math" panose="02040503050406030204" pitchFamily="18" charset="0"/>
                            <a:ea typeface="Cambria Math" panose="02040503050406030204" pitchFamily="18" charset="0"/>
                          </a:rPr>
                          <m:t>=</m:t>
                        </m:r>
                        <m:r>
                          <a:rPr lang="en-US" altLang="ko-KR" sz="2000" b="0" i="1" smtClean="0">
                            <a:solidFill>
                              <a:srgbClr val="00B050"/>
                            </a:solidFill>
                            <a:latin typeface="Cambria Math" panose="02040503050406030204" pitchFamily="18" charset="0"/>
                            <a:ea typeface="Cambria Math" panose="02040503050406030204" pitchFamily="18" charset="0"/>
                          </a:rPr>
                          <m:t>𝑈</m:t>
                        </m:r>
                        <m:r>
                          <a:rPr lang="en-US" altLang="ko-KR" sz="2000" b="0" i="1" smtClean="0">
                            <a:solidFill>
                              <a:srgbClr val="00B050"/>
                            </a:solidFill>
                            <a:latin typeface="Cambria Math" panose="02040503050406030204" pitchFamily="18" charset="0"/>
                            <a:ea typeface="Cambria Math" panose="02040503050406030204" pitchFamily="18" charset="0"/>
                          </a:rPr>
                          <m:t>, </m:t>
                        </m:r>
                        <m:r>
                          <a:rPr lang="en-US" altLang="ko-KR" sz="2000" b="0" i="1" smtClean="0">
                            <a:solidFill>
                              <a:srgbClr val="00B050"/>
                            </a:solidFill>
                            <a:latin typeface="Cambria Math" panose="02040503050406030204" pitchFamily="18" charset="0"/>
                            <a:ea typeface="Cambria Math" panose="02040503050406030204" pitchFamily="18" charset="0"/>
                          </a:rPr>
                          <m:t>𝑣</m:t>
                        </m:r>
                        <m:r>
                          <a:rPr lang="en-US" altLang="ko-KR" sz="2000" b="0" i="1" smtClean="0">
                            <a:solidFill>
                              <a:srgbClr val="00B050"/>
                            </a:solidFill>
                            <a:latin typeface="Cambria Math" panose="02040503050406030204" pitchFamily="18" charset="0"/>
                            <a:ea typeface="Cambria Math" panose="02040503050406030204" pitchFamily="18" charset="0"/>
                          </a:rPr>
                          <m:t>=0</m:t>
                        </m:r>
                      </m:oMath>
                    </m:oMathPara>
                  </a14:m>
                  <a:endParaRPr lang="ko-KR" altLang="en-US" sz="6600" dirty="0"/>
                </a:p>
              </p:txBody>
            </p:sp>
          </mc:Choice>
          <mc:Fallback xmlns="">
            <p:sp>
              <p:nvSpPr>
                <p:cNvPr id="61" name="TextBox 60">
                  <a:extLst>
                    <a:ext uri="{FF2B5EF4-FFF2-40B4-BE49-F238E27FC236}">
                      <a16:creationId xmlns:a16="http://schemas.microsoft.com/office/drawing/2014/main" id="{FF8BDE13-C132-98C7-9190-ECB8B815BBE0}"/>
                    </a:ext>
                  </a:extLst>
                </p:cNvPr>
                <p:cNvSpPr txBox="1">
                  <a:spLocks noRot="1" noChangeAspect="1" noMove="1" noResize="1" noEditPoints="1" noAdjustHandles="1" noChangeArrowheads="1" noChangeShapeType="1" noTextEdit="1"/>
                </p:cNvSpPr>
                <p:nvPr/>
              </p:nvSpPr>
              <p:spPr>
                <a:xfrm>
                  <a:off x="1710137" y="8037054"/>
                  <a:ext cx="2711016" cy="307777"/>
                </a:xfrm>
                <a:prstGeom prst="rect">
                  <a:avLst/>
                </a:prstGeom>
                <a:blipFill>
                  <a:blip r:embed="rId10"/>
                  <a:stretch>
                    <a:fillRect b="-19608"/>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26DD46F4-6616-8AE0-3150-4C4286F609D2}"/>
                    </a:ext>
                  </a:extLst>
                </p:cNvPr>
                <p:cNvSpPr txBox="1"/>
                <p:nvPr/>
              </p:nvSpPr>
              <p:spPr>
                <a:xfrm>
                  <a:off x="4394076" y="9421033"/>
                  <a:ext cx="120308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sz="2000" b="0" i="1" smtClean="0">
                            <a:latin typeface="Cambria Math" panose="02040503050406030204" pitchFamily="18" charset="0"/>
                            <a:ea typeface="Cambria Math" panose="02040503050406030204" pitchFamily="18" charset="0"/>
                          </a:rPr>
                          <m:t>𝑢</m:t>
                        </m:r>
                        <m:r>
                          <a:rPr lang="en-US" altLang="ko-KR" sz="2000" b="0" i="1" smtClean="0">
                            <a:latin typeface="Cambria Math" panose="02040503050406030204" pitchFamily="18" charset="0"/>
                            <a:ea typeface="Cambria Math" panose="02040503050406030204" pitchFamily="18" charset="0"/>
                          </a:rPr>
                          <m:t>=</m:t>
                        </m:r>
                        <m:r>
                          <a:rPr lang="en-US" altLang="ko-KR" sz="2000" i="1">
                            <a:latin typeface="Cambria Math" panose="02040503050406030204" pitchFamily="18" charset="0"/>
                            <a:ea typeface="Cambria Math" panose="02040503050406030204" pitchFamily="18" charset="0"/>
                          </a:rPr>
                          <m:t>𝑣</m:t>
                        </m:r>
                        <m:r>
                          <a:rPr lang="en-US" altLang="ko-KR" sz="2000" b="0" i="1" smtClean="0">
                            <a:latin typeface="Cambria Math" panose="02040503050406030204" pitchFamily="18" charset="0"/>
                            <a:ea typeface="Cambria Math" panose="02040503050406030204" pitchFamily="18" charset="0"/>
                          </a:rPr>
                          <m:t>=0</m:t>
                        </m:r>
                      </m:oMath>
                    </m:oMathPara>
                  </a14:m>
                  <a:endParaRPr lang="ko-KR" altLang="en-US" sz="6600" dirty="0"/>
                </a:p>
              </p:txBody>
            </p:sp>
          </mc:Choice>
          <mc:Fallback xmlns="">
            <p:sp>
              <p:nvSpPr>
                <p:cNvPr id="62" name="TextBox 61">
                  <a:extLst>
                    <a:ext uri="{FF2B5EF4-FFF2-40B4-BE49-F238E27FC236}">
                      <a16:creationId xmlns:a16="http://schemas.microsoft.com/office/drawing/2014/main" id="{26DD46F4-6616-8AE0-3150-4C4286F609D2}"/>
                    </a:ext>
                  </a:extLst>
                </p:cNvPr>
                <p:cNvSpPr txBox="1">
                  <a:spLocks noRot="1" noChangeAspect="1" noMove="1" noResize="1" noEditPoints="1" noAdjustHandles="1" noChangeArrowheads="1" noChangeShapeType="1" noTextEdit="1"/>
                </p:cNvSpPr>
                <p:nvPr/>
              </p:nvSpPr>
              <p:spPr>
                <a:xfrm>
                  <a:off x="4394076" y="9421033"/>
                  <a:ext cx="1203086" cy="307777"/>
                </a:xfrm>
                <a:prstGeom prst="rect">
                  <a:avLst/>
                </a:prstGeom>
                <a:blipFill>
                  <a:blip r:embed="rId11"/>
                  <a:stretch>
                    <a:fillRect l="-1010" r="-3030" b="-10000"/>
                  </a:stretch>
                </a:blipFill>
              </p:spPr>
              <p:txBody>
                <a:bodyPr/>
                <a:lstStyle/>
                <a:p>
                  <a:r>
                    <a:rPr lang="ko-KR" altLang="en-US">
                      <a:noFill/>
                    </a:rPr>
                    <a:t> </a:t>
                  </a:r>
                </a:p>
              </p:txBody>
            </p:sp>
          </mc:Fallback>
        </mc:AlternateContent>
        <p:grpSp>
          <p:nvGrpSpPr>
            <p:cNvPr id="10" name="그룹 9">
              <a:extLst>
                <a:ext uri="{FF2B5EF4-FFF2-40B4-BE49-F238E27FC236}">
                  <a16:creationId xmlns:a16="http://schemas.microsoft.com/office/drawing/2014/main" id="{B4A55AC7-20C9-9605-4A6A-BECF5E0FF0F3}"/>
                </a:ext>
              </a:extLst>
            </p:cNvPr>
            <p:cNvGrpSpPr/>
            <p:nvPr/>
          </p:nvGrpSpPr>
          <p:grpSpPr>
            <a:xfrm>
              <a:off x="1899858" y="8484381"/>
              <a:ext cx="2312574" cy="2312574"/>
              <a:chOff x="879403" y="8360231"/>
              <a:chExt cx="1962000" cy="1962000"/>
            </a:xfrm>
          </p:grpSpPr>
          <p:grpSp>
            <p:nvGrpSpPr>
              <p:cNvPr id="58" name="그룹 57">
                <a:extLst>
                  <a:ext uri="{FF2B5EF4-FFF2-40B4-BE49-F238E27FC236}">
                    <a16:creationId xmlns:a16="http://schemas.microsoft.com/office/drawing/2014/main" id="{E181934D-31B9-60A9-B88C-09D313F32532}"/>
                  </a:ext>
                </a:extLst>
              </p:cNvPr>
              <p:cNvGrpSpPr/>
              <p:nvPr/>
            </p:nvGrpSpPr>
            <p:grpSpPr>
              <a:xfrm>
                <a:off x="879403" y="8360231"/>
                <a:ext cx="1962000" cy="1962000"/>
                <a:chOff x="781746" y="11694457"/>
                <a:chExt cx="1962000" cy="1962000"/>
              </a:xfrm>
            </p:grpSpPr>
            <p:grpSp>
              <p:nvGrpSpPr>
                <p:cNvPr id="55" name="그룹 54">
                  <a:extLst>
                    <a:ext uri="{FF2B5EF4-FFF2-40B4-BE49-F238E27FC236}">
                      <a16:creationId xmlns:a16="http://schemas.microsoft.com/office/drawing/2014/main" id="{EC7307D5-3228-2E6E-895E-20C3A8A16A4C}"/>
                    </a:ext>
                  </a:extLst>
                </p:cNvPr>
                <p:cNvGrpSpPr/>
                <p:nvPr/>
              </p:nvGrpSpPr>
              <p:grpSpPr>
                <a:xfrm>
                  <a:off x="781746" y="11694457"/>
                  <a:ext cx="1962000" cy="1962000"/>
                  <a:chOff x="781746" y="11694457"/>
                  <a:chExt cx="1962000" cy="1962000"/>
                </a:xfrm>
              </p:grpSpPr>
              <p:sp>
                <p:nvSpPr>
                  <p:cNvPr id="32" name="직사각형 31">
                    <a:extLst>
                      <a:ext uri="{FF2B5EF4-FFF2-40B4-BE49-F238E27FC236}">
                        <a16:creationId xmlns:a16="http://schemas.microsoft.com/office/drawing/2014/main" id="{C501F636-EE0D-36D7-1CAF-D55FD24D4C92}"/>
                      </a:ext>
                    </a:extLst>
                  </p:cNvPr>
                  <p:cNvSpPr/>
                  <p:nvPr/>
                </p:nvSpPr>
                <p:spPr>
                  <a:xfrm>
                    <a:off x="781746" y="11694457"/>
                    <a:ext cx="1962000" cy="19620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1" name="직선 화살표 연결선 50">
                    <a:extLst>
                      <a:ext uri="{FF2B5EF4-FFF2-40B4-BE49-F238E27FC236}">
                        <a16:creationId xmlns:a16="http://schemas.microsoft.com/office/drawing/2014/main" id="{2101F1A4-AEF4-A814-B646-D1408C6527BA}"/>
                      </a:ext>
                    </a:extLst>
                  </p:cNvPr>
                  <p:cNvCxnSpPr>
                    <a:cxnSpLocks/>
                  </p:cNvCxnSpPr>
                  <p:nvPr/>
                </p:nvCxnSpPr>
                <p:spPr>
                  <a:xfrm>
                    <a:off x="2266950" y="11741837"/>
                    <a:ext cx="0" cy="1859314"/>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직선 화살표 연결선 53">
                    <a:extLst>
                      <a:ext uri="{FF2B5EF4-FFF2-40B4-BE49-F238E27FC236}">
                        <a16:creationId xmlns:a16="http://schemas.microsoft.com/office/drawing/2014/main" id="{E56C5580-D985-BB85-C2E9-23E326B01F5A}"/>
                      </a:ext>
                    </a:extLst>
                  </p:cNvPr>
                  <p:cNvCxnSpPr/>
                  <p:nvPr/>
                </p:nvCxnSpPr>
                <p:spPr>
                  <a:xfrm>
                    <a:off x="781746" y="13424765"/>
                    <a:ext cx="1962000"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2A4A5CFD-A1B6-8C62-AB98-7B30DBE0F64C}"/>
                    </a:ext>
                  </a:extLst>
                </p:cNvPr>
                <p:cNvSpPr txBox="1"/>
                <p:nvPr/>
              </p:nvSpPr>
              <p:spPr>
                <a:xfrm>
                  <a:off x="1588804" y="12329356"/>
                  <a:ext cx="844550" cy="369332"/>
                </a:xfrm>
                <a:prstGeom prst="rect">
                  <a:avLst/>
                </a:prstGeom>
                <a:noFill/>
              </p:spPr>
              <p:txBody>
                <a:bodyPr wrap="square" rtlCol="0">
                  <a:spAutoFit/>
                </a:bodyPr>
                <a:lstStyle/>
                <a:p>
                  <a:r>
                    <a:rPr lang="en-US" altLang="ko-KR" sz="1800" dirty="0">
                      <a:solidFill>
                        <a:srgbClr val="4A7EBB"/>
                      </a:solidFill>
                      <a:latin typeface="Times" panose="02020603050405020304" pitchFamily="18" charset="0"/>
                      <a:cs typeface="Times" panose="02020603050405020304" pitchFamily="18" charset="0"/>
                    </a:rPr>
                    <a:t>H = 1</a:t>
                  </a:r>
                  <a:endParaRPr lang="ko-KR" altLang="en-US" sz="1800" dirty="0">
                    <a:solidFill>
                      <a:srgbClr val="4A7EBB"/>
                    </a:solidFill>
                    <a:latin typeface="Times" panose="02020603050405020304" pitchFamily="18" charset="0"/>
                    <a:cs typeface="Times" panose="02020603050405020304" pitchFamily="18" charset="0"/>
                  </a:endParaRPr>
                </a:p>
              </p:txBody>
            </p:sp>
            <p:sp>
              <p:nvSpPr>
                <p:cNvPr id="57" name="TextBox 56">
                  <a:extLst>
                    <a:ext uri="{FF2B5EF4-FFF2-40B4-BE49-F238E27FC236}">
                      <a16:creationId xmlns:a16="http://schemas.microsoft.com/office/drawing/2014/main" id="{0D85DABE-96B7-B172-5B71-CBBE2C96DBDC}"/>
                    </a:ext>
                  </a:extLst>
                </p:cNvPr>
                <p:cNvSpPr txBox="1"/>
                <p:nvPr/>
              </p:nvSpPr>
              <p:spPr>
                <a:xfrm>
                  <a:off x="1147288" y="13002088"/>
                  <a:ext cx="844550" cy="369332"/>
                </a:xfrm>
                <a:prstGeom prst="rect">
                  <a:avLst/>
                </a:prstGeom>
                <a:noFill/>
              </p:spPr>
              <p:txBody>
                <a:bodyPr wrap="square" rtlCol="0">
                  <a:spAutoFit/>
                </a:bodyPr>
                <a:lstStyle/>
                <a:p>
                  <a:r>
                    <a:rPr lang="en-US" altLang="ko-KR" sz="1800" dirty="0">
                      <a:solidFill>
                        <a:srgbClr val="4A7EBB"/>
                      </a:solidFill>
                      <a:latin typeface="Times" panose="02020603050405020304" pitchFamily="18" charset="0"/>
                      <a:cs typeface="Times" panose="02020603050405020304" pitchFamily="18" charset="0"/>
                    </a:rPr>
                    <a:t>H = 1</a:t>
                  </a:r>
                  <a:endParaRPr lang="ko-KR" altLang="en-US" sz="1800" dirty="0">
                    <a:solidFill>
                      <a:srgbClr val="4A7EBB"/>
                    </a:solidFill>
                    <a:latin typeface="Times" panose="02020603050405020304" pitchFamily="18" charset="0"/>
                    <a:cs typeface="Times" panose="02020603050405020304" pitchFamily="18" charset="0"/>
                  </a:endParaRPr>
                </a:p>
              </p:txBody>
            </p:sp>
          </p:grpSp>
          <p:cxnSp>
            <p:nvCxnSpPr>
              <p:cNvPr id="64" name="직선 연결선 63">
                <a:extLst>
                  <a:ext uri="{FF2B5EF4-FFF2-40B4-BE49-F238E27FC236}">
                    <a16:creationId xmlns:a16="http://schemas.microsoft.com/office/drawing/2014/main" id="{13893B21-EAFC-D37F-B025-E87E538A892F}"/>
                  </a:ext>
                </a:extLst>
              </p:cNvPr>
              <p:cNvCxnSpPr/>
              <p:nvPr/>
            </p:nvCxnSpPr>
            <p:spPr>
              <a:xfrm>
                <a:off x="879403" y="8367487"/>
                <a:ext cx="19620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sp>
        <p:nvSpPr>
          <p:cNvPr id="28" name="모서리가 둥근 직사각형 9">
            <a:extLst>
              <a:ext uri="{FF2B5EF4-FFF2-40B4-BE49-F238E27FC236}">
                <a16:creationId xmlns:a16="http://schemas.microsoft.com/office/drawing/2014/main" id="{B6F77064-D4EC-AA46-C82D-DEBFDAE7F4E9}"/>
              </a:ext>
            </a:extLst>
          </p:cNvPr>
          <p:cNvSpPr/>
          <p:nvPr/>
        </p:nvSpPr>
        <p:spPr>
          <a:xfrm>
            <a:off x="384984" y="9463089"/>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Ghia et al (1982)</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436C51EF-7103-E133-10A3-5D46FA9D08FA}"/>
              </a:ext>
            </a:extLst>
          </p:cNvPr>
          <p:cNvSpPr txBox="1"/>
          <p:nvPr/>
        </p:nvSpPr>
        <p:spPr>
          <a:xfrm>
            <a:off x="766849" y="6985806"/>
            <a:ext cx="3993714" cy="430887"/>
          </a:xfrm>
          <a:prstGeom prst="rect">
            <a:avLst/>
          </a:prstGeom>
          <a:noFill/>
        </p:spPr>
        <p:txBody>
          <a:bodyPr wrap="square" rtlCol="0">
            <a:spAutoFit/>
          </a:bodyPr>
          <a:lstStyle/>
          <a:p>
            <a:pPr marL="180000" indent="-180000">
              <a:buFont typeface="Arial" panose="020B0604020202020204" pitchFamily="34" charset="0"/>
              <a:buChar char="•"/>
            </a:pPr>
            <a:r>
              <a:rPr lang="en-US" altLang="ko-KR" sz="2200" dirty="0">
                <a:latin typeface="Times New Roman" panose="02020603050405020304" pitchFamily="18" charset="0"/>
                <a:cs typeface="Times New Roman" panose="02020603050405020304" pitchFamily="18" charset="0"/>
              </a:rPr>
              <a:t>Navier-Stokes equations</a:t>
            </a:r>
          </a:p>
        </p:txBody>
      </p:sp>
      <p:sp>
        <p:nvSpPr>
          <p:cNvPr id="34" name="TextBox 33">
            <a:extLst>
              <a:ext uri="{FF2B5EF4-FFF2-40B4-BE49-F238E27FC236}">
                <a16:creationId xmlns:a16="http://schemas.microsoft.com/office/drawing/2014/main" id="{F1B87475-99A5-77AF-F3F5-CA88952942B9}"/>
              </a:ext>
            </a:extLst>
          </p:cNvPr>
          <p:cNvSpPr txBox="1"/>
          <p:nvPr/>
        </p:nvSpPr>
        <p:spPr>
          <a:xfrm>
            <a:off x="766849" y="8265619"/>
            <a:ext cx="2998565" cy="430887"/>
          </a:xfrm>
          <a:prstGeom prst="rect">
            <a:avLst/>
          </a:prstGeom>
          <a:noFill/>
        </p:spPr>
        <p:txBody>
          <a:bodyPr wrap="square" rtlCol="0">
            <a:spAutoFit/>
          </a:bodyPr>
          <a:lstStyle/>
          <a:p>
            <a:pPr marL="180000" indent="-180000">
              <a:buFont typeface="Arial" panose="020B0604020202020204" pitchFamily="34" charset="0"/>
              <a:buChar char="•"/>
            </a:pPr>
            <a:r>
              <a:rPr lang="en-US" altLang="ko-KR" sz="2200" dirty="0">
                <a:latin typeface="Times New Roman" panose="02020603050405020304" pitchFamily="18" charset="0"/>
                <a:cs typeface="Times New Roman" panose="02020603050405020304" pitchFamily="18" charset="0"/>
              </a:rPr>
              <a:t>Continuity equation</a:t>
            </a:r>
          </a:p>
        </p:txBody>
      </p:sp>
      <p:graphicFrame>
        <p:nvGraphicFramePr>
          <p:cNvPr id="36" name="표 35">
            <a:extLst>
              <a:ext uri="{FF2B5EF4-FFF2-40B4-BE49-F238E27FC236}">
                <a16:creationId xmlns:a16="http://schemas.microsoft.com/office/drawing/2014/main" id="{F5B8D777-8AD6-D209-30A9-1168572218B6}"/>
              </a:ext>
            </a:extLst>
          </p:cNvPr>
          <p:cNvGraphicFramePr>
            <a:graphicFrameLocks noGrp="1"/>
          </p:cNvGraphicFramePr>
          <p:nvPr>
            <p:extLst>
              <p:ext uri="{D42A27DB-BD31-4B8C-83A1-F6EECF244321}">
                <p14:modId xmlns:p14="http://schemas.microsoft.com/office/powerpoint/2010/main" val="2197936158"/>
              </p:ext>
            </p:extLst>
          </p:nvPr>
        </p:nvGraphicFramePr>
        <p:xfrm>
          <a:off x="386433" y="10043900"/>
          <a:ext cx="10150360" cy="6242930"/>
        </p:xfrm>
        <a:graphic>
          <a:graphicData uri="http://schemas.openxmlformats.org/drawingml/2006/table">
            <a:tbl>
              <a:tblPr firstRow="1" bandRow="1">
                <a:tableStyleId>{5C22544A-7EE6-4342-B048-85BDC9FD1C3A}</a:tableStyleId>
              </a:tblPr>
              <a:tblGrid>
                <a:gridCol w="3383452">
                  <a:extLst>
                    <a:ext uri="{9D8B030D-6E8A-4147-A177-3AD203B41FA5}">
                      <a16:colId xmlns:a16="http://schemas.microsoft.com/office/drawing/2014/main" val="1904415591"/>
                    </a:ext>
                  </a:extLst>
                </a:gridCol>
                <a:gridCol w="1691728">
                  <a:extLst>
                    <a:ext uri="{9D8B030D-6E8A-4147-A177-3AD203B41FA5}">
                      <a16:colId xmlns:a16="http://schemas.microsoft.com/office/drawing/2014/main" val="3520315317"/>
                    </a:ext>
                  </a:extLst>
                </a:gridCol>
                <a:gridCol w="1691728">
                  <a:extLst>
                    <a:ext uri="{9D8B030D-6E8A-4147-A177-3AD203B41FA5}">
                      <a16:colId xmlns:a16="http://schemas.microsoft.com/office/drawing/2014/main" val="3986792996"/>
                    </a:ext>
                  </a:extLst>
                </a:gridCol>
                <a:gridCol w="3383452">
                  <a:extLst>
                    <a:ext uri="{9D8B030D-6E8A-4147-A177-3AD203B41FA5}">
                      <a16:colId xmlns:a16="http://schemas.microsoft.com/office/drawing/2014/main" val="2288522900"/>
                    </a:ext>
                  </a:extLst>
                </a:gridCol>
              </a:tblGrid>
              <a:tr h="2586079">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12">
                        <a:extLst>
                          <a:ext uri="{28A0092B-C50C-407E-A947-70E740481C1C}">
                            <a14:useLocalDpi xmlns:a14="http://schemas.microsoft.com/office/drawing/2010/main" val="0"/>
                          </a:ext>
                        </a:extLst>
                      </a:blip>
                      <a:srcRect/>
                      <a:stretch>
                        <a:fillRect/>
                      </a:stretch>
                    </a:blipFill>
                  </a:tcPr>
                </a:tc>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13">
                        <a:extLst>
                          <a:ext uri="{28A0092B-C50C-407E-A947-70E740481C1C}">
                            <a14:useLocalDpi xmlns:a14="http://schemas.microsoft.com/office/drawing/2010/main" val="0"/>
                          </a:ext>
                        </a:extLst>
                      </a:blip>
                      <a:srcRect/>
                      <a:stretch>
                        <a:fillRect/>
                      </a:stretch>
                    </a:blipFill>
                  </a:tcPr>
                </a:tc>
                <a:tc hMerge="1">
                  <a:txBody>
                    <a:bodyPr/>
                    <a:lstStyle/>
                    <a:p>
                      <a:pPr latinLnBrk="1"/>
                      <a:endParaRPr lang="ko-KR" altLang="en-US"/>
                    </a:p>
                  </a:txBody>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14">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3183017914"/>
                  </a:ext>
                </a:extLst>
              </a:tr>
              <a:tr h="0">
                <a:tc gridSpan="4">
                  <a:txBody>
                    <a:bodyPr/>
                    <a:lstStyle/>
                    <a:p>
                      <a:pPr algn="ctr" latinLnBrk="1"/>
                      <a:r>
                        <a:rPr lang="en-US" altLang="ko-KR" sz="2000" b="1" dirty="0">
                          <a:solidFill>
                            <a:sysClr val="windowText" lastClr="000000"/>
                          </a:solidFill>
                          <a:latin typeface="Times New Roman" panose="02020603050405020304" pitchFamily="18" charset="0"/>
                          <a:cs typeface="Times New Roman" panose="02020603050405020304" pitchFamily="18" charset="0"/>
                        </a:rPr>
                        <a:t>Fig. 1 </a:t>
                      </a:r>
                      <a:r>
                        <a:rPr lang="en-US" altLang="ko-KR" sz="2000" dirty="0">
                          <a:solidFill>
                            <a:sysClr val="windowText" lastClr="000000"/>
                          </a:solidFill>
                          <a:latin typeface="Times New Roman" panose="02020603050405020304" pitchFamily="18" charset="0"/>
                          <a:cs typeface="Times New Roman" panose="02020603050405020304" pitchFamily="18" charset="0"/>
                        </a:rPr>
                        <a:t> Streamline pattern of (a) Re 100, (b) Re 400 and (c) Re 1000 at the steady state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060976"/>
                  </a:ext>
                </a:extLst>
              </a:tr>
              <a:tr h="2864371">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15">
                        <a:extLst>
                          <a:ext uri="{28A0092B-C50C-407E-A947-70E740481C1C}">
                            <a14:useLocalDpi xmlns:a14="http://schemas.microsoft.com/office/drawing/2010/main" val="0"/>
                          </a:ext>
                        </a:extLst>
                      </a:blip>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16">
                        <a:extLst>
                          <a:ext uri="{28A0092B-C50C-407E-A947-70E740481C1C}">
                            <a14:useLocalDpi xmlns:a14="http://schemas.microsoft.com/office/drawing/2010/main" val="0"/>
                          </a:ext>
                        </a:extLst>
                      </a:blip>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0897978"/>
                  </a:ext>
                </a:extLst>
              </a:tr>
              <a:tr h="0">
                <a:tc gridSpan="4">
                  <a:txBody>
                    <a:bodyPr/>
                    <a:lstStyle/>
                    <a:p>
                      <a:pPr algn="ctr" latinLnBrk="1"/>
                      <a:r>
                        <a:rPr lang="en-US" altLang="ko-KR" sz="2000" b="1" dirty="0">
                          <a:solidFill>
                            <a:sysClr val="windowText" lastClr="000000"/>
                          </a:solidFill>
                          <a:latin typeface="Times New Roman" panose="02020603050405020304" pitchFamily="18" charset="0"/>
                          <a:cs typeface="Times New Roman" panose="02020603050405020304" pitchFamily="18" charset="0"/>
                        </a:rPr>
                        <a:t>Fig. 2 </a:t>
                      </a:r>
                      <a:r>
                        <a:rPr lang="en-US" altLang="ko-KR" sz="2000" dirty="0">
                          <a:solidFill>
                            <a:sysClr val="windowText" lastClr="000000"/>
                          </a:solidFill>
                          <a:latin typeface="Times New Roman" panose="02020603050405020304" pitchFamily="18" charset="0"/>
                          <a:cs typeface="Times New Roman" panose="02020603050405020304" pitchFamily="18" charset="0"/>
                        </a:rPr>
                        <a:t> Comparison of (a) u-velocity along vertical lines and (b) v-velocity along horizontal lines </a:t>
                      </a:r>
                      <a:endParaRPr lang="ko-KR" altLang="en-US"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ctr" latinLnBrk="1"/>
                      <a:endParaRPr lang="ko-KR" altLang="en-US" sz="20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2424699889"/>
                  </a:ext>
                </a:extLst>
              </a:tr>
            </a:tbl>
          </a:graphicData>
        </a:graphic>
      </p:graphicFrame>
      <p:grpSp>
        <p:nvGrpSpPr>
          <p:cNvPr id="13" name="그룹 12">
            <a:extLst>
              <a:ext uri="{FF2B5EF4-FFF2-40B4-BE49-F238E27FC236}">
                <a16:creationId xmlns:a16="http://schemas.microsoft.com/office/drawing/2014/main" id="{363D6FD1-B0E9-3B3E-20E7-EB7FAF36ACC5}"/>
              </a:ext>
            </a:extLst>
          </p:cNvPr>
          <p:cNvGrpSpPr/>
          <p:nvPr/>
        </p:nvGrpSpPr>
        <p:grpSpPr>
          <a:xfrm>
            <a:off x="3246382" y="10150020"/>
            <a:ext cx="7159304" cy="457200"/>
            <a:chOff x="3246382" y="10610852"/>
            <a:chExt cx="7159304" cy="457200"/>
          </a:xfrm>
        </p:grpSpPr>
        <p:sp>
          <p:nvSpPr>
            <p:cNvPr id="3" name="직사각형 2">
              <a:extLst>
                <a:ext uri="{FF2B5EF4-FFF2-40B4-BE49-F238E27FC236}">
                  <a16:creationId xmlns:a16="http://schemas.microsoft.com/office/drawing/2014/main" id="{8158A4B5-E090-A583-92E3-6B1C6B0D387F}"/>
                </a:ext>
              </a:extLst>
            </p:cNvPr>
            <p:cNvSpPr/>
            <p:nvPr/>
          </p:nvSpPr>
          <p:spPr>
            <a:xfrm>
              <a:off x="3246382"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8" name="직사각형 7">
              <a:extLst>
                <a:ext uri="{FF2B5EF4-FFF2-40B4-BE49-F238E27FC236}">
                  <a16:creationId xmlns:a16="http://schemas.microsoft.com/office/drawing/2014/main" id="{BA2C0F73-7C58-53E4-3D70-AE573A4959F8}"/>
                </a:ext>
              </a:extLst>
            </p:cNvPr>
            <p:cNvSpPr/>
            <p:nvPr/>
          </p:nvSpPr>
          <p:spPr>
            <a:xfrm>
              <a:off x="6546484"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sp>
          <p:nvSpPr>
            <p:cNvPr id="11" name="직사각형 10">
              <a:extLst>
                <a:ext uri="{FF2B5EF4-FFF2-40B4-BE49-F238E27FC236}">
                  <a16:creationId xmlns:a16="http://schemas.microsoft.com/office/drawing/2014/main" id="{2FB0D2C6-ABA4-B3DD-DE7C-C483360D8F55}"/>
                </a:ext>
              </a:extLst>
            </p:cNvPr>
            <p:cNvSpPr/>
            <p:nvPr/>
          </p:nvSpPr>
          <p:spPr>
            <a:xfrm>
              <a:off x="9948486"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(c)</a:t>
              </a:r>
              <a:endParaRPr lang="ko-KR" altLang="en-US" sz="2000" b="1" dirty="0">
                <a:solidFill>
                  <a:schemeClr val="tx1"/>
                </a:solidFill>
              </a:endParaRPr>
            </a:p>
          </p:txBody>
        </p:sp>
      </p:grpSp>
      <p:sp>
        <p:nvSpPr>
          <p:cNvPr id="15" name="직사각형 14">
            <a:extLst>
              <a:ext uri="{FF2B5EF4-FFF2-40B4-BE49-F238E27FC236}">
                <a16:creationId xmlns:a16="http://schemas.microsoft.com/office/drawing/2014/main" id="{6E6F53DB-95DC-5818-8B01-E0EE0167B924}"/>
              </a:ext>
            </a:extLst>
          </p:cNvPr>
          <p:cNvSpPr/>
          <p:nvPr/>
        </p:nvSpPr>
        <p:spPr>
          <a:xfrm>
            <a:off x="4934925" y="13066838"/>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16" name="직사각형 15">
            <a:extLst>
              <a:ext uri="{FF2B5EF4-FFF2-40B4-BE49-F238E27FC236}">
                <a16:creationId xmlns:a16="http://schemas.microsoft.com/office/drawing/2014/main" id="{0837C051-A007-E22B-2255-0F45AB584300}"/>
              </a:ext>
            </a:extLst>
          </p:cNvPr>
          <p:cNvSpPr/>
          <p:nvPr/>
        </p:nvSpPr>
        <p:spPr>
          <a:xfrm>
            <a:off x="10000937" y="13066838"/>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sp>
        <p:nvSpPr>
          <p:cNvPr id="17" name="모서리가 둥근 직사각형 9">
            <a:extLst>
              <a:ext uri="{FF2B5EF4-FFF2-40B4-BE49-F238E27FC236}">
                <a16:creationId xmlns:a16="http://schemas.microsoft.com/office/drawing/2014/main" id="{2F7B7695-4141-BB69-FA3B-DB16C3D47737}"/>
              </a:ext>
            </a:extLst>
          </p:cNvPr>
          <p:cNvSpPr/>
          <p:nvPr/>
        </p:nvSpPr>
        <p:spPr>
          <a:xfrm>
            <a:off x="10816824" y="5562788"/>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Python</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grpSp>
        <p:nvGrpSpPr>
          <p:cNvPr id="14" name="그룹 13">
            <a:extLst>
              <a:ext uri="{FF2B5EF4-FFF2-40B4-BE49-F238E27FC236}">
                <a16:creationId xmlns:a16="http://schemas.microsoft.com/office/drawing/2014/main" id="{C84E4584-86A0-7EC4-FD22-392559C97E8B}"/>
              </a:ext>
            </a:extLst>
          </p:cNvPr>
          <p:cNvGrpSpPr/>
          <p:nvPr/>
        </p:nvGrpSpPr>
        <p:grpSpPr>
          <a:xfrm>
            <a:off x="10816823" y="6187161"/>
            <a:ext cx="6088194" cy="3668094"/>
            <a:chOff x="604925" y="10000392"/>
            <a:chExt cx="4587751" cy="3668094"/>
          </a:xfrm>
        </p:grpSpPr>
        <p:sp>
          <p:nvSpPr>
            <p:cNvPr id="20" name="TextBox 19">
              <a:extLst>
                <a:ext uri="{FF2B5EF4-FFF2-40B4-BE49-F238E27FC236}">
                  <a16:creationId xmlns:a16="http://schemas.microsoft.com/office/drawing/2014/main" id="{3560A3C8-F654-DE28-B947-317CC4892CA6}"/>
                </a:ext>
              </a:extLst>
            </p:cNvPr>
            <p:cNvSpPr txBox="1"/>
            <p:nvPr/>
          </p:nvSpPr>
          <p:spPr>
            <a:xfrm>
              <a:off x="604925" y="10000392"/>
              <a:ext cx="2998565" cy="430887"/>
            </a:xfrm>
            <a:prstGeom prst="rect">
              <a:avLst/>
            </a:prstGeom>
            <a:noFill/>
          </p:spPr>
          <p:txBody>
            <a:bodyPr wrap="square" rtlCol="0">
              <a:spAutoFit/>
            </a:bodyPr>
            <a:lstStyle/>
            <a:p>
              <a:r>
                <a:rPr lang="en-US" altLang="ko-KR" sz="2200" dirty="0">
                  <a:latin typeface="Times New Roman" panose="02020603050405020304" pitchFamily="18" charset="0"/>
                  <a:cs typeface="Times New Roman" panose="02020603050405020304" pitchFamily="18" charset="0"/>
                </a:rPr>
                <a:t>&lt;Numerical Modeling&gt;</a:t>
              </a:r>
            </a:p>
          </p:txBody>
        </p:sp>
        <mc:AlternateContent xmlns:mc="http://schemas.openxmlformats.org/markup-compatibility/2006" xmlns:a14="http://schemas.microsoft.com/office/drawing/2010/main">
          <mc:Choice Requires="a14">
            <p:sp>
              <p:nvSpPr>
                <p:cNvPr id="23" name="직사각형 22">
                  <a:extLst>
                    <a:ext uri="{FF2B5EF4-FFF2-40B4-BE49-F238E27FC236}">
                      <a16:creationId xmlns:a16="http://schemas.microsoft.com/office/drawing/2014/main" id="{D6E0911B-EF04-FF3E-3F99-BC6040F9BBB2}"/>
                    </a:ext>
                  </a:extLst>
                </p:cNvPr>
                <p:cNvSpPr/>
                <p:nvPr/>
              </p:nvSpPr>
              <p:spPr>
                <a:xfrm>
                  <a:off x="741154" y="10429138"/>
                  <a:ext cx="4451522" cy="3239348"/>
                </a:xfrm>
                <a:prstGeom prst="rect">
                  <a:avLst/>
                </a:prstGeom>
              </p:spPr>
              <p:txBody>
                <a:bodyPr wrap="square" lIns="91440" tIns="45720" rIns="91440" bIns="45720" anchor="t">
                  <a:spAutoFit/>
                </a:bodyPr>
                <a:lstStyle/>
                <a:p>
                  <a:pPr marL="171450" indent="-180000">
                    <a:lnSpc>
                      <a:spcPct val="120000"/>
                    </a:lnSpc>
                    <a:buFont typeface="Arial" panose="020B0604020202020204" pitchFamily="34" charset="0"/>
                    <a:buChar char="•"/>
                  </a:pPr>
                  <a:r>
                    <a:rPr lang="en-US" altLang="ko-KR" sz="2200" dirty="0">
                      <a:latin typeface="Times New Roman"/>
                      <a:ea typeface="맑은 고딕"/>
                      <a:cs typeface="Times New Roman"/>
                    </a:rPr>
                    <a:t>Convection term</a:t>
                  </a:r>
                </a:p>
                <a:p>
                  <a:pPr>
                    <a:lnSpc>
                      <a:spcPct val="120000"/>
                    </a:lnSpc>
                  </a:pPr>
                  <a:r>
                    <a:rPr lang="en-US" altLang="ko-KR" sz="2200" dirty="0">
                      <a:latin typeface="Times New Roman"/>
                      <a:ea typeface="맑은 고딕"/>
                      <a:cs typeface="Times New Roman"/>
                    </a:rPr>
                    <a:t>          2nd Adams-Bashforth method</a:t>
                  </a:r>
                </a:p>
                <a:p>
                  <a:pPr marL="171450" indent="-171450">
                    <a:lnSpc>
                      <a:spcPct val="200000"/>
                    </a:lnSpc>
                    <a:buFont typeface="Arial" panose="020B0604020202020204" pitchFamily="34" charset="0"/>
                    <a:buChar char="•"/>
                  </a:pPr>
                  <a:r>
                    <a:rPr lang="en-US" altLang="ko-KR" sz="2200" dirty="0">
                      <a:latin typeface="Times New Roman"/>
                      <a:ea typeface="맑은 고딕"/>
                      <a:cs typeface="Times New Roman"/>
                    </a:rPr>
                    <a:t>Diffusion term</a:t>
                  </a:r>
                </a:p>
                <a:p>
                  <a:pPr>
                    <a:lnSpc>
                      <a:spcPct val="120000"/>
                    </a:lnSpc>
                  </a:pPr>
                  <a:r>
                    <a:rPr lang="en-US" altLang="ko-KR" sz="2200" dirty="0">
                      <a:latin typeface="Times New Roman"/>
                      <a:ea typeface="맑은 고딕"/>
                      <a:cs typeface="Times New Roman"/>
                    </a:rPr>
                    <a:t>          Crank-Nicolson method</a:t>
                  </a:r>
                </a:p>
                <a:p>
                  <a:pPr marL="171450" indent="-171450">
                    <a:lnSpc>
                      <a:spcPct val="200000"/>
                    </a:lnSpc>
                    <a:buFont typeface="Arial" panose="020B0604020202020204" pitchFamily="34" charset="0"/>
                    <a:buChar char="•"/>
                  </a:pPr>
                  <a:r>
                    <a:rPr lang="en-US" altLang="ko-KR" sz="2200" dirty="0">
                      <a:latin typeface="Times New Roman"/>
                      <a:ea typeface="맑은 고딕"/>
                      <a:cs typeface="Times New Roman"/>
                    </a:rPr>
                    <a:t>Projection method</a:t>
                  </a:r>
                </a:p>
                <a:p>
                  <a:pPr marL="171450" indent="-171450">
                    <a:lnSpc>
                      <a:spcPct val="200000"/>
                    </a:lnSpc>
                    <a:buFont typeface="Arial" panose="020B0604020202020204" pitchFamily="34" charset="0"/>
                    <a:buChar char="•"/>
                  </a:pPr>
                  <a14:m>
                    <m:oMath xmlns:m="http://schemas.openxmlformats.org/officeDocument/2006/math">
                      <m:r>
                        <a:rPr lang="en-US" altLang="ko-KR" sz="2200" i="1" smtClean="0">
                          <a:latin typeface="Cambria Math" panose="02040503050406030204" pitchFamily="18" charset="0"/>
                          <a:ea typeface="Cambria Math" panose="02040503050406030204" pitchFamily="18" charset="0"/>
                          <a:cs typeface="Times New Roman"/>
                        </a:rPr>
                        <m:t>∆</m:t>
                      </m:r>
                      <m:r>
                        <a:rPr lang="en-US" altLang="ko-KR" sz="2200" i="1">
                          <a:latin typeface="Cambria Math" panose="02040503050406030204" pitchFamily="18" charset="0"/>
                          <a:ea typeface="Cambria Math" panose="02040503050406030204" pitchFamily="18" charset="0"/>
                          <a:cs typeface="Times New Roman"/>
                        </a:rPr>
                        <m:t>𝑡</m:t>
                      </m:r>
                      <m:r>
                        <a:rPr lang="en-US" altLang="ko-KR" sz="2200" i="1">
                          <a:latin typeface="Cambria Math" panose="02040503050406030204" pitchFamily="18" charset="0"/>
                          <a:ea typeface="Cambria Math" panose="02040503050406030204" pitchFamily="18" charset="0"/>
                          <a:cs typeface="Times New Roman"/>
                        </a:rPr>
                        <m:t>=0.01</m:t>
                      </m:r>
                      <m:d>
                        <m:dPr>
                          <m:ctrlPr>
                            <a:rPr lang="en-US" altLang="ko-KR" sz="2200" i="1">
                              <a:latin typeface="Cambria Math" panose="02040503050406030204" pitchFamily="18" charset="0"/>
                              <a:ea typeface="Cambria Math" panose="02040503050406030204" pitchFamily="18" charset="0"/>
                              <a:cs typeface="Times New Roman"/>
                            </a:rPr>
                          </m:ctrlPr>
                        </m:dPr>
                        <m:e>
                          <m:r>
                            <a:rPr lang="en-US" altLang="ko-KR" sz="2200" i="1">
                              <a:latin typeface="Cambria Math" panose="02040503050406030204" pitchFamily="18" charset="0"/>
                              <a:ea typeface="Cambria Math" panose="02040503050406030204" pitchFamily="18" charset="0"/>
                              <a:cs typeface="Times New Roman"/>
                            </a:rPr>
                            <m:t>𝑅𝑒</m:t>
                          </m:r>
                          <m:r>
                            <a:rPr lang="en-US" altLang="ko-KR" sz="2200" i="1">
                              <a:latin typeface="Cambria Math" panose="02040503050406030204" pitchFamily="18" charset="0"/>
                              <a:ea typeface="Cambria Math" panose="02040503050406030204" pitchFamily="18" charset="0"/>
                              <a:cs typeface="Times New Roman"/>
                            </a:rPr>
                            <m:t>=100, 400</m:t>
                          </m:r>
                        </m:e>
                      </m:d>
                      <m:r>
                        <a:rPr lang="en-US" altLang="ko-KR" sz="2200" b="0" i="1" smtClean="0">
                          <a:latin typeface="Cambria Math" panose="02040503050406030204" pitchFamily="18" charset="0"/>
                          <a:ea typeface="Cambria Math" panose="02040503050406030204" pitchFamily="18" charset="0"/>
                          <a:cs typeface="Times New Roman"/>
                        </a:rPr>
                        <m:t>,</m:t>
                      </m:r>
                      <m:r>
                        <a:rPr lang="en-US" altLang="ko-KR" sz="2200" i="1">
                          <a:latin typeface="Cambria Math" panose="02040503050406030204" pitchFamily="18" charset="0"/>
                          <a:ea typeface="Cambria Math" panose="02040503050406030204" pitchFamily="18" charset="0"/>
                          <a:cs typeface="Times New Roman"/>
                        </a:rPr>
                        <m:t> 0.005</m:t>
                      </m:r>
                      <m:r>
                        <a:rPr lang="en-US" altLang="ko-KR" sz="2200" b="0" i="1" smtClean="0">
                          <a:latin typeface="Cambria Math" panose="02040503050406030204" pitchFamily="18" charset="0"/>
                          <a:ea typeface="Cambria Math" panose="02040503050406030204" pitchFamily="18" charset="0"/>
                          <a:cs typeface="Times New Roman"/>
                        </a:rPr>
                        <m:t> (</m:t>
                      </m:r>
                      <m:r>
                        <a:rPr lang="en-US" altLang="ko-KR" sz="2200" i="1">
                          <a:latin typeface="Cambria Math" panose="02040503050406030204" pitchFamily="18" charset="0"/>
                          <a:ea typeface="Cambria Math" panose="02040503050406030204" pitchFamily="18" charset="0"/>
                          <a:cs typeface="Times New Roman"/>
                        </a:rPr>
                        <m:t>𝑅𝑒</m:t>
                      </m:r>
                      <m:r>
                        <a:rPr lang="en-US" altLang="ko-KR" sz="2200" i="1">
                          <a:latin typeface="Cambria Math" panose="02040503050406030204" pitchFamily="18" charset="0"/>
                          <a:ea typeface="Cambria Math" panose="02040503050406030204" pitchFamily="18" charset="0"/>
                          <a:cs typeface="Times New Roman"/>
                        </a:rPr>
                        <m:t>=1000)</m:t>
                      </m:r>
                    </m:oMath>
                  </a14:m>
                  <a:endParaRPr lang="en-US" altLang="ko-KR" sz="2200" dirty="0">
                    <a:latin typeface="Times New Roman"/>
                    <a:ea typeface="맑은 고딕"/>
                    <a:cs typeface="Times New Roman"/>
                  </a:endParaRPr>
                </a:p>
              </p:txBody>
            </p:sp>
          </mc:Choice>
          <mc:Fallback xmlns="">
            <p:sp>
              <p:nvSpPr>
                <p:cNvPr id="23" name="직사각형 22">
                  <a:extLst>
                    <a:ext uri="{FF2B5EF4-FFF2-40B4-BE49-F238E27FC236}">
                      <a16:creationId xmlns:a16="http://schemas.microsoft.com/office/drawing/2014/main" id="{D6E0911B-EF04-FF3E-3F99-BC6040F9BBB2}"/>
                    </a:ext>
                  </a:extLst>
                </p:cNvPr>
                <p:cNvSpPr>
                  <a:spLocks noRot="1" noChangeAspect="1" noMove="1" noResize="1" noEditPoints="1" noAdjustHandles="1" noChangeArrowheads="1" noChangeShapeType="1" noTextEdit="1"/>
                </p:cNvSpPr>
                <p:nvPr/>
              </p:nvSpPr>
              <p:spPr>
                <a:xfrm>
                  <a:off x="741154" y="10429138"/>
                  <a:ext cx="4451522" cy="3239348"/>
                </a:xfrm>
                <a:prstGeom prst="rect">
                  <a:avLst/>
                </a:prstGeom>
                <a:blipFill>
                  <a:blip r:embed="rId17"/>
                  <a:stretch>
                    <a:fillRect l="-1135" b="-2444"/>
                  </a:stretch>
                </a:blipFill>
              </p:spPr>
              <p:txBody>
                <a:bodyPr/>
                <a:lstStyle/>
                <a:p>
                  <a:r>
                    <a:rPr lang="ko-KR" altLang="en-US">
                      <a:noFill/>
                    </a:rPr>
                    <a:t> </a:t>
                  </a:r>
                </a:p>
              </p:txBody>
            </p:sp>
          </mc:Fallback>
        </mc:AlternateContent>
      </p:grpSp>
      <p:grpSp>
        <p:nvGrpSpPr>
          <p:cNvPr id="24" name="그룹 23">
            <a:extLst>
              <a:ext uri="{FF2B5EF4-FFF2-40B4-BE49-F238E27FC236}">
                <a16:creationId xmlns:a16="http://schemas.microsoft.com/office/drawing/2014/main" id="{E93F2BEC-4603-D451-0425-14C8D8340AC9}"/>
              </a:ext>
            </a:extLst>
          </p:cNvPr>
          <p:cNvGrpSpPr/>
          <p:nvPr/>
        </p:nvGrpSpPr>
        <p:grpSpPr>
          <a:xfrm>
            <a:off x="16078781" y="6187161"/>
            <a:ext cx="4430163" cy="1306679"/>
            <a:chOff x="604925" y="10000392"/>
            <a:chExt cx="4587751" cy="1306679"/>
          </a:xfrm>
        </p:grpSpPr>
        <p:sp>
          <p:nvSpPr>
            <p:cNvPr id="25" name="TextBox 24">
              <a:extLst>
                <a:ext uri="{FF2B5EF4-FFF2-40B4-BE49-F238E27FC236}">
                  <a16:creationId xmlns:a16="http://schemas.microsoft.com/office/drawing/2014/main" id="{E96F0B78-802B-18D7-D4B9-31902EE0C769}"/>
                </a:ext>
              </a:extLst>
            </p:cNvPr>
            <p:cNvSpPr txBox="1"/>
            <p:nvPr/>
          </p:nvSpPr>
          <p:spPr>
            <a:xfrm>
              <a:off x="604925" y="10000392"/>
              <a:ext cx="2998565" cy="430887"/>
            </a:xfrm>
            <a:prstGeom prst="rect">
              <a:avLst/>
            </a:prstGeom>
            <a:noFill/>
          </p:spPr>
          <p:txBody>
            <a:bodyPr wrap="square" rtlCol="0">
              <a:spAutoFit/>
            </a:bodyPr>
            <a:lstStyle/>
            <a:p>
              <a:r>
                <a:rPr lang="en-US" altLang="ko-KR" sz="2200" dirty="0">
                  <a:latin typeface="Times New Roman" panose="02020603050405020304" pitchFamily="18" charset="0"/>
                  <a:cs typeface="Times New Roman" panose="02020603050405020304" pitchFamily="18" charset="0"/>
                </a:rPr>
                <a:t>&lt;Spatial Grids&gt;</a:t>
              </a:r>
            </a:p>
          </p:txBody>
        </p:sp>
        <mc:AlternateContent xmlns:mc="http://schemas.openxmlformats.org/markup-compatibility/2006" xmlns:a14="http://schemas.microsoft.com/office/drawing/2010/main">
          <mc:Choice Requires="a14">
            <p:sp>
              <p:nvSpPr>
                <p:cNvPr id="26" name="직사각형 25">
                  <a:extLst>
                    <a:ext uri="{FF2B5EF4-FFF2-40B4-BE49-F238E27FC236}">
                      <a16:creationId xmlns:a16="http://schemas.microsoft.com/office/drawing/2014/main" id="{88A9A71B-77BD-5FC4-5B0B-A7790B094A2C}"/>
                    </a:ext>
                  </a:extLst>
                </p:cNvPr>
                <p:cNvSpPr/>
                <p:nvPr/>
              </p:nvSpPr>
              <p:spPr>
                <a:xfrm>
                  <a:off x="741154" y="10429138"/>
                  <a:ext cx="4451522" cy="877933"/>
                </a:xfrm>
                <a:prstGeom prst="rect">
                  <a:avLst/>
                </a:prstGeom>
              </p:spPr>
              <p:txBody>
                <a:bodyPr wrap="square" lIns="91440" tIns="45720" rIns="91440" bIns="45720" anchor="t">
                  <a:spAutoFit/>
                </a:bodyPr>
                <a:lstStyle/>
                <a:p>
                  <a:pPr marL="342900" lvl="0" indent="-342900">
                    <a:buFont typeface="Arial" panose="020B0604020202020204" pitchFamily="34" charset="0"/>
                    <a:buChar char="•"/>
                  </a:pPr>
                  <a:r>
                    <a:rPr lang="ko-KR" altLang="en-US" sz="2200" dirty="0">
                      <a:latin typeface="Times New Roman" panose="02020603050405020304" pitchFamily="18" charset="0"/>
                      <a:cs typeface="Times New Roman" panose="02020603050405020304" pitchFamily="18" charset="0"/>
                    </a:rPr>
                    <a:t>Staggered </a:t>
                  </a:r>
                  <a:r>
                    <a:rPr lang="ko-KR" altLang="en-US" sz="2200" dirty="0" err="1">
                      <a:latin typeface="Times New Roman" panose="02020603050405020304" pitchFamily="18" charset="0"/>
                      <a:cs typeface="Times New Roman" panose="02020603050405020304" pitchFamily="18" charset="0"/>
                    </a:rPr>
                    <a:t>grid</a:t>
                  </a:r>
                  <a:r>
                    <a:rPr lang="en-US" altLang="ko-KR" sz="2200" dirty="0">
                      <a:latin typeface="Times New Roman" panose="02020603050405020304" pitchFamily="18" charset="0"/>
                      <a:cs typeface="Times New Roman" panose="02020603050405020304" pitchFamily="18" charset="0"/>
                    </a:rPr>
                    <a:t>s</a:t>
                  </a:r>
                  <a:endParaRPr lang="en-US" altLang="ko-KR" sz="2200" i="1"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altLang="ko-KR" sz="2200" dirty="0">
                      <a:latin typeface="Times New Roman" panose="02020603050405020304" pitchFamily="18" charset="0"/>
                      <a:cs typeface="Times New Roman" panose="02020603050405020304" pitchFamily="18" charset="0"/>
                    </a:rPr>
                    <a:t>Number of grids </a:t>
                  </a:r>
                  <a14:m>
                    <m:oMath xmlns:m="http://schemas.openxmlformats.org/officeDocument/2006/math">
                      <m:r>
                        <a:rPr lang="en-US" altLang="ko-KR" sz="2200" i="1">
                          <a:latin typeface="Cambria Math" panose="02040503050406030204" pitchFamily="18" charset="0"/>
                          <a:cs typeface="Times New Roman" panose="02020603050405020304" pitchFamily="18" charset="0"/>
                        </a:rPr>
                        <m:t>129</m:t>
                      </m:r>
                      <m:r>
                        <a:rPr lang="en-US" altLang="ko-KR" sz="2200" i="1">
                          <a:latin typeface="Cambria Math" panose="02040503050406030204" pitchFamily="18" charset="0"/>
                          <a:ea typeface="Cambria Math" panose="02040503050406030204" pitchFamily="18" charset="0"/>
                          <a:cs typeface="Times New Roman" panose="02020603050405020304" pitchFamily="18" charset="0"/>
                        </a:rPr>
                        <m:t>×129</m:t>
                      </m:r>
                    </m:oMath>
                  </a14:m>
                  <a:endParaRPr lang="ko-KR" altLang="en-US" sz="2200" dirty="0">
                    <a:latin typeface="Times New Roman" panose="02020603050405020304" pitchFamily="18" charset="0"/>
                    <a:cs typeface="Times New Roman" panose="02020603050405020304" pitchFamily="18" charset="0"/>
                  </a:endParaRPr>
                </a:p>
              </p:txBody>
            </p:sp>
          </mc:Choice>
          <mc:Fallback xmlns="">
            <p:sp>
              <p:nvSpPr>
                <p:cNvPr id="26" name="직사각형 25">
                  <a:extLst>
                    <a:ext uri="{FF2B5EF4-FFF2-40B4-BE49-F238E27FC236}">
                      <a16:creationId xmlns:a16="http://schemas.microsoft.com/office/drawing/2014/main" id="{88A9A71B-77BD-5FC4-5B0B-A7790B094A2C}"/>
                    </a:ext>
                  </a:extLst>
                </p:cNvPr>
                <p:cNvSpPr>
                  <a:spLocks noRot="1" noChangeAspect="1" noMove="1" noResize="1" noEditPoints="1" noAdjustHandles="1" noChangeArrowheads="1" noChangeShapeType="1" noTextEdit="1"/>
                </p:cNvSpPr>
                <p:nvPr/>
              </p:nvSpPr>
              <p:spPr>
                <a:xfrm>
                  <a:off x="741154" y="10429138"/>
                  <a:ext cx="4451522" cy="877933"/>
                </a:xfrm>
                <a:prstGeom prst="rect">
                  <a:avLst/>
                </a:prstGeom>
                <a:blipFill>
                  <a:blip r:embed="rId18"/>
                  <a:stretch>
                    <a:fillRect l="-1560" t="-4861" b="-13194"/>
                  </a:stretch>
                </a:blipFill>
              </p:spPr>
              <p:txBody>
                <a:bodyPr/>
                <a:lstStyle/>
                <a:p>
                  <a:r>
                    <a:rPr lang="ko-KR" altLang="en-US">
                      <a:noFill/>
                    </a:rPr>
                    <a:t> </a:t>
                  </a:r>
                </a:p>
              </p:txBody>
            </p:sp>
          </mc:Fallback>
        </mc:AlternateContent>
      </p:grpSp>
      <p:grpSp>
        <p:nvGrpSpPr>
          <p:cNvPr id="70" name="그룹 69">
            <a:extLst>
              <a:ext uri="{FF2B5EF4-FFF2-40B4-BE49-F238E27FC236}">
                <a16:creationId xmlns:a16="http://schemas.microsoft.com/office/drawing/2014/main" id="{71967C3D-C5E4-20D0-11B0-D21115631039}"/>
              </a:ext>
            </a:extLst>
          </p:cNvPr>
          <p:cNvGrpSpPr/>
          <p:nvPr/>
        </p:nvGrpSpPr>
        <p:grpSpPr>
          <a:xfrm>
            <a:off x="16384611" y="7430343"/>
            <a:ext cx="4072707" cy="2411544"/>
            <a:chOff x="15686250" y="7875007"/>
            <a:chExt cx="4072707" cy="2411544"/>
          </a:xfrm>
        </p:grpSpPr>
        <p:grpSp>
          <p:nvGrpSpPr>
            <p:cNvPr id="63" name="그룹 62">
              <a:extLst>
                <a:ext uri="{FF2B5EF4-FFF2-40B4-BE49-F238E27FC236}">
                  <a16:creationId xmlns:a16="http://schemas.microsoft.com/office/drawing/2014/main" id="{799C02C0-2F14-114D-6112-7761E55DBC7A}"/>
                </a:ext>
              </a:extLst>
            </p:cNvPr>
            <p:cNvGrpSpPr/>
            <p:nvPr/>
          </p:nvGrpSpPr>
          <p:grpSpPr>
            <a:xfrm>
              <a:off x="16462624" y="7875007"/>
              <a:ext cx="2489342" cy="2411544"/>
              <a:chOff x="16563508" y="7604555"/>
              <a:chExt cx="2489342" cy="2411544"/>
            </a:xfrm>
          </p:grpSpPr>
          <p:sp>
            <p:nvSpPr>
              <p:cNvPr id="31" name="직사각형 30">
                <a:extLst>
                  <a:ext uri="{FF2B5EF4-FFF2-40B4-BE49-F238E27FC236}">
                    <a16:creationId xmlns:a16="http://schemas.microsoft.com/office/drawing/2014/main" id="{4B20F3ED-1D2B-79C7-E5CE-ECFA29926CD8}"/>
                  </a:ext>
                </a:extLst>
              </p:cNvPr>
              <p:cNvSpPr/>
              <p:nvPr/>
            </p:nvSpPr>
            <p:spPr>
              <a:xfrm>
                <a:off x="16792399" y="7853571"/>
                <a:ext cx="1950829" cy="195082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9" name="직선 화살표 연결선 38">
                <a:extLst>
                  <a:ext uri="{FF2B5EF4-FFF2-40B4-BE49-F238E27FC236}">
                    <a16:creationId xmlns:a16="http://schemas.microsoft.com/office/drawing/2014/main" id="{B955B264-3ECB-EC91-F8A0-B3A5FDDC381C}"/>
                  </a:ext>
                </a:extLst>
              </p:cNvPr>
              <p:cNvCxnSpPr>
                <a:cxnSpLocks/>
              </p:cNvCxnSpPr>
              <p:nvPr/>
            </p:nvCxnSpPr>
            <p:spPr>
              <a:xfrm>
                <a:off x="16563508" y="8820545"/>
                <a:ext cx="52128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5" name="직선 화살표 연결선 44">
                <a:extLst>
                  <a:ext uri="{FF2B5EF4-FFF2-40B4-BE49-F238E27FC236}">
                    <a16:creationId xmlns:a16="http://schemas.microsoft.com/office/drawing/2014/main" id="{95383D04-A754-C383-68B5-BEE25B4A9CD6}"/>
                  </a:ext>
                </a:extLst>
              </p:cNvPr>
              <p:cNvCxnSpPr>
                <a:cxnSpLocks/>
              </p:cNvCxnSpPr>
              <p:nvPr/>
            </p:nvCxnSpPr>
            <p:spPr>
              <a:xfrm>
                <a:off x="18531569" y="8820545"/>
                <a:ext cx="52128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a:extLst>
                  <a:ext uri="{FF2B5EF4-FFF2-40B4-BE49-F238E27FC236}">
                    <a16:creationId xmlns:a16="http://schemas.microsoft.com/office/drawing/2014/main" id="{FDFB9AB7-AC58-0714-1282-28B56923B2DD}"/>
                  </a:ext>
                </a:extLst>
              </p:cNvPr>
              <p:cNvCxnSpPr>
                <a:cxnSpLocks/>
              </p:cNvCxnSpPr>
              <p:nvPr/>
            </p:nvCxnSpPr>
            <p:spPr>
              <a:xfrm flipV="1">
                <a:off x="17767813" y="9571994"/>
                <a:ext cx="0" cy="44410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3" name="직선 화살표 연결선 52">
                <a:extLst>
                  <a:ext uri="{FF2B5EF4-FFF2-40B4-BE49-F238E27FC236}">
                    <a16:creationId xmlns:a16="http://schemas.microsoft.com/office/drawing/2014/main" id="{9A1A043F-395E-A73B-BD9C-6A5A722EB4B0}"/>
                  </a:ext>
                </a:extLst>
              </p:cNvPr>
              <p:cNvCxnSpPr>
                <a:cxnSpLocks/>
              </p:cNvCxnSpPr>
              <p:nvPr/>
            </p:nvCxnSpPr>
            <p:spPr>
              <a:xfrm flipV="1">
                <a:off x="17767813" y="7604555"/>
                <a:ext cx="0" cy="44410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6006DAE4-391A-908F-839B-FDB85861E556}"/>
                    </a:ext>
                  </a:extLst>
                </p:cNvPr>
                <p:cNvSpPr txBox="1"/>
                <p:nvPr/>
              </p:nvSpPr>
              <p:spPr>
                <a:xfrm>
                  <a:off x="15686250" y="8835844"/>
                  <a:ext cx="726881" cy="424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𝑢</m:t>
                            </m:r>
                          </m:e>
                          <m:sub>
                            <m:r>
                              <a:rPr lang="en-US" altLang="ko-KR" sz="2000" b="0" i="1" smtClean="0">
                                <a:latin typeface="Cambria Math" panose="02040503050406030204" pitchFamily="18" charset="0"/>
                              </a:rPr>
                              <m:t>𝑖</m:t>
                            </m:r>
                            <m:r>
                              <a:rPr lang="en-US" altLang="ko-KR" sz="2000" b="0" i="1" smtClean="0">
                                <a:latin typeface="Cambria Math" panose="02040503050406030204" pitchFamily="18" charset="0"/>
                              </a:rPr>
                              <m:t>−1,</m:t>
                            </m:r>
                            <m:r>
                              <a:rPr lang="en-US" altLang="ko-KR" sz="2000" b="0" i="1" smtClean="0">
                                <a:latin typeface="Cambria Math" panose="02040503050406030204" pitchFamily="18" charset="0"/>
                              </a:rPr>
                              <m:t>𝑗</m:t>
                            </m:r>
                          </m:sub>
                        </m:sSub>
                      </m:oMath>
                    </m:oMathPara>
                  </a14:m>
                  <a:endParaRPr lang="ko-KR" altLang="en-US" sz="2000" dirty="0"/>
                </a:p>
              </p:txBody>
            </p:sp>
          </mc:Choice>
          <mc:Fallback xmlns="">
            <p:sp>
              <p:nvSpPr>
                <p:cNvPr id="65" name="TextBox 64">
                  <a:extLst>
                    <a:ext uri="{FF2B5EF4-FFF2-40B4-BE49-F238E27FC236}">
                      <a16:creationId xmlns:a16="http://schemas.microsoft.com/office/drawing/2014/main" id="{6006DAE4-391A-908F-839B-FDB85861E556}"/>
                    </a:ext>
                  </a:extLst>
                </p:cNvPr>
                <p:cNvSpPr txBox="1">
                  <a:spLocks noRot="1" noChangeAspect="1" noMove="1" noResize="1" noEditPoints="1" noAdjustHandles="1" noChangeArrowheads="1" noChangeShapeType="1" noTextEdit="1"/>
                </p:cNvSpPr>
                <p:nvPr/>
              </p:nvSpPr>
              <p:spPr>
                <a:xfrm>
                  <a:off x="15686250" y="8835844"/>
                  <a:ext cx="726881" cy="424796"/>
                </a:xfrm>
                <a:prstGeom prst="rect">
                  <a:avLst/>
                </a:prstGeom>
                <a:blipFill>
                  <a:blip r:embed="rId19"/>
                  <a:stretch>
                    <a:fillRect r="-5042" b="-8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49C3FDCB-53AC-E81E-567E-1F10CCE8CEF5}"/>
                    </a:ext>
                  </a:extLst>
                </p:cNvPr>
                <p:cNvSpPr txBox="1"/>
                <p:nvPr/>
              </p:nvSpPr>
              <p:spPr>
                <a:xfrm>
                  <a:off x="19032076" y="8835844"/>
                  <a:ext cx="726881" cy="424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𝑢</m:t>
                            </m:r>
                          </m:e>
                          <m:sub>
                            <m:r>
                              <a:rPr lang="en-US" altLang="ko-KR" sz="2000" b="0" i="1" smtClean="0">
                                <a:latin typeface="Cambria Math" panose="02040503050406030204" pitchFamily="18" charset="0"/>
                              </a:rPr>
                              <m:t>𝑖</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𝑗</m:t>
                            </m:r>
                          </m:sub>
                        </m:sSub>
                      </m:oMath>
                    </m:oMathPara>
                  </a14:m>
                  <a:endParaRPr lang="ko-KR" altLang="en-US" sz="2000" dirty="0"/>
                </a:p>
              </p:txBody>
            </p:sp>
          </mc:Choice>
          <mc:Fallback xmlns="">
            <p:sp>
              <p:nvSpPr>
                <p:cNvPr id="67" name="TextBox 66">
                  <a:extLst>
                    <a:ext uri="{FF2B5EF4-FFF2-40B4-BE49-F238E27FC236}">
                      <a16:creationId xmlns:a16="http://schemas.microsoft.com/office/drawing/2014/main" id="{49C3FDCB-53AC-E81E-567E-1F10CCE8CEF5}"/>
                    </a:ext>
                  </a:extLst>
                </p:cNvPr>
                <p:cNvSpPr txBox="1">
                  <a:spLocks noRot="1" noChangeAspect="1" noMove="1" noResize="1" noEditPoints="1" noAdjustHandles="1" noChangeArrowheads="1" noChangeShapeType="1" noTextEdit="1"/>
                </p:cNvSpPr>
                <p:nvPr/>
              </p:nvSpPr>
              <p:spPr>
                <a:xfrm>
                  <a:off x="19032076" y="8835844"/>
                  <a:ext cx="726881" cy="424796"/>
                </a:xfrm>
                <a:prstGeom prst="rect">
                  <a:avLst/>
                </a:prstGeom>
                <a:blipFill>
                  <a:blip r:embed="rId20"/>
                  <a:stretch>
                    <a:fillRect b="-8571"/>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268820B-BECF-812F-4927-9F56EA3F5E3E}"/>
                    </a:ext>
                  </a:extLst>
                </p:cNvPr>
                <p:cNvSpPr txBox="1"/>
                <p:nvPr/>
              </p:nvSpPr>
              <p:spPr>
                <a:xfrm>
                  <a:off x="17759159" y="9633176"/>
                  <a:ext cx="726881" cy="424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𝑣</m:t>
                            </m:r>
                          </m:e>
                          <m:sub>
                            <m:r>
                              <a:rPr lang="en-US" altLang="ko-KR" sz="2000" b="0" i="1" smtClean="0">
                                <a:latin typeface="Cambria Math" panose="02040503050406030204" pitchFamily="18" charset="0"/>
                              </a:rPr>
                              <m:t>𝑖</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𝑗</m:t>
                            </m:r>
                            <m:r>
                              <a:rPr lang="en-US" altLang="ko-KR" sz="2000" b="0" i="1" smtClean="0">
                                <a:latin typeface="Cambria Math" panose="02040503050406030204" pitchFamily="18" charset="0"/>
                              </a:rPr>
                              <m:t>−1</m:t>
                            </m:r>
                          </m:sub>
                        </m:sSub>
                      </m:oMath>
                    </m:oMathPara>
                  </a14:m>
                  <a:endParaRPr lang="ko-KR" altLang="en-US" sz="2000" dirty="0"/>
                </a:p>
              </p:txBody>
            </p:sp>
          </mc:Choice>
          <mc:Fallback xmlns="">
            <p:sp>
              <p:nvSpPr>
                <p:cNvPr id="68" name="TextBox 67">
                  <a:extLst>
                    <a:ext uri="{FF2B5EF4-FFF2-40B4-BE49-F238E27FC236}">
                      <a16:creationId xmlns:a16="http://schemas.microsoft.com/office/drawing/2014/main" id="{1268820B-BECF-812F-4927-9F56EA3F5E3E}"/>
                    </a:ext>
                  </a:extLst>
                </p:cNvPr>
                <p:cNvSpPr txBox="1">
                  <a:spLocks noRot="1" noChangeAspect="1" noMove="1" noResize="1" noEditPoints="1" noAdjustHandles="1" noChangeArrowheads="1" noChangeShapeType="1" noTextEdit="1"/>
                </p:cNvSpPr>
                <p:nvPr/>
              </p:nvSpPr>
              <p:spPr>
                <a:xfrm>
                  <a:off x="17759159" y="9633176"/>
                  <a:ext cx="726881" cy="424796"/>
                </a:xfrm>
                <a:prstGeom prst="rect">
                  <a:avLst/>
                </a:prstGeom>
                <a:blipFill>
                  <a:blip r:embed="rId21"/>
                  <a:stretch>
                    <a:fillRect r="-840" b="-1014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8772014-E13B-5179-0221-85906951C921}"/>
                    </a:ext>
                  </a:extLst>
                </p:cNvPr>
                <p:cNvSpPr txBox="1"/>
                <p:nvPr/>
              </p:nvSpPr>
              <p:spPr>
                <a:xfrm>
                  <a:off x="17592465" y="8108371"/>
                  <a:ext cx="726881" cy="424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𝑣</m:t>
                            </m:r>
                          </m:e>
                          <m:sub>
                            <m:r>
                              <a:rPr lang="en-US" altLang="ko-KR" sz="2000" b="0" i="1" smtClean="0">
                                <a:latin typeface="Cambria Math" panose="02040503050406030204" pitchFamily="18" charset="0"/>
                              </a:rPr>
                              <m:t>𝑖</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𝑗</m:t>
                            </m:r>
                          </m:sub>
                        </m:sSub>
                      </m:oMath>
                    </m:oMathPara>
                  </a14:m>
                  <a:endParaRPr lang="ko-KR" altLang="en-US" sz="2000" dirty="0"/>
                </a:p>
              </p:txBody>
            </p:sp>
          </mc:Choice>
          <mc:Fallback xmlns="">
            <p:sp>
              <p:nvSpPr>
                <p:cNvPr id="69" name="TextBox 68">
                  <a:extLst>
                    <a:ext uri="{FF2B5EF4-FFF2-40B4-BE49-F238E27FC236}">
                      <a16:creationId xmlns:a16="http://schemas.microsoft.com/office/drawing/2014/main" id="{18772014-E13B-5179-0221-85906951C921}"/>
                    </a:ext>
                  </a:extLst>
                </p:cNvPr>
                <p:cNvSpPr txBox="1">
                  <a:spLocks noRot="1" noChangeAspect="1" noMove="1" noResize="1" noEditPoints="1" noAdjustHandles="1" noChangeArrowheads="1" noChangeShapeType="1" noTextEdit="1"/>
                </p:cNvSpPr>
                <p:nvPr/>
              </p:nvSpPr>
              <p:spPr>
                <a:xfrm>
                  <a:off x="17592465" y="8108371"/>
                  <a:ext cx="726881" cy="424796"/>
                </a:xfrm>
                <a:prstGeom prst="rect">
                  <a:avLst/>
                </a:prstGeom>
                <a:blipFill>
                  <a:blip r:embed="rId22"/>
                  <a:stretch>
                    <a:fillRect b="-1014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A6C32EF-28A9-5CC3-5DAA-632AD127842D}"/>
                    </a:ext>
                  </a:extLst>
                </p:cNvPr>
                <p:cNvSpPr txBox="1"/>
                <p:nvPr/>
              </p:nvSpPr>
              <p:spPr>
                <a:xfrm>
                  <a:off x="17616178" y="8692137"/>
                  <a:ext cx="726881" cy="424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𝑃</m:t>
                            </m:r>
                          </m:e>
                          <m:sub>
                            <m:r>
                              <a:rPr lang="en-US" altLang="ko-KR" sz="2000" b="0" i="1" smtClean="0">
                                <a:latin typeface="Cambria Math" panose="02040503050406030204" pitchFamily="18" charset="0"/>
                              </a:rPr>
                              <m:t>𝑖</m:t>
                            </m:r>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𝑗</m:t>
                            </m:r>
                          </m:sub>
                        </m:sSub>
                      </m:oMath>
                    </m:oMathPara>
                  </a14:m>
                  <a:endParaRPr lang="ko-KR" altLang="en-US" sz="2000" dirty="0"/>
                </a:p>
              </p:txBody>
            </p:sp>
          </mc:Choice>
          <mc:Fallback xmlns="">
            <p:sp>
              <p:nvSpPr>
                <p:cNvPr id="72" name="TextBox 71">
                  <a:extLst>
                    <a:ext uri="{FF2B5EF4-FFF2-40B4-BE49-F238E27FC236}">
                      <a16:creationId xmlns:a16="http://schemas.microsoft.com/office/drawing/2014/main" id="{2A6C32EF-28A9-5CC3-5DAA-632AD127842D}"/>
                    </a:ext>
                  </a:extLst>
                </p:cNvPr>
                <p:cNvSpPr txBox="1">
                  <a:spLocks noRot="1" noChangeAspect="1" noMove="1" noResize="1" noEditPoints="1" noAdjustHandles="1" noChangeArrowheads="1" noChangeShapeType="1" noTextEdit="1"/>
                </p:cNvSpPr>
                <p:nvPr/>
              </p:nvSpPr>
              <p:spPr>
                <a:xfrm>
                  <a:off x="17616178" y="8692137"/>
                  <a:ext cx="726881" cy="424796"/>
                </a:xfrm>
                <a:prstGeom prst="rect">
                  <a:avLst/>
                </a:prstGeom>
                <a:blipFill>
                  <a:blip r:embed="rId23"/>
                  <a:stretch>
                    <a:fillRect b="-10000"/>
                  </a:stretch>
                </a:blipFill>
              </p:spPr>
              <p:txBody>
                <a:bodyPr/>
                <a:lstStyle/>
                <a:p>
                  <a:r>
                    <a:rPr lang="ko-KR" altLang="en-US">
                      <a:noFill/>
                    </a:rPr>
                    <a:t> </a:t>
                  </a:r>
                </a:p>
              </p:txBody>
            </p:sp>
          </mc:Fallback>
        </mc:AlternateContent>
      </p:grpSp>
      <p:sp>
        <p:nvSpPr>
          <p:cNvPr id="71" name="타원 70">
            <a:extLst>
              <a:ext uri="{FF2B5EF4-FFF2-40B4-BE49-F238E27FC236}">
                <a16:creationId xmlns:a16="http://schemas.microsoft.com/office/drawing/2014/main" id="{A5DC490E-76DB-BC44-55A7-22B9F58C4F09}"/>
              </a:ext>
            </a:extLst>
          </p:cNvPr>
          <p:cNvSpPr/>
          <p:nvPr/>
        </p:nvSpPr>
        <p:spPr>
          <a:xfrm flipV="1">
            <a:off x="18330018" y="8894008"/>
            <a:ext cx="97643" cy="9764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86" name="표 85">
            <a:extLst>
              <a:ext uri="{FF2B5EF4-FFF2-40B4-BE49-F238E27FC236}">
                <a16:creationId xmlns:a16="http://schemas.microsoft.com/office/drawing/2014/main" id="{026424CC-1806-5153-4AFF-119E534320DD}"/>
              </a:ext>
            </a:extLst>
          </p:cNvPr>
          <p:cNvGraphicFramePr>
            <a:graphicFrameLocks noGrp="1"/>
          </p:cNvGraphicFramePr>
          <p:nvPr/>
        </p:nvGraphicFramePr>
        <p:xfrm>
          <a:off x="10814920" y="10030573"/>
          <a:ext cx="10182272" cy="6237987"/>
        </p:xfrm>
        <a:graphic>
          <a:graphicData uri="http://schemas.openxmlformats.org/drawingml/2006/table">
            <a:tbl>
              <a:tblPr firstRow="1" bandRow="1">
                <a:tableStyleId>{5C22544A-7EE6-4342-B048-85BDC9FD1C3A}</a:tableStyleId>
              </a:tblPr>
              <a:tblGrid>
                <a:gridCol w="3216080">
                  <a:extLst>
                    <a:ext uri="{9D8B030D-6E8A-4147-A177-3AD203B41FA5}">
                      <a16:colId xmlns:a16="http://schemas.microsoft.com/office/drawing/2014/main" val="1904415591"/>
                    </a:ext>
                  </a:extLst>
                </a:gridCol>
                <a:gridCol w="1875056">
                  <a:extLst>
                    <a:ext uri="{9D8B030D-6E8A-4147-A177-3AD203B41FA5}">
                      <a16:colId xmlns:a16="http://schemas.microsoft.com/office/drawing/2014/main" val="3520315317"/>
                    </a:ext>
                  </a:extLst>
                </a:gridCol>
                <a:gridCol w="1341028">
                  <a:extLst>
                    <a:ext uri="{9D8B030D-6E8A-4147-A177-3AD203B41FA5}">
                      <a16:colId xmlns:a16="http://schemas.microsoft.com/office/drawing/2014/main" val="1726811514"/>
                    </a:ext>
                  </a:extLst>
                </a:gridCol>
                <a:gridCol w="3216080">
                  <a:extLst>
                    <a:ext uri="{9D8B030D-6E8A-4147-A177-3AD203B41FA5}">
                      <a16:colId xmlns:a16="http://schemas.microsoft.com/office/drawing/2014/main" val="2288522900"/>
                    </a:ext>
                  </a:extLst>
                </a:gridCol>
                <a:gridCol w="534028">
                  <a:extLst>
                    <a:ext uri="{9D8B030D-6E8A-4147-A177-3AD203B41FA5}">
                      <a16:colId xmlns:a16="http://schemas.microsoft.com/office/drawing/2014/main" val="4199535273"/>
                    </a:ext>
                  </a:extLst>
                </a:gridCol>
              </a:tblGrid>
              <a:tr h="2589601">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4">
                        <a:extLst>
                          <a:ext uri="{28A0092B-C50C-407E-A947-70E740481C1C}">
                            <a14:useLocalDpi xmlns:a14="http://schemas.microsoft.com/office/drawing/2010/main" val="0"/>
                          </a:ext>
                        </a:extLst>
                      </a:blip>
                      <a:srcRect/>
                      <a:stretch>
                        <a:fillRect/>
                      </a:stretch>
                    </a:blipFill>
                  </a:tcPr>
                </a:tc>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5">
                        <a:extLst>
                          <a:ext uri="{28A0092B-C50C-407E-A947-70E740481C1C}">
                            <a14:useLocalDpi xmlns:a14="http://schemas.microsoft.com/office/drawing/2010/main" val="0"/>
                          </a:ext>
                        </a:extLst>
                      </a:blip>
                      <a:srcRect/>
                      <a:stretch>
                        <a:fillRect/>
                      </a:stretch>
                    </a:blipFill>
                  </a:tcPr>
                </a:tc>
                <a:tc hMerge="1">
                  <a:txBody>
                    <a:bodyPr/>
                    <a:lstStyle/>
                    <a:p>
                      <a:pPr latinLnBrk="1"/>
                      <a:endParaRPr lang="ko-KR" altLang="en-US"/>
                    </a:p>
                  </a:txBody>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6">
                        <a:extLst>
                          <a:ext uri="{28A0092B-C50C-407E-A947-70E740481C1C}">
                            <a14:useLocalDpi xmlns:a14="http://schemas.microsoft.com/office/drawing/2010/main" val="0"/>
                          </a:ext>
                        </a:extLst>
                      </a:blip>
                      <a:srcRect/>
                      <a:stretch>
                        <a:fillRect/>
                      </a:stretch>
                    </a:blipFill>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7">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3183017914"/>
                  </a:ext>
                </a:extLst>
              </a:tr>
              <a:tr h="384629">
                <a:tc gridSpan="5">
                  <a:txBody>
                    <a:bodyPr/>
                    <a:lstStyle/>
                    <a:p>
                      <a:pPr algn="ctr" latinLnBrk="1"/>
                      <a:r>
                        <a:rPr lang="en-US" altLang="ko-KR" sz="2000" b="1" spc="-50" baseline="0" dirty="0">
                          <a:solidFill>
                            <a:sysClr val="windowText" lastClr="000000"/>
                          </a:solidFill>
                          <a:latin typeface="Times New Roman" panose="02020603050405020304" pitchFamily="18" charset="0"/>
                          <a:cs typeface="Times New Roman" panose="02020603050405020304" pitchFamily="18" charset="0"/>
                        </a:rPr>
                        <a:t>Fig. 3 </a:t>
                      </a:r>
                      <a:r>
                        <a:rPr lang="en-US" altLang="ko-KR" sz="2000" spc="-50" baseline="0" dirty="0">
                          <a:solidFill>
                            <a:sysClr val="windowText" lastClr="000000"/>
                          </a:solidFill>
                          <a:latin typeface="Times New Roman" panose="02020603050405020304" pitchFamily="18" charset="0"/>
                          <a:cs typeface="Times New Roman" panose="02020603050405020304" pitchFamily="18" charset="0"/>
                        </a:rPr>
                        <a:t> Streamline pattern of (a) Re 100, (b) Re 400 and (c) Re 1000 at the steady state with python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en-US" altLang="ko-KR" sz="2000" spc="-5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060976"/>
                  </a:ext>
                </a:extLst>
              </a:tr>
              <a:tr h="2854960">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8">
                        <a:extLst>
                          <a:ext uri="{28A0092B-C50C-407E-A947-70E740481C1C}">
                            <a14:useLocalDpi xmlns:a14="http://schemas.microsoft.com/office/drawing/2010/main" val="0"/>
                          </a:ext>
                        </a:extLst>
                      </a:blip>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9"/>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0897978"/>
                  </a:ext>
                </a:extLst>
              </a:tr>
              <a:tr h="397186">
                <a:tc gridSpan="5">
                  <a:txBody>
                    <a:bodyPr/>
                    <a:lstStyle/>
                    <a:p>
                      <a:pPr algn="ctr" latinLnBrk="1"/>
                      <a:r>
                        <a:rPr lang="en-US" altLang="ko-KR" sz="2000" b="1" kern="800" spc="-90" dirty="0">
                          <a:solidFill>
                            <a:sysClr val="windowText" lastClr="000000"/>
                          </a:solidFill>
                          <a:latin typeface="Times New Roman" panose="02020603050405020304" pitchFamily="18" charset="0"/>
                          <a:cs typeface="Times New Roman" panose="02020603050405020304" pitchFamily="18" charset="0"/>
                        </a:rPr>
                        <a:t>Fig. 4 </a:t>
                      </a:r>
                      <a:r>
                        <a:rPr lang="en-US" altLang="ko-KR" sz="2000" kern="800" spc="-90" dirty="0">
                          <a:solidFill>
                            <a:sysClr val="windowText" lastClr="000000"/>
                          </a:solidFill>
                          <a:latin typeface="Times New Roman" panose="02020603050405020304" pitchFamily="18" charset="0"/>
                          <a:cs typeface="Times New Roman" panose="02020603050405020304" pitchFamily="18" charset="0"/>
                        </a:rPr>
                        <a:t> </a:t>
                      </a:r>
                      <a:r>
                        <a:rPr lang="en-US" altLang="ko-KR" sz="2000" kern="800" spc="-90" baseline="0" dirty="0">
                          <a:solidFill>
                            <a:sysClr val="windowText" lastClr="000000"/>
                          </a:solidFill>
                          <a:latin typeface="Times New Roman" panose="02020603050405020304" pitchFamily="18" charset="0"/>
                          <a:cs typeface="Times New Roman" panose="02020603050405020304" pitchFamily="18" charset="0"/>
                        </a:rPr>
                        <a:t>Comparison of (a) u-velocity along vertical lines and (b) v-velocity along horizontal lines with python</a:t>
                      </a:r>
                      <a:endParaRPr lang="ko-KR" altLang="en-US" sz="2000" kern="800" spc="-9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latinLnBrk="1"/>
                      <a:endParaRPr lang="ko-KR" altLang="en-US" sz="2000" kern="800" spc="-9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4699889"/>
                  </a:ext>
                </a:extLst>
              </a:tr>
            </a:tbl>
          </a:graphicData>
        </a:graphic>
      </p:graphicFrame>
      <p:grpSp>
        <p:nvGrpSpPr>
          <p:cNvPr id="94" name="그룹 93">
            <a:extLst>
              <a:ext uri="{FF2B5EF4-FFF2-40B4-BE49-F238E27FC236}">
                <a16:creationId xmlns:a16="http://schemas.microsoft.com/office/drawing/2014/main" id="{63A30465-40FF-20CB-0741-EF14422F9D76}"/>
              </a:ext>
            </a:extLst>
          </p:cNvPr>
          <p:cNvGrpSpPr/>
          <p:nvPr/>
        </p:nvGrpSpPr>
        <p:grpSpPr>
          <a:xfrm>
            <a:off x="13477796" y="10091973"/>
            <a:ext cx="6874300" cy="3461103"/>
            <a:chOff x="13702763" y="10382252"/>
            <a:chExt cx="6874300" cy="3461103"/>
          </a:xfrm>
        </p:grpSpPr>
        <p:grpSp>
          <p:nvGrpSpPr>
            <p:cNvPr id="87" name="그룹 86">
              <a:extLst>
                <a:ext uri="{FF2B5EF4-FFF2-40B4-BE49-F238E27FC236}">
                  <a16:creationId xmlns:a16="http://schemas.microsoft.com/office/drawing/2014/main" id="{383D9525-7F02-A331-1D49-8B51A1FF03E9}"/>
                </a:ext>
              </a:extLst>
            </p:cNvPr>
            <p:cNvGrpSpPr/>
            <p:nvPr/>
          </p:nvGrpSpPr>
          <p:grpSpPr>
            <a:xfrm>
              <a:off x="13702763" y="10382252"/>
              <a:ext cx="6874300" cy="461741"/>
              <a:chOff x="3246382" y="10610852"/>
              <a:chExt cx="6874300" cy="461741"/>
            </a:xfrm>
          </p:grpSpPr>
          <p:sp>
            <p:nvSpPr>
              <p:cNvPr id="88" name="직사각형 87">
                <a:extLst>
                  <a:ext uri="{FF2B5EF4-FFF2-40B4-BE49-F238E27FC236}">
                    <a16:creationId xmlns:a16="http://schemas.microsoft.com/office/drawing/2014/main" id="{5F876B6B-824D-335B-18A1-B6F19C51586E}"/>
                  </a:ext>
                </a:extLst>
              </p:cNvPr>
              <p:cNvSpPr/>
              <p:nvPr/>
            </p:nvSpPr>
            <p:spPr>
              <a:xfrm>
                <a:off x="3246382"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89" name="직사각형 88">
                <a:extLst>
                  <a:ext uri="{FF2B5EF4-FFF2-40B4-BE49-F238E27FC236}">
                    <a16:creationId xmlns:a16="http://schemas.microsoft.com/office/drawing/2014/main" id="{B28F7779-45A6-FB84-3408-9855EFB70DAD}"/>
                  </a:ext>
                </a:extLst>
              </p:cNvPr>
              <p:cNvSpPr/>
              <p:nvPr/>
            </p:nvSpPr>
            <p:spPr>
              <a:xfrm>
                <a:off x="6472371"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sp>
            <p:nvSpPr>
              <p:cNvPr id="90" name="직사각형 89">
                <a:extLst>
                  <a:ext uri="{FF2B5EF4-FFF2-40B4-BE49-F238E27FC236}">
                    <a16:creationId xmlns:a16="http://schemas.microsoft.com/office/drawing/2014/main" id="{56FCBA95-7731-A512-B7CC-9BB1655C29DF}"/>
                  </a:ext>
                </a:extLst>
              </p:cNvPr>
              <p:cNvSpPr/>
              <p:nvPr/>
            </p:nvSpPr>
            <p:spPr>
              <a:xfrm>
                <a:off x="9663482" y="10615393"/>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(c)</a:t>
                </a:r>
                <a:endParaRPr lang="ko-KR" altLang="en-US" sz="2000" b="1" dirty="0">
                  <a:solidFill>
                    <a:schemeClr val="tx1"/>
                  </a:solidFill>
                </a:endParaRPr>
              </a:p>
            </p:txBody>
          </p:sp>
        </p:grpSp>
        <p:grpSp>
          <p:nvGrpSpPr>
            <p:cNvPr id="93" name="그룹 92">
              <a:extLst>
                <a:ext uri="{FF2B5EF4-FFF2-40B4-BE49-F238E27FC236}">
                  <a16:creationId xmlns:a16="http://schemas.microsoft.com/office/drawing/2014/main" id="{84887DC0-0B73-EBA3-5EB7-9D6A18CCC37C}"/>
                </a:ext>
              </a:extLst>
            </p:cNvPr>
            <p:cNvGrpSpPr/>
            <p:nvPr/>
          </p:nvGrpSpPr>
          <p:grpSpPr>
            <a:xfrm>
              <a:off x="15579991" y="13378894"/>
              <a:ext cx="1083907" cy="464461"/>
              <a:chOff x="15579991" y="13378894"/>
              <a:chExt cx="1083907" cy="464461"/>
            </a:xfrm>
          </p:grpSpPr>
          <p:sp>
            <p:nvSpPr>
              <p:cNvPr id="91" name="직사각형 90">
                <a:extLst>
                  <a:ext uri="{FF2B5EF4-FFF2-40B4-BE49-F238E27FC236}">
                    <a16:creationId xmlns:a16="http://schemas.microsoft.com/office/drawing/2014/main" id="{F7549B73-22B4-C73A-1635-9479F471B882}"/>
                  </a:ext>
                </a:extLst>
              </p:cNvPr>
              <p:cNvSpPr/>
              <p:nvPr/>
            </p:nvSpPr>
            <p:spPr>
              <a:xfrm>
                <a:off x="15579991" y="13378894"/>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92" name="직사각형 91">
                <a:extLst>
                  <a:ext uri="{FF2B5EF4-FFF2-40B4-BE49-F238E27FC236}">
                    <a16:creationId xmlns:a16="http://schemas.microsoft.com/office/drawing/2014/main" id="{4C39B90A-99B2-2521-B09C-0B74C746B04F}"/>
                  </a:ext>
                </a:extLst>
              </p:cNvPr>
              <p:cNvSpPr/>
              <p:nvPr/>
            </p:nvSpPr>
            <p:spPr>
              <a:xfrm>
                <a:off x="16206698" y="13386155"/>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grpSp>
      </p:grpSp>
      <p:sp>
        <p:nvSpPr>
          <p:cNvPr id="79" name="모서리가 둥근 직사각형 9">
            <a:extLst>
              <a:ext uri="{FF2B5EF4-FFF2-40B4-BE49-F238E27FC236}">
                <a16:creationId xmlns:a16="http://schemas.microsoft.com/office/drawing/2014/main" id="{52292CA8-7E23-4DDE-B0DA-85C52DCB495B}"/>
              </a:ext>
            </a:extLst>
          </p:cNvPr>
          <p:cNvSpPr/>
          <p:nvPr/>
        </p:nvSpPr>
        <p:spPr>
          <a:xfrm>
            <a:off x="402838" y="16508453"/>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a:solidFill>
                  <a:schemeClr val="tx1"/>
                </a:solidFill>
                <a:latin typeface="Times New Roman" panose="02020603050405020304" pitchFamily="18" charset="0"/>
                <a:cs typeface="Times New Roman" panose="02020603050405020304" pitchFamily="18" charset="0"/>
              </a:rPr>
              <a:t>Ansys Fluent</a:t>
            </a:r>
            <a:endParaRPr lang="ko-KR" altLang="en-US" sz="3600" dirty="0">
              <a:solidFill>
                <a:schemeClr val="tx1"/>
              </a:solidFill>
              <a:latin typeface="Times New Roman" panose="02020603050405020304" pitchFamily="18" charset="0"/>
              <a:cs typeface="Times New Roman" panose="02020603050405020304" pitchFamily="18" charset="0"/>
            </a:endParaRPr>
          </a:p>
        </p:txBody>
      </p:sp>
      <p:pic>
        <p:nvPicPr>
          <p:cNvPr id="60" name="그래픽 59">
            <a:extLst>
              <a:ext uri="{FF2B5EF4-FFF2-40B4-BE49-F238E27FC236}">
                <a16:creationId xmlns:a16="http://schemas.microsoft.com/office/drawing/2014/main" id="{B10DB3F5-C4BA-D22B-183D-B6FAD784D268}"/>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8437322" y="27390815"/>
            <a:ext cx="2659454" cy="2659454"/>
          </a:xfrm>
          <a:prstGeom prst="rect">
            <a:avLst/>
          </a:prstGeom>
        </p:spPr>
      </p:pic>
      <p:graphicFrame>
        <p:nvGraphicFramePr>
          <p:cNvPr id="80" name="표 79">
            <a:extLst>
              <a:ext uri="{FF2B5EF4-FFF2-40B4-BE49-F238E27FC236}">
                <a16:creationId xmlns:a16="http://schemas.microsoft.com/office/drawing/2014/main" id="{23BC92C5-3950-1483-90C2-EEDB9D3CA1CC}"/>
              </a:ext>
            </a:extLst>
          </p:cNvPr>
          <p:cNvGraphicFramePr>
            <a:graphicFrameLocks noGrp="1"/>
          </p:cNvGraphicFramePr>
          <p:nvPr/>
        </p:nvGraphicFramePr>
        <p:xfrm>
          <a:off x="358033" y="20967636"/>
          <a:ext cx="10182272" cy="6237987"/>
        </p:xfrm>
        <a:graphic>
          <a:graphicData uri="http://schemas.openxmlformats.org/drawingml/2006/table">
            <a:tbl>
              <a:tblPr firstRow="1" bandRow="1">
                <a:tableStyleId>{5C22544A-7EE6-4342-B048-85BDC9FD1C3A}</a:tableStyleId>
              </a:tblPr>
              <a:tblGrid>
                <a:gridCol w="3216080">
                  <a:extLst>
                    <a:ext uri="{9D8B030D-6E8A-4147-A177-3AD203B41FA5}">
                      <a16:colId xmlns:a16="http://schemas.microsoft.com/office/drawing/2014/main" val="1904415591"/>
                    </a:ext>
                  </a:extLst>
                </a:gridCol>
                <a:gridCol w="1875056">
                  <a:extLst>
                    <a:ext uri="{9D8B030D-6E8A-4147-A177-3AD203B41FA5}">
                      <a16:colId xmlns:a16="http://schemas.microsoft.com/office/drawing/2014/main" val="3520315317"/>
                    </a:ext>
                  </a:extLst>
                </a:gridCol>
                <a:gridCol w="1341028">
                  <a:extLst>
                    <a:ext uri="{9D8B030D-6E8A-4147-A177-3AD203B41FA5}">
                      <a16:colId xmlns:a16="http://schemas.microsoft.com/office/drawing/2014/main" val="1726811514"/>
                    </a:ext>
                  </a:extLst>
                </a:gridCol>
                <a:gridCol w="3216080">
                  <a:extLst>
                    <a:ext uri="{9D8B030D-6E8A-4147-A177-3AD203B41FA5}">
                      <a16:colId xmlns:a16="http://schemas.microsoft.com/office/drawing/2014/main" val="2288522900"/>
                    </a:ext>
                  </a:extLst>
                </a:gridCol>
                <a:gridCol w="534028">
                  <a:extLst>
                    <a:ext uri="{9D8B030D-6E8A-4147-A177-3AD203B41FA5}">
                      <a16:colId xmlns:a16="http://schemas.microsoft.com/office/drawing/2014/main" val="4199535273"/>
                    </a:ext>
                  </a:extLst>
                </a:gridCol>
              </a:tblGrid>
              <a:tr h="2589601">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2">
                        <a:extLst>
                          <a:ext uri="{28A0092B-C50C-407E-A947-70E740481C1C}">
                            <a14:useLocalDpi xmlns:a14="http://schemas.microsoft.com/office/drawing/2010/main" val="0"/>
                          </a:ext>
                        </a:extLst>
                      </a:blip>
                      <a:srcRect/>
                      <a:stretch>
                        <a:fillRect/>
                      </a:stretch>
                    </a:blipFill>
                  </a:tcPr>
                </a:tc>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3">
                        <a:extLst>
                          <a:ext uri="{28A0092B-C50C-407E-A947-70E740481C1C}">
                            <a14:useLocalDpi xmlns:a14="http://schemas.microsoft.com/office/drawing/2010/main" val="0"/>
                          </a:ext>
                        </a:extLst>
                      </a:blip>
                      <a:srcRect/>
                      <a:stretch>
                        <a:fillRect/>
                      </a:stretch>
                    </a:blipFill>
                  </a:tcPr>
                </a:tc>
                <a:tc hMerge="1">
                  <a:txBody>
                    <a:bodyPr/>
                    <a:lstStyle/>
                    <a:p>
                      <a:pPr latinLnBrk="1"/>
                      <a:endParaRPr lang="ko-KR" altLang="en-US"/>
                    </a:p>
                  </a:txBody>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4"/>
                      <a:stretch>
                        <a:fillRect/>
                      </a:stretch>
                    </a:blipFill>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7">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3183017914"/>
                  </a:ext>
                </a:extLst>
              </a:tr>
              <a:tr h="384629">
                <a:tc gridSpan="5">
                  <a:txBody>
                    <a:bodyPr/>
                    <a:lstStyle/>
                    <a:p>
                      <a:pPr algn="ctr" latinLnBrk="1"/>
                      <a:r>
                        <a:rPr lang="en-US" altLang="ko-KR" sz="2000" b="1" spc="-50" baseline="0" dirty="0">
                          <a:solidFill>
                            <a:sysClr val="windowText" lastClr="000000"/>
                          </a:solidFill>
                          <a:latin typeface="Times New Roman" panose="02020603050405020304" pitchFamily="18" charset="0"/>
                          <a:cs typeface="Times New Roman" panose="02020603050405020304" pitchFamily="18" charset="0"/>
                        </a:rPr>
                        <a:t>Fig. 5 </a:t>
                      </a:r>
                      <a:r>
                        <a:rPr lang="en-US" altLang="ko-KR" sz="2000" spc="-50" baseline="0" dirty="0">
                          <a:solidFill>
                            <a:sysClr val="windowText" lastClr="000000"/>
                          </a:solidFill>
                          <a:latin typeface="Times New Roman" panose="02020603050405020304" pitchFamily="18" charset="0"/>
                          <a:cs typeface="Times New Roman" panose="02020603050405020304" pitchFamily="18" charset="0"/>
                        </a:rPr>
                        <a:t> Streamline pattern of (a) Re 100, (b) Re 400 and (c) Re 1000 at the steady state with Ansys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en-US" altLang="ko-KR" sz="2000" spc="-5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060976"/>
                  </a:ext>
                </a:extLst>
              </a:tr>
              <a:tr h="2854960">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5"/>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6"/>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0897978"/>
                  </a:ext>
                </a:extLst>
              </a:tr>
              <a:tr h="397186">
                <a:tc gridSpan="5">
                  <a:txBody>
                    <a:bodyPr/>
                    <a:lstStyle/>
                    <a:p>
                      <a:pPr algn="ctr" latinLnBrk="1"/>
                      <a:r>
                        <a:rPr lang="en-US" altLang="ko-KR" sz="2000" b="1" kern="800" spc="-90" dirty="0">
                          <a:solidFill>
                            <a:sysClr val="windowText" lastClr="000000"/>
                          </a:solidFill>
                          <a:latin typeface="Times New Roman" panose="02020603050405020304" pitchFamily="18" charset="0"/>
                          <a:cs typeface="Times New Roman" panose="02020603050405020304" pitchFamily="18" charset="0"/>
                        </a:rPr>
                        <a:t>Fig. 6 </a:t>
                      </a:r>
                      <a:r>
                        <a:rPr lang="en-US" altLang="ko-KR" sz="2000" kern="800" spc="-90" dirty="0">
                          <a:solidFill>
                            <a:sysClr val="windowText" lastClr="000000"/>
                          </a:solidFill>
                          <a:latin typeface="Times New Roman" panose="02020603050405020304" pitchFamily="18" charset="0"/>
                          <a:cs typeface="Times New Roman" panose="02020603050405020304" pitchFamily="18" charset="0"/>
                        </a:rPr>
                        <a:t> </a:t>
                      </a:r>
                      <a:r>
                        <a:rPr lang="en-US" altLang="ko-KR" sz="2000" kern="800" spc="-90" baseline="0" dirty="0">
                          <a:solidFill>
                            <a:sysClr val="windowText" lastClr="000000"/>
                          </a:solidFill>
                          <a:latin typeface="Times New Roman" panose="02020603050405020304" pitchFamily="18" charset="0"/>
                          <a:cs typeface="Times New Roman" panose="02020603050405020304" pitchFamily="18" charset="0"/>
                        </a:rPr>
                        <a:t>Comparison of (a) u-velocity along vertical lines and (b) v-velocity along horizontal lines with Ansys</a:t>
                      </a:r>
                      <a:endParaRPr lang="ko-KR" altLang="en-US" sz="2000" kern="800" spc="-9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latinLnBrk="1"/>
                      <a:endParaRPr lang="ko-KR" altLang="en-US" sz="2000" kern="800" spc="-9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4699889"/>
                  </a:ext>
                </a:extLst>
              </a:tr>
            </a:tbl>
          </a:graphicData>
        </a:graphic>
      </p:graphicFrame>
      <p:grpSp>
        <p:nvGrpSpPr>
          <p:cNvPr id="35" name="그룹 34">
            <a:extLst>
              <a:ext uri="{FF2B5EF4-FFF2-40B4-BE49-F238E27FC236}">
                <a16:creationId xmlns:a16="http://schemas.microsoft.com/office/drawing/2014/main" id="{FE7A4464-201C-8AFD-115D-49820B6270A1}"/>
              </a:ext>
            </a:extLst>
          </p:cNvPr>
          <p:cNvGrpSpPr/>
          <p:nvPr/>
        </p:nvGrpSpPr>
        <p:grpSpPr>
          <a:xfrm>
            <a:off x="3010184" y="21005736"/>
            <a:ext cx="6954170" cy="3457472"/>
            <a:chOff x="14317677" y="10394952"/>
            <a:chExt cx="6259386" cy="3457472"/>
          </a:xfrm>
        </p:grpSpPr>
        <p:grpSp>
          <p:nvGrpSpPr>
            <p:cNvPr id="38" name="그룹 37">
              <a:extLst>
                <a:ext uri="{FF2B5EF4-FFF2-40B4-BE49-F238E27FC236}">
                  <a16:creationId xmlns:a16="http://schemas.microsoft.com/office/drawing/2014/main" id="{9B336F0F-1AB1-43D5-08FB-B0439244EBD0}"/>
                </a:ext>
              </a:extLst>
            </p:cNvPr>
            <p:cNvGrpSpPr/>
            <p:nvPr/>
          </p:nvGrpSpPr>
          <p:grpSpPr>
            <a:xfrm>
              <a:off x="14317677" y="10394952"/>
              <a:ext cx="6259386" cy="463555"/>
              <a:chOff x="3861296" y="10623552"/>
              <a:chExt cx="6259386" cy="463555"/>
            </a:xfrm>
          </p:grpSpPr>
          <p:sp>
            <p:nvSpPr>
              <p:cNvPr id="50" name="직사각형 49">
                <a:extLst>
                  <a:ext uri="{FF2B5EF4-FFF2-40B4-BE49-F238E27FC236}">
                    <a16:creationId xmlns:a16="http://schemas.microsoft.com/office/drawing/2014/main" id="{AAF1A4C0-438D-3EB2-50E3-10D1A9A7AC1C}"/>
                  </a:ext>
                </a:extLst>
              </p:cNvPr>
              <p:cNvSpPr/>
              <p:nvPr/>
            </p:nvSpPr>
            <p:spPr>
              <a:xfrm>
                <a:off x="3861296" y="106235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52" name="직사각형 51">
                <a:extLst>
                  <a:ext uri="{FF2B5EF4-FFF2-40B4-BE49-F238E27FC236}">
                    <a16:creationId xmlns:a16="http://schemas.microsoft.com/office/drawing/2014/main" id="{51754524-65B6-A047-18A9-ED16DDC652DE}"/>
                  </a:ext>
                </a:extLst>
              </p:cNvPr>
              <p:cNvSpPr/>
              <p:nvPr/>
            </p:nvSpPr>
            <p:spPr>
              <a:xfrm>
                <a:off x="6758151" y="106235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sp>
            <p:nvSpPr>
              <p:cNvPr id="59" name="직사각형 58">
                <a:extLst>
                  <a:ext uri="{FF2B5EF4-FFF2-40B4-BE49-F238E27FC236}">
                    <a16:creationId xmlns:a16="http://schemas.microsoft.com/office/drawing/2014/main" id="{F248A368-4B13-10F4-C0EF-BD61CBFE5A2F}"/>
                  </a:ext>
                </a:extLst>
              </p:cNvPr>
              <p:cNvSpPr/>
              <p:nvPr/>
            </p:nvSpPr>
            <p:spPr>
              <a:xfrm>
                <a:off x="9663482" y="10629907"/>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(c)</a:t>
                </a:r>
                <a:endParaRPr lang="ko-KR" altLang="en-US" sz="2000" b="1" dirty="0">
                  <a:solidFill>
                    <a:schemeClr val="tx1"/>
                  </a:solidFill>
                </a:endParaRPr>
              </a:p>
            </p:txBody>
          </p:sp>
        </p:grpSp>
        <p:grpSp>
          <p:nvGrpSpPr>
            <p:cNvPr id="42" name="그룹 41">
              <a:extLst>
                <a:ext uri="{FF2B5EF4-FFF2-40B4-BE49-F238E27FC236}">
                  <a16:creationId xmlns:a16="http://schemas.microsoft.com/office/drawing/2014/main" id="{89EC9FF8-2E83-8B76-2E3A-E59355003819}"/>
                </a:ext>
              </a:extLst>
            </p:cNvPr>
            <p:cNvGrpSpPr/>
            <p:nvPr/>
          </p:nvGrpSpPr>
          <p:grpSpPr>
            <a:xfrm>
              <a:off x="15997549" y="13389785"/>
              <a:ext cx="1007969" cy="462639"/>
              <a:chOff x="15997549" y="13389785"/>
              <a:chExt cx="1007969" cy="462639"/>
            </a:xfrm>
          </p:grpSpPr>
          <p:sp>
            <p:nvSpPr>
              <p:cNvPr id="43" name="직사각형 42">
                <a:extLst>
                  <a:ext uri="{FF2B5EF4-FFF2-40B4-BE49-F238E27FC236}">
                    <a16:creationId xmlns:a16="http://schemas.microsoft.com/office/drawing/2014/main" id="{76AFFA4E-4C1A-5FA2-62D5-EE4B2CC8DA7A}"/>
                  </a:ext>
                </a:extLst>
              </p:cNvPr>
              <p:cNvSpPr/>
              <p:nvPr/>
            </p:nvSpPr>
            <p:spPr>
              <a:xfrm>
                <a:off x="15997549" y="13395224"/>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44" name="직사각형 43">
                <a:extLst>
                  <a:ext uri="{FF2B5EF4-FFF2-40B4-BE49-F238E27FC236}">
                    <a16:creationId xmlns:a16="http://schemas.microsoft.com/office/drawing/2014/main" id="{DA3230B4-1A11-F548-DFAB-A40F00721140}"/>
                  </a:ext>
                </a:extLst>
              </p:cNvPr>
              <p:cNvSpPr/>
              <p:nvPr/>
            </p:nvSpPr>
            <p:spPr>
              <a:xfrm>
                <a:off x="16548318" y="13389785"/>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grpSp>
      </p:grpSp>
      <p:graphicFrame>
        <p:nvGraphicFramePr>
          <p:cNvPr id="30" name="표 29">
            <a:extLst>
              <a:ext uri="{FF2B5EF4-FFF2-40B4-BE49-F238E27FC236}">
                <a16:creationId xmlns:a16="http://schemas.microsoft.com/office/drawing/2014/main" id="{C6F2D8BD-7138-6941-3809-D0E3C86C30EE}"/>
              </a:ext>
            </a:extLst>
          </p:cNvPr>
          <p:cNvGraphicFramePr>
            <a:graphicFrameLocks noGrp="1"/>
          </p:cNvGraphicFramePr>
          <p:nvPr/>
        </p:nvGraphicFramePr>
        <p:xfrm>
          <a:off x="10865378" y="20969058"/>
          <a:ext cx="10182272" cy="6237987"/>
        </p:xfrm>
        <a:graphic>
          <a:graphicData uri="http://schemas.openxmlformats.org/drawingml/2006/table">
            <a:tbl>
              <a:tblPr firstRow="1" bandRow="1">
                <a:tableStyleId>{5C22544A-7EE6-4342-B048-85BDC9FD1C3A}</a:tableStyleId>
              </a:tblPr>
              <a:tblGrid>
                <a:gridCol w="3216080">
                  <a:extLst>
                    <a:ext uri="{9D8B030D-6E8A-4147-A177-3AD203B41FA5}">
                      <a16:colId xmlns:a16="http://schemas.microsoft.com/office/drawing/2014/main" val="1904415591"/>
                    </a:ext>
                  </a:extLst>
                </a:gridCol>
                <a:gridCol w="1875056">
                  <a:extLst>
                    <a:ext uri="{9D8B030D-6E8A-4147-A177-3AD203B41FA5}">
                      <a16:colId xmlns:a16="http://schemas.microsoft.com/office/drawing/2014/main" val="3520315317"/>
                    </a:ext>
                  </a:extLst>
                </a:gridCol>
                <a:gridCol w="1341028">
                  <a:extLst>
                    <a:ext uri="{9D8B030D-6E8A-4147-A177-3AD203B41FA5}">
                      <a16:colId xmlns:a16="http://schemas.microsoft.com/office/drawing/2014/main" val="1726811514"/>
                    </a:ext>
                  </a:extLst>
                </a:gridCol>
                <a:gridCol w="3216080">
                  <a:extLst>
                    <a:ext uri="{9D8B030D-6E8A-4147-A177-3AD203B41FA5}">
                      <a16:colId xmlns:a16="http://schemas.microsoft.com/office/drawing/2014/main" val="2288522900"/>
                    </a:ext>
                  </a:extLst>
                </a:gridCol>
                <a:gridCol w="534028">
                  <a:extLst>
                    <a:ext uri="{9D8B030D-6E8A-4147-A177-3AD203B41FA5}">
                      <a16:colId xmlns:a16="http://schemas.microsoft.com/office/drawing/2014/main" val="4199535273"/>
                    </a:ext>
                  </a:extLst>
                </a:gridCol>
              </a:tblGrid>
              <a:tr h="2589601">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7">
                        <a:extLst>
                          <a:ext uri="{28A0092B-C50C-407E-A947-70E740481C1C}">
                            <a14:useLocalDpi xmlns:a14="http://schemas.microsoft.com/office/drawing/2010/main" val="0"/>
                          </a:ext>
                        </a:extLst>
                      </a:blip>
                      <a:srcRect/>
                      <a:stretch>
                        <a:fillRect/>
                      </a:stretch>
                    </a:blipFill>
                  </a:tcPr>
                </a:tc>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8">
                        <a:extLst>
                          <a:ext uri="{28A0092B-C50C-407E-A947-70E740481C1C}">
                            <a14:useLocalDpi xmlns:a14="http://schemas.microsoft.com/office/drawing/2010/main" val="0"/>
                          </a:ext>
                        </a:extLst>
                      </a:blip>
                      <a:srcRect/>
                      <a:stretch>
                        <a:fillRect/>
                      </a:stretch>
                    </a:blipFill>
                  </a:tcPr>
                </a:tc>
                <a:tc hMerge="1">
                  <a:txBody>
                    <a:bodyPr/>
                    <a:lstStyle/>
                    <a:p>
                      <a:pPr latinLnBrk="1"/>
                      <a:endParaRPr lang="ko-KR" altLang="en-US"/>
                    </a:p>
                  </a:txBody>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39">
                        <a:extLst>
                          <a:ext uri="{28A0092B-C50C-407E-A947-70E740481C1C}">
                            <a14:useLocalDpi xmlns:a14="http://schemas.microsoft.com/office/drawing/2010/main" val="0"/>
                          </a:ext>
                        </a:extLst>
                      </a:blip>
                      <a:srcRect/>
                      <a:stretch>
                        <a:fillRect/>
                      </a:stretch>
                    </a:blipFill>
                  </a:tcPr>
                </a:tc>
                <a:tc>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27">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3183017914"/>
                  </a:ext>
                </a:extLst>
              </a:tr>
              <a:tr h="384629">
                <a:tc gridSpan="5">
                  <a:txBody>
                    <a:bodyPr/>
                    <a:lstStyle/>
                    <a:p>
                      <a:pPr algn="ctr" latinLnBrk="1"/>
                      <a:r>
                        <a:rPr lang="en-US" altLang="ko-KR" sz="2000" b="1" spc="-50" baseline="0" dirty="0">
                          <a:solidFill>
                            <a:sysClr val="windowText" lastClr="000000"/>
                          </a:solidFill>
                          <a:latin typeface="Times New Roman" panose="02020603050405020304" pitchFamily="18" charset="0"/>
                          <a:cs typeface="Times New Roman" panose="02020603050405020304" pitchFamily="18" charset="0"/>
                        </a:rPr>
                        <a:t>Fig. 3 </a:t>
                      </a:r>
                      <a:r>
                        <a:rPr lang="en-US" altLang="ko-KR" sz="2000" spc="-50" baseline="0" dirty="0">
                          <a:solidFill>
                            <a:sysClr val="windowText" lastClr="000000"/>
                          </a:solidFill>
                          <a:latin typeface="Times New Roman" panose="02020603050405020304" pitchFamily="18" charset="0"/>
                          <a:cs typeface="Times New Roman" panose="02020603050405020304" pitchFamily="18" charset="0"/>
                        </a:rPr>
                        <a:t> Streamline pattern of (a) Re 100, (b) Re 400 and (c) Re 1000 at the steady state with </a:t>
                      </a:r>
                      <a:r>
                        <a:rPr lang="en-US" altLang="ko-KR" sz="2000" spc="-50" baseline="0" dirty="0" err="1">
                          <a:solidFill>
                            <a:sysClr val="windowText" lastClr="000000"/>
                          </a:solidFill>
                          <a:latin typeface="Times New Roman" panose="02020603050405020304" pitchFamily="18" charset="0"/>
                          <a:cs typeface="Times New Roman" panose="02020603050405020304" pitchFamily="18" charset="0"/>
                        </a:rPr>
                        <a:t>OpenFOAM</a:t>
                      </a:r>
                      <a:endParaRPr lang="en-US" altLang="ko-KR" sz="2000" spc="-5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latinLnBrk="1"/>
                      <a:endParaRPr lang="ko-KR" altLang="en-US" sz="28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en-US" altLang="ko-KR" sz="2000" spc="-5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7060976"/>
                  </a:ext>
                </a:extLst>
              </a:tr>
              <a:tr h="2854960">
                <a:tc gridSpan="2">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40">
                        <a:extLst>
                          <a:ext uri="{28A0092B-C50C-407E-A947-70E740481C1C}">
                            <a14:useLocalDpi xmlns:a14="http://schemas.microsoft.com/office/drawing/2010/main" val="0"/>
                          </a:ext>
                        </a:extLst>
                      </a:blip>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dpi="0" rotWithShape="1">
                      <a:blip r:embed="rId41">
                        <a:extLst>
                          <a:ext uri="{28A0092B-C50C-407E-A947-70E740481C1C}">
                            <a14:useLocalDpi xmlns:a14="http://schemas.microsoft.com/office/drawing/2010/main" val="0"/>
                          </a:ext>
                        </a:extLst>
                      </a:blip>
                      <a:srcRect/>
                      <a:stretch>
                        <a:fillRect/>
                      </a:stretch>
                    </a:blip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0897978"/>
                  </a:ext>
                </a:extLst>
              </a:tr>
              <a:tr h="397186">
                <a:tc gridSpan="5">
                  <a:txBody>
                    <a:bodyPr/>
                    <a:lstStyle/>
                    <a:p>
                      <a:pPr algn="ctr" latinLnBrk="1"/>
                      <a:r>
                        <a:rPr lang="en-US" altLang="ko-KR" sz="2000" b="1" kern="800" spc="-120" dirty="0">
                          <a:solidFill>
                            <a:sysClr val="windowText" lastClr="000000"/>
                          </a:solidFill>
                          <a:latin typeface="Times New Roman" panose="02020603050405020304" pitchFamily="18" charset="0"/>
                          <a:cs typeface="Times New Roman" panose="02020603050405020304" pitchFamily="18" charset="0"/>
                        </a:rPr>
                        <a:t>Fig. 4 </a:t>
                      </a:r>
                      <a:r>
                        <a:rPr lang="en-US" altLang="ko-KR" sz="2000" kern="800" spc="-120" dirty="0">
                          <a:solidFill>
                            <a:sysClr val="windowText" lastClr="000000"/>
                          </a:solidFill>
                          <a:latin typeface="Times New Roman" panose="02020603050405020304" pitchFamily="18" charset="0"/>
                          <a:cs typeface="Times New Roman" panose="02020603050405020304" pitchFamily="18" charset="0"/>
                        </a:rPr>
                        <a:t> </a:t>
                      </a:r>
                      <a:r>
                        <a:rPr lang="en-US" altLang="ko-KR" sz="2000" kern="800" spc="-120" baseline="0" dirty="0">
                          <a:solidFill>
                            <a:sysClr val="windowText" lastClr="000000"/>
                          </a:solidFill>
                          <a:latin typeface="Times New Roman" panose="02020603050405020304" pitchFamily="18" charset="0"/>
                          <a:cs typeface="Times New Roman" panose="02020603050405020304" pitchFamily="18" charset="0"/>
                        </a:rPr>
                        <a:t>Comparison of (a) u-velocity along vertical lines and (b) v-velocity along horizontal lines with </a:t>
                      </a:r>
                      <a:r>
                        <a:rPr lang="en-US" altLang="ko-KR" sz="2000" kern="800" spc="-120" baseline="0" dirty="0" err="1">
                          <a:solidFill>
                            <a:sysClr val="windowText" lastClr="000000"/>
                          </a:solidFill>
                          <a:latin typeface="Times New Roman" panose="02020603050405020304" pitchFamily="18" charset="0"/>
                          <a:cs typeface="Times New Roman" panose="02020603050405020304" pitchFamily="18" charset="0"/>
                        </a:rPr>
                        <a:t>OpenFOAM</a:t>
                      </a:r>
                      <a:endParaRPr lang="ko-KR" altLang="en-US" sz="2000" kern="800" spc="-12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latinLnBrk="1"/>
                      <a:endParaRPr lang="ko-KR" altLang="en-US" sz="2000" kern="800" spc="-90" baseline="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4699889"/>
                  </a:ext>
                </a:extLst>
              </a:tr>
            </a:tbl>
          </a:graphicData>
        </a:graphic>
      </p:graphicFrame>
      <p:grpSp>
        <p:nvGrpSpPr>
          <p:cNvPr id="33" name="그룹 32">
            <a:extLst>
              <a:ext uri="{FF2B5EF4-FFF2-40B4-BE49-F238E27FC236}">
                <a16:creationId xmlns:a16="http://schemas.microsoft.com/office/drawing/2014/main" id="{28EFCE93-67E7-EB24-50D2-88525A867A7B}"/>
              </a:ext>
            </a:extLst>
          </p:cNvPr>
          <p:cNvGrpSpPr/>
          <p:nvPr/>
        </p:nvGrpSpPr>
        <p:grpSpPr>
          <a:xfrm>
            <a:off x="13522159" y="21007441"/>
            <a:ext cx="6874300" cy="3461103"/>
            <a:chOff x="13702763" y="10382252"/>
            <a:chExt cx="6874300" cy="3461103"/>
          </a:xfrm>
        </p:grpSpPr>
        <p:grpSp>
          <p:nvGrpSpPr>
            <p:cNvPr id="76" name="그룹 75">
              <a:extLst>
                <a:ext uri="{FF2B5EF4-FFF2-40B4-BE49-F238E27FC236}">
                  <a16:creationId xmlns:a16="http://schemas.microsoft.com/office/drawing/2014/main" id="{156BC02F-D9E7-0537-0470-A39595846316}"/>
                </a:ext>
              </a:extLst>
            </p:cNvPr>
            <p:cNvGrpSpPr/>
            <p:nvPr/>
          </p:nvGrpSpPr>
          <p:grpSpPr>
            <a:xfrm>
              <a:off x="13702763" y="10382252"/>
              <a:ext cx="6874300" cy="461741"/>
              <a:chOff x="3246382" y="10610852"/>
              <a:chExt cx="6874300" cy="461741"/>
            </a:xfrm>
          </p:grpSpPr>
          <p:sp>
            <p:nvSpPr>
              <p:cNvPr id="83" name="직사각형 82">
                <a:extLst>
                  <a:ext uri="{FF2B5EF4-FFF2-40B4-BE49-F238E27FC236}">
                    <a16:creationId xmlns:a16="http://schemas.microsoft.com/office/drawing/2014/main" id="{0DCD6F7B-2D08-F183-DDB4-4EFEB33EF76E}"/>
                  </a:ext>
                </a:extLst>
              </p:cNvPr>
              <p:cNvSpPr/>
              <p:nvPr/>
            </p:nvSpPr>
            <p:spPr>
              <a:xfrm>
                <a:off x="3246382"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84" name="직사각형 83">
                <a:extLst>
                  <a:ext uri="{FF2B5EF4-FFF2-40B4-BE49-F238E27FC236}">
                    <a16:creationId xmlns:a16="http://schemas.microsoft.com/office/drawing/2014/main" id="{32BA8602-85AF-5565-400A-808920822D8F}"/>
                  </a:ext>
                </a:extLst>
              </p:cNvPr>
              <p:cNvSpPr/>
              <p:nvPr/>
            </p:nvSpPr>
            <p:spPr>
              <a:xfrm>
                <a:off x="6472371" y="10610852"/>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sp>
            <p:nvSpPr>
              <p:cNvPr id="85" name="직사각형 84">
                <a:extLst>
                  <a:ext uri="{FF2B5EF4-FFF2-40B4-BE49-F238E27FC236}">
                    <a16:creationId xmlns:a16="http://schemas.microsoft.com/office/drawing/2014/main" id="{95F8A65B-D5BE-87DD-2D0F-A283ADE16E28}"/>
                  </a:ext>
                </a:extLst>
              </p:cNvPr>
              <p:cNvSpPr/>
              <p:nvPr/>
            </p:nvSpPr>
            <p:spPr>
              <a:xfrm>
                <a:off x="9663482" y="10615393"/>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(c)</a:t>
                </a:r>
                <a:endParaRPr lang="ko-KR" altLang="en-US" sz="2000" b="1" dirty="0">
                  <a:solidFill>
                    <a:schemeClr val="tx1"/>
                  </a:solidFill>
                </a:endParaRPr>
              </a:p>
            </p:txBody>
          </p:sp>
        </p:grpSp>
        <p:grpSp>
          <p:nvGrpSpPr>
            <p:cNvPr id="78" name="그룹 77">
              <a:extLst>
                <a:ext uri="{FF2B5EF4-FFF2-40B4-BE49-F238E27FC236}">
                  <a16:creationId xmlns:a16="http://schemas.microsoft.com/office/drawing/2014/main" id="{6DEB19F3-DEE4-1895-5708-5677CDBF7242}"/>
                </a:ext>
              </a:extLst>
            </p:cNvPr>
            <p:cNvGrpSpPr/>
            <p:nvPr/>
          </p:nvGrpSpPr>
          <p:grpSpPr>
            <a:xfrm>
              <a:off x="15579991" y="13378894"/>
              <a:ext cx="1083907" cy="464461"/>
              <a:chOff x="15579991" y="13378894"/>
              <a:chExt cx="1083907" cy="464461"/>
            </a:xfrm>
          </p:grpSpPr>
          <p:sp>
            <p:nvSpPr>
              <p:cNvPr id="81" name="직사각형 80">
                <a:extLst>
                  <a:ext uri="{FF2B5EF4-FFF2-40B4-BE49-F238E27FC236}">
                    <a16:creationId xmlns:a16="http://schemas.microsoft.com/office/drawing/2014/main" id="{46F2511C-4F6A-416C-32ED-4C9511C2CEC2}"/>
                  </a:ext>
                </a:extLst>
              </p:cNvPr>
              <p:cNvSpPr/>
              <p:nvPr/>
            </p:nvSpPr>
            <p:spPr>
              <a:xfrm>
                <a:off x="15579991" y="13378894"/>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(a)</a:t>
                </a:r>
                <a:endParaRPr lang="ko-KR" altLang="en-US" sz="2000" b="1" dirty="0">
                  <a:solidFill>
                    <a:schemeClr val="tx1"/>
                  </a:solidFill>
                </a:endParaRPr>
              </a:p>
            </p:txBody>
          </p:sp>
          <p:sp>
            <p:nvSpPr>
              <p:cNvPr id="82" name="직사각형 81">
                <a:extLst>
                  <a:ext uri="{FF2B5EF4-FFF2-40B4-BE49-F238E27FC236}">
                    <a16:creationId xmlns:a16="http://schemas.microsoft.com/office/drawing/2014/main" id="{47872280-D971-44C6-A0D0-FEB6B539461A}"/>
                  </a:ext>
                </a:extLst>
              </p:cNvPr>
              <p:cNvSpPr/>
              <p:nvPr/>
            </p:nvSpPr>
            <p:spPr>
              <a:xfrm>
                <a:off x="16206698" y="13386155"/>
                <a:ext cx="457200" cy="4572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b="1" dirty="0">
                    <a:solidFill>
                      <a:schemeClr val="tx1"/>
                    </a:solidFill>
                  </a:rPr>
                  <a:t>(b)</a:t>
                </a:r>
                <a:endParaRPr lang="ko-KR" altLang="en-US" sz="2000" b="1" dirty="0">
                  <a:solidFill>
                    <a:schemeClr val="tx1"/>
                  </a:solidFill>
                </a:endParaRPr>
              </a:p>
            </p:txBody>
          </p:sp>
        </p:grpSp>
      </p:grpSp>
      <p:sp>
        <p:nvSpPr>
          <p:cNvPr id="95" name="모서리가 둥근 직사각형 9">
            <a:extLst>
              <a:ext uri="{FF2B5EF4-FFF2-40B4-BE49-F238E27FC236}">
                <a16:creationId xmlns:a16="http://schemas.microsoft.com/office/drawing/2014/main" id="{CD17C387-9DA8-2CA9-F0A6-A7AD35026AAC}"/>
              </a:ext>
            </a:extLst>
          </p:cNvPr>
          <p:cNvSpPr/>
          <p:nvPr/>
        </p:nvSpPr>
        <p:spPr>
          <a:xfrm>
            <a:off x="10865378" y="16507194"/>
            <a:ext cx="10150359" cy="473156"/>
          </a:xfrm>
          <a:prstGeom prst="roundRect">
            <a:avLst/>
          </a:prstGeom>
          <a:gradFill flip="none" rotWithShape="1">
            <a:gsLst>
              <a:gs pos="0">
                <a:schemeClr val="tx2">
                  <a:lumMod val="60000"/>
                  <a:lumOff val="40000"/>
                  <a:tint val="66000"/>
                  <a:satMod val="160000"/>
                </a:schemeClr>
              </a:gs>
              <a:gs pos="50000">
                <a:schemeClr val="tx2">
                  <a:lumMod val="60000"/>
                  <a:lumOff val="40000"/>
                  <a:tint val="44500"/>
                  <a:satMod val="160000"/>
                </a:schemeClr>
              </a:gs>
              <a:gs pos="100000">
                <a:schemeClr val="tx2">
                  <a:lumMod val="60000"/>
                  <a:lumOff val="40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3600" dirty="0" err="1">
                <a:solidFill>
                  <a:schemeClr val="tx1"/>
                </a:solidFill>
                <a:latin typeface="Times New Roman" panose="02020603050405020304" pitchFamily="18" charset="0"/>
                <a:cs typeface="Times New Roman" panose="02020603050405020304" pitchFamily="18" charset="0"/>
              </a:rPr>
              <a:t>OpenFOAM</a:t>
            </a:r>
            <a:r>
              <a:rPr lang="en-US" altLang="ko-KR" sz="3600" dirty="0">
                <a:solidFill>
                  <a:schemeClr val="tx1"/>
                </a:solidFill>
                <a:latin typeface="Times New Roman" panose="02020603050405020304" pitchFamily="18" charset="0"/>
                <a:cs typeface="Times New Roman" panose="02020603050405020304" pitchFamily="18" charset="0"/>
              </a:rPr>
              <a:t> </a:t>
            </a:r>
            <a:r>
              <a:rPr lang="en-US" altLang="ko-KR" sz="2200" dirty="0">
                <a:solidFill>
                  <a:schemeClr val="tx1"/>
                </a:solidFill>
                <a:latin typeface="Times New Roman" panose="02020603050405020304" pitchFamily="18" charset="0"/>
                <a:cs typeface="Times New Roman" panose="02020603050405020304" pitchFamily="18" charset="0"/>
              </a:rPr>
              <a:t>(</a:t>
            </a:r>
            <a:r>
              <a:rPr lang="en-US" altLang="ko-KR" sz="2200" b="1" dirty="0">
                <a:solidFill>
                  <a:schemeClr val="tx1"/>
                </a:solidFill>
                <a:latin typeface="Times New Roman" panose="02020603050405020304" pitchFamily="18" charset="0"/>
                <a:cs typeface="Times New Roman" panose="02020603050405020304" pitchFamily="18" charset="0"/>
              </a:rPr>
              <a:t>Open-</a:t>
            </a:r>
            <a:r>
              <a:rPr lang="en-US" altLang="ko-KR" sz="2200" dirty="0">
                <a:solidFill>
                  <a:schemeClr val="tx1"/>
                </a:solidFill>
                <a:latin typeface="Times New Roman" panose="02020603050405020304" pitchFamily="18" charset="0"/>
                <a:cs typeface="Times New Roman" panose="02020603050405020304" pitchFamily="18" charset="0"/>
              </a:rPr>
              <a:t>source </a:t>
            </a:r>
            <a:r>
              <a:rPr lang="en-US" altLang="ko-KR" sz="2200" b="1" dirty="0">
                <a:solidFill>
                  <a:schemeClr val="tx1"/>
                </a:solidFill>
                <a:latin typeface="Times New Roman" panose="02020603050405020304" pitchFamily="18" charset="0"/>
                <a:cs typeface="Times New Roman" panose="02020603050405020304" pitchFamily="18" charset="0"/>
              </a:rPr>
              <a:t>F</a:t>
            </a:r>
            <a:r>
              <a:rPr lang="en-US" altLang="ko-KR" sz="2200" dirty="0">
                <a:solidFill>
                  <a:schemeClr val="tx1"/>
                </a:solidFill>
                <a:latin typeface="Times New Roman" panose="02020603050405020304" pitchFamily="18" charset="0"/>
                <a:cs typeface="Times New Roman" panose="02020603050405020304" pitchFamily="18" charset="0"/>
              </a:rPr>
              <a:t>ield </a:t>
            </a:r>
            <a:r>
              <a:rPr lang="en-US" altLang="ko-KR" sz="2200" b="1" dirty="0">
                <a:solidFill>
                  <a:schemeClr val="tx1"/>
                </a:solidFill>
                <a:latin typeface="Times New Roman" panose="02020603050405020304" pitchFamily="18" charset="0"/>
                <a:cs typeface="Times New Roman" panose="02020603050405020304" pitchFamily="18" charset="0"/>
              </a:rPr>
              <a:t>O</a:t>
            </a:r>
            <a:r>
              <a:rPr lang="en-US" altLang="ko-KR" sz="2200" dirty="0">
                <a:solidFill>
                  <a:schemeClr val="tx1"/>
                </a:solidFill>
                <a:latin typeface="Times New Roman" panose="02020603050405020304" pitchFamily="18" charset="0"/>
                <a:cs typeface="Times New Roman" panose="02020603050405020304" pitchFamily="18" charset="0"/>
              </a:rPr>
              <a:t>peration </a:t>
            </a:r>
            <a:r>
              <a:rPr lang="en-US" altLang="ko-KR" sz="2200" b="1" dirty="0">
                <a:solidFill>
                  <a:schemeClr val="tx1"/>
                </a:solidFill>
                <a:latin typeface="Times New Roman" panose="02020603050405020304" pitchFamily="18" charset="0"/>
                <a:cs typeface="Times New Roman" panose="02020603050405020304" pitchFamily="18" charset="0"/>
              </a:rPr>
              <a:t>A</a:t>
            </a:r>
            <a:r>
              <a:rPr lang="en-US" altLang="ko-KR" sz="2200" dirty="0">
                <a:solidFill>
                  <a:schemeClr val="tx1"/>
                </a:solidFill>
                <a:latin typeface="Times New Roman" panose="02020603050405020304" pitchFamily="18" charset="0"/>
                <a:cs typeface="Times New Roman" panose="02020603050405020304" pitchFamily="18" charset="0"/>
              </a:rPr>
              <a:t>nd </a:t>
            </a:r>
            <a:r>
              <a:rPr lang="en-US" altLang="ko-KR" sz="2200" b="1" dirty="0">
                <a:solidFill>
                  <a:schemeClr val="tx1"/>
                </a:solidFill>
                <a:latin typeface="Times New Roman" panose="02020603050405020304" pitchFamily="18" charset="0"/>
                <a:cs typeface="Times New Roman" panose="02020603050405020304" pitchFamily="18" charset="0"/>
              </a:rPr>
              <a:t>M</a:t>
            </a:r>
            <a:r>
              <a:rPr lang="en-US" altLang="ko-KR" sz="2200" dirty="0">
                <a:solidFill>
                  <a:schemeClr val="tx1"/>
                </a:solidFill>
                <a:latin typeface="Times New Roman" panose="02020603050405020304" pitchFamily="18" charset="0"/>
                <a:cs typeface="Times New Roman" panose="02020603050405020304" pitchFamily="18" charset="0"/>
              </a:rPr>
              <a:t>anipulation)</a:t>
            </a:r>
            <a:endParaRPr lang="ko-KR" altLang="en-US" sz="2200" dirty="0">
              <a:solidFill>
                <a:schemeClr val="tx1"/>
              </a:solidFill>
              <a:latin typeface="Times New Roman" panose="02020603050405020304" pitchFamily="18" charset="0"/>
              <a:cs typeface="Times New Roman" panose="02020603050405020304" pitchFamily="18" charset="0"/>
            </a:endParaRPr>
          </a:p>
        </p:txBody>
      </p:sp>
      <p:sp>
        <p:nvSpPr>
          <p:cNvPr id="96" name="직사각형 95">
            <a:extLst>
              <a:ext uri="{FF2B5EF4-FFF2-40B4-BE49-F238E27FC236}">
                <a16:creationId xmlns:a16="http://schemas.microsoft.com/office/drawing/2014/main" id="{E1217204-2A24-674A-0795-E56D98195972}"/>
              </a:ext>
            </a:extLst>
          </p:cNvPr>
          <p:cNvSpPr/>
          <p:nvPr/>
        </p:nvSpPr>
        <p:spPr>
          <a:xfrm>
            <a:off x="10972912" y="17124086"/>
            <a:ext cx="4391572" cy="3713324"/>
          </a:xfrm>
          <a:prstGeom prst="rect">
            <a:avLst/>
          </a:prstGeom>
        </p:spPr>
        <p:txBody>
          <a:bodyPr wrap="square" lIns="91440" tIns="45720" rIns="91440" bIns="45720" anchor="t">
            <a:spAutoFit/>
          </a:bodyPr>
          <a:lstStyle/>
          <a:p>
            <a:pPr>
              <a:lnSpc>
                <a:spcPct val="120000"/>
              </a:lnSpc>
            </a:pPr>
            <a:r>
              <a:rPr lang="en-US" altLang="ko-KR" sz="2200" dirty="0" err="1">
                <a:latin typeface="Times New Roman"/>
                <a:ea typeface="맑은 고딕"/>
                <a:cs typeface="Times New Roman"/>
              </a:rPr>
              <a:t>OpenFOAM</a:t>
            </a:r>
            <a:r>
              <a:rPr lang="en-US" altLang="ko-KR" sz="2200" dirty="0">
                <a:latin typeface="Times New Roman" panose="02020603050405020304" pitchFamily="18" charset="0"/>
                <a:cs typeface="Times New Roman" panose="02020603050405020304" pitchFamily="18" charset="0"/>
              </a:rPr>
              <a:t> </a:t>
            </a:r>
            <a:r>
              <a:rPr lang="en-US" altLang="ko-KR" sz="2200" dirty="0">
                <a:latin typeface="Times New Roman"/>
                <a:ea typeface="맑은 고딕"/>
                <a:cs typeface="Times New Roman"/>
              </a:rPr>
              <a:t>is a free open-source CFD software which written in C++. It primarily solves problems in three dimensions.</a:t>
            </a:r>
          </a:p>
          <a:p>
            <a:pPr>
              <a:lnSpc>
                <a:spcPct val="120000"/>
              </a:lnSpc>
            </a:pPr>
            <a:r>
              <a:rPr lang="en-US" altLang="ko-KR" sz="2200" dirty="0">
                <a:latin typeface="Times New Roman"/>
                <a:ea typeface="맑은 고딕"/>
                <a:cs typeface="Times New Roman"/>
              </a:rPr>
              <a:t> However, by specifying the z-direction thickness as one cell layer and setting the boundary conditions 'empty' for the front and back faces, it can perform 2D simulations.</a:t>
            </a:r>
          </a:p>
        </p:txBody>
      </p:sp>
      <p:grpSp>
        <p:nvGrpSpPr>
          <p:cNvPr id="97" name="그룹 96">
            <a:extLst>
              <a:ext uri="{FF2B5EF4-FFF2-40B4-BE49-F238E27FC236}">
                <a16:creationId xmlns:a16="http://schemas.microsoft.com/office/drawing/2014/main" id="{5E43CE22-C24B-AB42-DD94-6DBA5DB84F02}"/>
              </a:ext>
            </a:extLst>
          </p:cNvPr>
          <p:cNvGrpSpPr/>
          <p:nvPr/>
        </p:nvGrpSpPr>
        <p:grpSpPr>
          <a:xfrm>
            <a:off x="16008187" y="17181948"/>
            <a:ext cx="4430164" cy="3566528"/>
            <a:chOff x="604925" y="10000392"/>
            <a:chExt cx="4587752" cy="3566528"/>
          </a:xfrm>
        </p:grpSpPr>
        <p:sp>
          <p:nvSpPr>
            <p:cNvPr id="98" name="TextBox 97">
              <a:extLst>
                <a:ext uri="{FF2B5EF4-FFF2-40B4-BE49-F238E27FC236}">
                  <a16:creationId xmlns:a16="http://schemas.microsoft.com/office/drawing/2014/main" id="{D69337BF-0505-6633-32C6-AC21064B3F99}"/>
                </a:ext>
              </a:extLst>
            </p:cNvPr>
            <p:cNvSpPr txBox="1"/>
            <p:nvPr/>
          </p:nvSpPr>
          <p:spPr>
            <a:xfrm>
              <a:off x="604925" y="10000392"/>
              <a:ext cx="2998565" cy="430887"/>
            </a:xfrm>
            <a:prstGeom prst="rect">
              <a:avLst/>
            </a:prstGeom>
            <a:noFill/>
          </p:spPr>
          <p:txBody>
            <a:bodyPr wrap="square" rtlCol="0">
              <a:spAutoFit/>
            </a:bodyPr>
            <a:lstStyle/>
            <a:p>
              <a:r>
                <a:rPr lang="en-US" altLang="ko-KR" sz="2200" dirty="0">
                  <a:latin typeface="Times New Roman" panose="02020603050405020304" pitchFamily="18" charset="0"/>
                  <a:cs typeface="Times New Roman" panose="02020603050405020304" pitchFamily="18" charset="0"/>
                </a:rPr>
                <a:t>&lt;Numerical Modeling&gt;</a:t>
              </a:r>
            </a:p>
          </p:txBody>
        </p:sp>
        <p:sp>
          <p:nvSpPr>
            <p:cNvPr id="99" name="직사각형 98">
              <a:extLst>
                <a:ext uri="{FF2B5EF4-FFF2-40B4-BE49-F238E27FC236}">
                  <a16:creationId xmlns:a16="http://schemas.microsoft.com/office/drawing/2014/main" id="{187EB212-7CAB-90AC-17AC-F7E0AE9D0644}"/>
                </a:ext>
              </a:extLst>
            </p:cNvPr>
            <p:cNvSpPr/>
            <p:nvPr/>
          </p:nvSpPr>
          <p:spPr>
            <a:xfrm>
              <a:off x="741155" y="10429138"/>
              <a:ext cx="4451522" cy="3137782"/>
            </a:xfrm>
            <a:prstGeom prst="rect">
              <a:avLst/>
            </a:prstGeom>
          </p:spPr>
          <p:txBody>
            <a:bodyPr wrap="square" lIns="91440" tIns="45720" rIns="91440" bIns="45720" anchor="t">
              <a:spAutoFit/>
            </a:bodyPr>
            <a:lstStyle/>
            <a:p>
              <a:pPr marL="171450" indent="-180000">
                <a:lnSpc>
                  <a:spcPct val="120000"/>
                </a:lnSpc>
                <a:buFont typeface="Arial" panose="020B0604020202020204" pitchFamily="34" charset="0"/>
                <a:buChar char="•"/>
              </a:pPr>
              <a:r>
                <a:rPr lang="en-US" altLang="ko-KR" sz="2200" dirty="0">
                  <a:latin typeface="Times New Roman"/>
                  <a:ea typeface="맑은 고딕"/>
                  <a:cs typeface="Times New Roman"/>
                </a:rPr>
                <a:t>Explicit operation</a:t>
              </a:r>
            </a:p>
            <a:p>
              <a:pPr>
                <a:lnSpc>
                  <a:spcPct val="150000"/>
                </a:lnSpc>
              </a:pPr>
              <a:r>
                <a:rPr lang="en-US" altLang="ko-KR" sz="2200" dirty="0">
                  <a:latin typeface="Times New Roman"/>
                  <a:ea typeface="맑은 고딕"/>
                  <a:cs typeface="Times New Roman"/>
                </a:rPr>
                <a:t>          Finite Volume Calculus</a:t>
              </a:r>
            </a:p>
            <a:p>
              <a:pPr marL="171450" indent="-171450">
                <a:lnSpc>
                  <a:spcPct val="200000"/>
                </a:lnSpc>
                <a:buFont typeface="Arial" panose="020B0604020202020204" pitchFamily="34" charset="0"/>
                <a:buChar char="•"/>
              </a:pPr>
              <a:r>
                <a:rPr lang="en-US" altLang="ko-KR" sz="2200" dirty="0">
                  <a:latin typeface="Times New Roman"/>
                  <a:ea typeface="맑은 고딕"/>
                  <a:cs typeface="Times New Roman"/>
                </a:rPr>
                <a:t>Implicit operation</a:t>
              </a:r>
            </a:p>
            <a:p>
              <a:pPr>
                <a:lnSpc>
                  <a:spcPct val="120000"/>
                </a:lnSpc>
              </a:pPr>
              <a:r>
                <a:rPr lang="en-US" altLang="ko-KR" sz="2200" dirty="0">
                  <a:latin typeface="Times New Roman"/>
                  <a:ea typeface="맑은 고딕"/>
                  <a:cs typeface="Times New Roman"/>
                </a:rPr>
                <a:t>          Finite Volume Method</a:t>
              </a:r>
            </a:p>
            <a:p>
              <a:pPr>
                <a:lnSpc>
                  <a:spcPct val="200000"/>
                </a:lnSpc>
              </a:pPr>
              <a:endParaRPr lang="en-US" altLang="ko-KR" sz="2200" dirty="0">
                <a:latin typeface="Times New Roman"/>
                <a:ea typeface="맑은 고딕"/>
                <a:cs typeface="Times New Roman"/>
              </a:endParaRPr>
            </a:p>
            <a:p>
              <a:pPr>
                <a:lnSpc>
                  <a:spcPct val="120000"/>
                </a:lnSpc>
              </a:pPr>
              <a:endParaRPr lang="en-US" altLang="ko-KR" sz="2200" dirty="0">
                <a:latin typeface="Times New Roman"/>
                <a:ea typeface="맑은 고딕"/>
                <a:cs typeface="Times New Roman"/>
              </a:endParaRPr>
            </a:p>
          </p:txBody>
        </p:sp>
      </p:grpSp>
      <p:sp>
        <p:nvSpPr>
          <p:cNvPr id="101" name="직사각형 100">
            <a:extLst>
              <a:ext uri="{FF2B5EF4-FFF2-40B4-BE49-F238E27FC236}">
                <a16:creationId xmlns:a16="http://schemas.microsoft.com/office/drawing/2014/main" id="{EC5A93A8-4E55-6DA3-CBC3-BCAE5A24E265}"/>
              </a:ext>
            </a:extLst>
          </p:cNvPr>
          <p:cNvSpPr/>
          <p:nvPr/>
        </p:nvSpPr>
        <p:spPr>
          <a:xfrm>
            <a:off x="16133984" y="19699499"/>
            <a:ext cx="4298613" cy="869469"/>
          </a:xfrm>
          <a:prstGeom prst="rect">
            <a:avLst/>
          </a:prstGeom>
        </p:spPr>
        <p:txBody>
          <a:bodyPr wrap="square" lIns="91440" tIns="45720" rIns="91440" bIns="45720" anchor="t">
            <a:spAutoFit/>
          </a:bodyPr>
          <a:lstStyle/>
          <a:p>
            <a:pPr marL="171450" indent="-180000">
              <a:lnSpc>
                <a:spcPct val="120000"/>
              </a:lnSpc>
              <a:buFont typeface="Arial" panose="020B0604020202020204" pitchFamily="34" charset="0"/>
              <a:buChar char="•"/>
            </a:pPr>
            <a:r>
              <a:rPr lang="en-US" altLang="ko-KR" sz="2200" dirty="0">
                <a:latin typeface="Times New Roman"/>
                <a:ea typeface="맑은 고딕"/>
                <a:cs typeface="Times New Roman"/>
              </a:rPr>
              <a:t>PISO</a:t>
            </a:r>
            <a:r>
              <a:rPr lang="en-US" altLang="ko-KR" sz="2200" dirty="0">
                <a:latin typeface="Times New Roman" panose="02020603050405020304" pitchFamily="18" charset="0"/>
                <a:ea typeface="맑은 고딕"/>
                <a:cs typeface="Times New Roman" panose="02020603050405020304" pitchFamily="18" charset="0"/>
              </a:rPr>
              <a:t> </a:t>
            </a:r>
            <a:r>
              <a:rPr lang="en-US" altLang="ko-KR" sz="2200" dirty="0">
                <a:latin typeface="Times New Roman" panose="02020603050405020304" pitchFamily="18" charset="0"/>
                <a:cs typeface="Times New Roman" panose="02020603050405020304" pitchFamily="18" charset="0"/>
              </a:rPr>
              <a:t>(Pressure-Implicit with Splitting of Operators)</a:t>
            </a:r>
            <a:r>
              <a:rPr lang="en-US" altLang="ko-KR" sz="2200" dirty="0">
                <a:latin typeface="Times New Roman" panose="02020603050405020304" pitchFamily="18" charset="0"/>
                <a:ea typeface="맑은 고딕"/>
                <a:cs typeface="Times New Roman" panose="02020603050405020304" pitchFamily="18" charset="0"/>
              </a:rPr>
              <a:t> </a:t>
            </a:r>
            <a:r>
              <a:rPr lang="en-US" altLang="ko-KR" sz="2200" dirty="0">
                <a:latin typeface="Times New Roman"/>
                <a:ea typeface="맑은 고딕"/>
                <a:cs typeface="Times New Roman"/>
              </a:rPr>
              <a:t>algorithm</a:t>
            </a:r>
          </a:p>
        </p:txBody>
      </p:sp>
      <p:sp>
        <p:nvSpPr>
          <p:cNvPr id="102" name="TextBox 101">
            <a:extLst>
              <a:ext uri="{FF2B5EF4-FFF2-40B4-BE49-F238E27FC236}">
                <a16:creationId xmlns:a16="http://schemas.microsoft.com/office/drawing/2014/main" id="{C6F8996B-4314-B802-C494-EFB84DA964E9}"/>
              </a:ext>
            </a:extLst>
          </p:cNvPr>
          <p:cNvSpPr txBox="1"/>
          <p:nvPr/>
        </p:nvSpPr>
        <p:spPr>
          <a:xfrm>
            <a:off x="8038050" y="8337689"/>
            <a:ext cx="2998565" cy="369332"/>
          </a:xfrm>
          <a:prstGeom prst="rect">
            <a:avLst/>
          </a:prstGeom>
          <a:noFill/>
        </p:spPr>
        <p:txBody>
          <a:bodyPr wrap="square" rtlCol="0">
            <a:spAutoFit/>
          </a:bodyPr>
          <a:lstStyle/>
          <a:p>
            <a:r>
              <a:rPr lang="en-US" altLang="ko-KR" sz="1800" b="1" dirty="0">
                <a:latin typeface="Times New Roman" panose="02020603050405020304" pitchFamily="18" charset="0"/>
                <a:cs typeface="Times New Roman" panose="02020603050405020304" pitchFamily="18" charset="0"/>
              </a:rPr>
              <a:t>Reynolds Number</a:t>
            </a:r>
          </a:p>
        </p:txBody>
      </p:sp>
      <p:sp>
        <p:nvSpPr>
          <p:cNvPr id="27" name="직사각형 26">
            <a:extLst>
              <a:ext uri="{FF2B5EF4-FFF2-40B4-BE49-F238E27FC236}">
                <a16:creationId xmlns:a16="http://schemas.microsoft.com/office/drawing/2014/main" id="{90383C5C-95AD-4EC4-2FD0-F2AFAF64831A}"/>
              </a:ext>
            </a:extLst>
          </p:cNvPr>
          <p:cNvSpPr/>
          <p:nvPr/>
        </p:nvSpPr>
        <p:spPr>
          <a:xfrm>
            <a:off x="402838" y="17117166"/>
            <a:ext cx="10150359" cy="3767343"/>
          </a:xfrm>
          <a:prstGeom prst="rect">
            <a:avLst/>
          </a:prstGeom>
          <a:solidFill>
            <a:schemeClr val="accent1">
              <a:lumMod val="20000"/>
              <a:lumOff val="80000"/>
              <a:alpha val="30000"/>
            </a:schemeClr>
          </a:solidFill>
          <a:ln>
            <a:noFill/>
          </a:ln>
          <a:effectLst>
            <a:reflection endPos="0" dist="50800" dir="5400000" sy="-100000" algn="bl" rotWithShape="0"/>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08" name="그룹 107">
            <a:extLst>
              <a:ext uri="{FF2B5EF4-FFF2-40B4-BE49-F238E27FC236}">
                <a16:creationId xmlns:a16="http://schemas.microsoft.com/office/drawing/2014/main" id="{50A8DF5B-7F35-B5EF-3E57-01D5FE42284B}"/>
              </a:ext>
            </a:extLst>
          </p:cNvPr>
          <p:cNvGrpSpPr/>
          <p:nvPr/>
        </p:nvGrpSpPr>
        <p:grpSpPr>
          <a:xfrm>
            <a:off x="4182623" y="17161270"/>
            <a:ext cx="6538534" cy="3451343"/>
            <a:chOff x="2492990" y="10304104"/>
            <a:chExt cx="3065201" cy="7011165"/>
          </a:xfrm>
        </p:grpSpPr>
        <p:sp>
          <p:nvSpPr>
            <p:cNvPr id="109" name="TextBox 108">
              <a:extLst>
                <a:ext uri="{FF2B5EF4-FFF2-40B4-BE49-F238E27FC236}">
                  <a16:creationId xmlns:a16="http://schemas.microsoft.com/office/drawing/2014/main" id="{09DFE2D3-954A-B1AD-F035-C78E5952455B}"/>
                </a:ext>
              </a:extLst>
            </p:cNvPr>
            <p:cNvSpPr txBox="1"/>
            <p:nvPr/>
          </p:nvSpPr>
          <p:spPr>
            <a:xfrm>
              <a:off x="2492990" y="10368441"/>
              <a:ext cx="2998565" cy="430887"/>
            </a:xfrm>
            <a:prstGeom prst="rect">
              <a:avLst/>
            </a:prstGeom>
            <a:noFill/>
          </p:spPr>
          <p:txBody>
            <a:bodyPr wrap="square" rtlCol="0">
              <a:spAutoFit/>
            </a:bodyPr>
            <a:lstStyle/>
            <a:p>
              <a:r>
                <a:rPr lang="en-US" altLang="ko-KR" sz="2200" dirty="0">
                  <a:latin typeface="Times New Roman" panose="02020603050405020304" pitchFamily="18" charset="0"/>
                  <a:cs typeface="Times New Roman" panose="02020603050405020304" pitchFamily="18" charset="0"/>
                </a:rPr>
                <a:t>&lt;Numerical Modeling&gt;</a:t>
              </a:r>
            </a:p>
          </p:txBody>
        </p:sp>
        <p:sp>
          <p:nvSpPr>
            <p:cNvPr id="110" name="직사각형 109">
              <a:extLst>
                <a:ext uri="{FF2B5EF4-FFF2-40B4-BE49-F238E27FC236}">
                  <a16:creationId xmlns:a16="http://schemas.microsoft.com/office/drawing/2014/main" id="{E47C2348-92A9-2C4B-B198-8FF2AD49BA17}"/>
                </a:ext>
              </a:extLst>
            </p:cNvPr>
            <p:cNvSpPr/>
            <p:nvPr/>
          </p:nvSpPr>
          <p:spPr>
            <a:xfrm>
              <a:off x="3859130" y="10304104"/>
              <a:ext cx="1699061" cy="7011165"/>
            </a:xfrm>
            <a:prstGeom prst="rect">
              <a:avLst/>
            </a:prstGeom>
          </p:spPr>
          <p:txBody>
            <a:bodyPr wrap="square" lIns="91440" tIns="45720" rIns="91440" bIns="45720" anchor="t">
              <a:spAutoFit/>
            </a:bodyPr>
            <a:lstStyle/>
            <a:p>
              <a:pPr marL="171450" indent="-180000">
                <a:lnSpc>
                  <a:spcPct val="120000"/>
                </a:lnSpc>
                <a:buFont typeface="Arial" panose="020B0604020202020204" pitchFamily="34" charset="0"/>
                <a:buChar char="•"/>
              </a:pPr>
              <a:r>
                <a:rPr lang="en-US" altLang="ko-KR" sz="2200" dirty="0">
                  <a:latin typeface="Times New Roman"/>
                  <a:ea typeface="맑은 고딕"/>
                  <a:cs typeface="Times New Roman"/>
                </a:rPr>
                <a:t>Convection term</a:t>
              </a:r>
            </a:p>
            <a:p>
              <a:pPr>
                <a:lnSpc>
                  <a:spcPct val="120000"/>
                </a:lnSpc>
              </a:pPr>
              <a:r>
                <a:rPr lang="en-US" altLang="ko-KR" sz="2200" dirty="0">
                  <a:latin typeface="Times New Roman"/>
                  <a:ea typeface="맑은 고딕"/>
                  <a:cs typeface="Times New Roman"/>
                </a:rPr>
                <a:t>          Second order Upwind</a:t>
              </a:r>
            </a:p>
            <a:p>
              <a:pPr marL="171450" indent="-171450">
                <a:lnSpc>
                  <a:spcPct val="200000"/>
                </a:lnSpc>
                <a:buFont typeface="Arial" panose="020B0604020202020204" pitchFamily="34" charset="0"/>
                <a:buChar char="•"/>
              </a:pPr>
              <a:r>
                <a:rPr lang="en-US" altLang="ko-KR" sz="2200" dirty="0">
                  <a:latin typeface="Times New Roman"/>
                  <a:ea typeface="맑은 고딕"/>
                  <a:cs typeface="Times New Roman"/>
                </a:rPr>
                <a:t>Diffusion term</a:t>
              </a:r>
            </a:p>
            <a:p>
              <a:pPr algn="ctr">
                <a:lnSpc>
                  <a:spcPct val="120000"/>
                </a:lnSpc>
              </a:pPr>
              <a:r>
                <a:rPr lang="en-US" altLang="ko-KR" sz="2200" dirty="0">
                  <a:latin typeface="Times New Roman"/>
                  <a:ea typeface="맑은 고딕"/>
                  <a:cs typeface="Times New Roman"/>
                </a:rPr>
                <a:t>  Central differencing              (second order, default)</a:t>
              </a:r>
            </a:p>
            <a:p>
              <a:pPr marL="171450" indent="-171450">
                <a:lnSpc>
                  <a:spcPct val="200000"/>
                </a:lnSpc>
                <a:buFont typeface="Arial" panose="020B0604020202020204" pitchFamily="34" charset="0"/>
                <a:buChar char="•"/>
              </a:pPr>
              <a:r>
                <a:rPr lang="en-US" altLang="ko-KR" sz="2200" dirty="0">
                  <a:latin typeface="Times New Roman"/>
                  <a:ea typeface="맑은 고딕"/>
                  <a:cs typeface="Times New Roman"/>
                </a:rPr>
                <a:t>Transient Formulation</a:t>
              </a:r>
            </a:p>
            <a:p>
              <a:pPr>
                <a:lnSpc>
                  <a:spcPct val="120000"/>
                </a:lnSpc>
              </a:pPr>
              <a:r>
                <a:rPr lang="en-US" altLang="ko-KR" sz="2200" dirty="0">
                  <a:latin typeface="Times New Roman"/>
                  <a:ea typeface="맑은 고딕"/>
                  <a:cs typeface="Times New Roman"/>
                </a:rPr>
                <a:t>          Second order Implicit	</a:t>
              </a:r>
            </a:p>
            <a:p>
              <a:pPr>
                <a:lnSpc>
                  <a:spcPct val="200000"/>
                </a:lnSpc>
              </a:pPr>
              <a:endParaRPr lang="en-US" altLang="ko-KR" sz="2200" dirty="0">
                <a:latin typeface="Times New Roman"/>
                <a:ea typeface="맑은 고딕"/>
                <a:cs typeface="Times New Roman"/>
              </a:endParaRPr>
            </a:p>
            <a:p>
              <a:pPr>
                <a:lnSpc>
                  <a:spcPct val="200000"/>
                </a:lnSpc>
              </a:pPr>
              <a:endParaRPr lang="en-US" altLang="ko-KR" sz="2200" dirty="0">
                <a:latin typeface="Times New Roman"/>
                <a:ea typeface="맑은 고딕"/>
                <a:cs typeface="Times New Roman"/>
              </a:endParaRPr>
            </a:p>
            <a:p>
              <a:pPr marL="171450" indent="-171450">
                <a:lnSpc>
                  <a:spcPct val="200000"/>
                </a:lnSpc>
                <a:buFont typeface="Arial" panose="020B0604020202020204" pitchFamily="34" charset="0"/>
                <a:buChar char="•"/>
              </a:pPr>
              <a:endParaRPr lang="en-US" altLang="ko-KR" sz="2200" dirty="0">
                <a:latin typeface="Times New Roman"/>
                <a:ea typeface="맑은 고딕"/>
                <a:cs typeface="Times New Roman"/>
              </a:endParaRPr>
            </a:p>
          </p:txBody>
        </p:sp>
      </p:grpSp>
      <p:sp>
        <p:nvSpPr>
          <p:cNvPr id="111" name="직사각형 110">
            <a:extLst>
              <a:ext uri="{FF2B5EF4-FFF2-40B4-BE49-F238E27FC236}">
                <a16:creationId xmlns:a16="http://schemas.microsoft.com/office/drawing/2014/main" id="{3357436B-26B8-FB0C-F864-475105C4EBFE}"/>
              </a:ext>
            </a:extLst>
          </p:cNvPr>
          <p:cNvSpPr/>
          <p:nvPr/>
        </p:nvSpPr>
        <p:spPr>
          <a:xfrm>
            <a:off x="4386631" y="17635335"/>
            <a:ext cx="2620401" cy="2789995"/>
          </a:xfrm>
          <a:prstGeom prst="rect">
            <a:avLst/>
          </a:prstGeom>
        </p:spPr>
        <p:txBody>
          <a:bodyPr wrap="square" lIns="91440" tIns="45720" rIns="91440" bIns="45720" anchor="t">
            <a:spAutoFit/>
          </a:bodyPr>
          <a:lstStyle/>
          <a:p>
            <a:pPr marL="171450" indent="-180000">
              <a:lnSpc>
                <a:spcPct val="120000"/>
              </a:lnSpc>
              <a:buFont typeface="Arial" panose="020B0604020202020204" pitchFamily="34" charset="0"/>
              <a:buChar char="•"/>
            </a:pPr>
            <a:r>
              <a:rPr lang="en-US" altLang="ko-KR" sz="2200" dirty="0">
                <a:latin typeface="Times New Roman"/>
                <a:ea typeface="맑은 고딕"/>
                <a:cs typeface="Times New Roman"/>
              </a:rPr>
              <a:t>Pressure-Based Solver</a:t>
            </a:r>
          </a:p>
          <a:p>
            <a:pPr marL="171450" indent="-180000">
              <a:lnSpc>
                <a:spcPct val="120000"/>
              </a:lnSpc>
              <a:buFont typeface="Arial" panose="020B0604020202020204" pitchFamily="34" charset="0"/>
              <a:buChar char="•"/>
            </a:pPr>
            <a:endParaRPr lang="en-US" altLang="ko-KR" sz="1600" dirty="0">
              <a:latin typeface="Times New Roman"/>
              <a:ea typeface="맑은 고딕"/>
              <a:cs typeface="Times New Roman"/>
            </a:endParaRPr>
          </a:p>
          <a:p>
            <a:pPr marL="171450" indent="-180000">
              <a:lnSpc>
                <a:spcPct val="120000"/>
              </a:lnSpc>
              <a:buFont typeface="Arial" panose="020B0604020202020204" pitchFamily="34" charset="0"/>
              <a:buChar char="•"/>
            </a:pPr>
            <a:r>
              <a:rPr lang="en-US" altLang="ko-KR" sz="2200" dirty="0">
                <a:latin typeface="Times New Roman"/>
                <a:ea typeface="맑은 고딕"/>
                <a:cs typeface="Times New Roman"/>
              </a:rPr>
              <a:t>SIMPLE(Semi-Implicit Method for Pressure-Linked Equations) scheme</a:t>
            </a:r>
          </a:p>
        </p:txBody>
      </p:sp>
      <p:sp>
        <p:nvSpPr>
          <p:cNvPr id="112" name="TextBox 111">
            <a:extLst>
              <a:ext uri="{FF2B5EF4-FFF2-40B4-BE49-F238E27FC236}">
                <a16:creationId xmlns:a16="http://schemas.microsoft.com/office/drawing/2014/main" id="{A6AFDCE6-9824-35D2-16C0-BD40896798B9}"/>
              </a:ext>
            </a:extLst>
          </p:cNvPr>
          <p:cNvSpPr txBox="1"/>
          <p:nvPr/>
        </p:nvSpPr>
        <p:spPr>
          <a:xfrm>
            <a:off x="539162" y="17281956"/>
            <a:ext cx="3881421" cy="3477875"/>
          </a:xfrm>
          <a:prstGeom prst="rect">
            <a:avLst/>
          </a:prstGeom>
          <a:noFill/>
        </p:spPr>
        <p:txBody>
          <a:bodyPr wrap="square" rtlCol="0">
            <a:spAutoFit/>
          </a:bodyPr>
          <a:lstStyle/>
          <a:p>
            <a:r>
              <a:rPr lang="en-US" altLang="ko-KR" sz="2200" dirty="0">
                <a:latin typeface="Times New Roman" panose="02020603050405020304" pitchFamily="18" charset="0"/>
                <a:cs typeface="Times New Roman" panose="02020603050405020304" pitchFamily="18" charset="0"/>
              </a:rPr>
              <a:t>ANSYS is a commercial software package capable of simulating a wide range of engineering problems.</a:t>
            </a:r>
          </a:p>
          <a:p>
            <a:endParaRPr lang="en-US" altLang="ko-KR" sz="2400" dirty="0">
              <a:latin typeface="Times New Roman" panose="02020603050405020304" pitchFamily="18" charset="0"/>
              <a:cs typeface="Times New Roman" panose="02020603050405020304" pitchFamily="18" charset="0"/>
            </a:endParaRPr>
          </a:p>
          <a:p>
            <a:r>
              <a:rPr lang="en-US" altLang="ko-KR" sz="2200" dirty="0">
                <a:latin typeface="Times New Roman" panose="02020603050405020304" pitchFamily="18" charset="0"/>
                <a:cs typeface="Times New Roman" panose="02020603050405020304" pitchFamily="18" charset="0"/>
              </a:rPr>
              <a:t> In this study, ANSYS Fluent 2025 R1 was used, and the computations were performed using the Finite Volume Method (FVM).</a:t>
            </a:r>
            <a:endParaRPr lang="ko-KR"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36810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2522</TotalTime>
  <Words>1241</Words>
  <Application>Microsoft Office PowerPoint</Application>
  <PresentationFormat>사용자 지정</PresentationFormat>
  <Paragraphs>137</Paragraphs>
  <Slides>2</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2</vt:i4>
      </vt:variant>
    </vt:vector>
  </HeadingPairs>
  <TitlesOfParts>
    <vt:vector size="10" baseType="lpstr">
      <vt:lpstr>맑은 고딕</vt:lpstr>
      <vt:lpstr>맑은 고딕</vt:lpstr>
      <vt:lpstr>Arial</vt:lpstr>
      <vt:lpstr>Cambria Math</vt:lpstr>
      <vt:lpstr>Times</vt:lpstr>
      <vt:lpstr>Times New Roman</vt:lpstr>
      <vt:lpstr>Wingdings</vt:lpstr>
      <vt:lpstr>Office 테마</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 numerical simulation of a finite particle motion in quiescent channel with the virtual boundary method Juwon Jang1, Changhoon Lee2* 1Department of Mechanical Engineering, University of Yonsei, Seoul, Korea 2Department of Computational Science and Engineering, University of Yonsei, Seoul, Korea *Corresponding author: clee@yonsei.ac.kr</dc:title>
  <dc:creator>Jang Ju Won</dc:creator>
  <cp:lastModifiedBy>Lee Minjoon</cp:lastModifiedBy>
  <cp:revision>48</cp:revision>
  <dcterms:created xsi:type="dcterms:W3CDTF">2014-08-22T05:54:44Z</dcterms:created>
  <dcterms:modified xsi:type="dcterms:W3CDTF">2026-03-18T11:32:35Z</dcterms:modified>
</cp:coreProperties>
</file>