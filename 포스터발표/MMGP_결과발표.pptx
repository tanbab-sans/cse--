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TDTD평고딕" charset="1" panose="02000503000000000000"/>
      <p:regular r:id="rId36"/>
    </p:embeddedFont>
    <p:embeddedFont>
      <p:font typeface="TDTD순고딕 Bold" charset="1" panose="02000803000000000000"/>
      <p:regular r:id="rId37"/>
    </p:embeddedFont>
    <p:embeddedFont>
      <p:font typeface="Cabin" charset="1" panose="00000500000000000000"/>
      <p:regular r:id="rId38"/>
    </p:embeddedFont>
    <p:embeddedFont>
      <p:font typeface="Noto Sans Kr" charset="1" panose="020B0200000000000000"/>
      <p:regular r:id="rId39"/>
    </p:embeddedFont>
    <p:embeddedFont>
      <p:font typeface="Cabin Bold" charset="1" panose="00000800000000000000"/>
      <p:regular r:id="rId40"/>
    </p:embeddedFont>
    <p:embeddedFont>
      <p:font typeface="Tlab 돋움 레귤러 Bold" charset="1" panose="02060800000000000000"/>
      <p:regular r:id="rId41"/>
    </p:embeddedFont>
    <p:embeddedFont>
      <p:font typeface="Tlab 돋움 레귤러" charset="1" panose="02060500000000000000"/>
      <p:regular r:id="rId42"/>
    </p:embeddedFont>
    <p:embeddedFont>
      <p:font typeface="Noto Sans Kr Bold" charset="1" panose="020B02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01507" y="8075454"/>
            <a:ext cx="8057793" cy="7285019"/>
            <a:chOff x="0" y="0"/>
            <a:chExt cx="736529" cy="665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6529" cy="665893"/>
            </a:xfrm>
            <a:custGeom>
              <a:avLst/>
              <a:gdLst/>
              <a:ahLst/>
              <a:cxnLst/>
              <a:rect r="r" b="b" t="t" l="l"/>
              <a:pathLst>
                <a:path h="665893" w="736529">
                  <a:moveTo>
                    <a:pt x="368265" y="0"/>
                  </a:moveTo>
                  <a:cubicBezTo>
                    <a:pt x="164878" y="0"/>
                    <a:pt x="0" y="149065"/>
                    <a:pt x="0" y="332946"/>
                  </a:cubicBezTo>
                  <a:cubicBezTo>
                    <a:pt x="0" y="516828"/>
                    <a:pt x="164878" y="665893"/>
                    <a:pt x="368265" y="665893"/>
                  </a:cubicBezTo>
                  <a:cubicBezTo>
                    <a:pt x="571651" y="665893"/>
                    <a:pt x="736529" y="516828"/>
                    <a:pt x="736529" y="332946"/>
                  </a:cubicBezTo>
                  <a:cubicBezTo>
                    <a:pt x="736529" y="149065"/>
                    <a:pt x="571651" y="0"/>
                    <a:pt x="368265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9050" y="-13773"/>
              <a:ext cx="598430" cy="617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868167"/>
            <a:ext cx="9570364" cy="127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4"/>
              </a:lnSpc>
            </a:pPr>
            <a:r>
              <a:rPr lang="en-US" sz="8300" spc="-249">
                <a:solidFill>
                  <a:srgbClr val="6274CF"/>
                </a:solidFill>
                <a:latin typeface="TDTD평고딕"/>
                <a:ea typeface="TDTD평고딕"/>
                <a:cs typeface="TDTD평고딕"/>
                <a:sym typeface="TDTD평고딕"/>
              </a:rPr>
              <a:t>MMGP_결과발표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525755"/>
            <a:ext cx="5727032" cy="90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6"/>
              </a:lnSpc>
              <a:spcBef>
                <a:spcPct val="0"/>
              </a:spcBef>
            </a:pPr>
            <a:r>
              <a:rPr lang="en-US" b="true" sz="5354" spc="53">
                <a:solidFill>
                  <a:srgbClr val="6274C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발표자. 이민준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92798"/>
            <a:ext cx="2406276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41">
                <a:solidFill>
                  <a:srgbClr val="252525"/>
                </a:solidFill>
                <a:latin typeface="Cabin"/>
                <a:ea typeface="Cabin"/>
                <a:cs typeface="Cabin"/>
                <a:sym typeface="Cabin"/>
              </a:rPr>
              <a:t>2026.03.19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1397084"/>
            <a:ext cx="16230600" cy="0"/>
          </a:xfrm>
          <a:prstGeom prst="line">
            <a:avLst/>
          </a:prstGeom>
          <a:ln cap="flat" w="38100">
            <a:solidFill>
              <a:srgbClr val="2525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71320" y="3973578"/>
            <a:ext cx="751342" cy="7513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71320" y="8131747"/>
            <a:ext cx="751342" cy="7513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1320" y="5015159"/>
            <a:ext cx="751342" cy="7513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71320" y="6054907"/>
            <a:ext cx="751342" cy="75134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71320" y="7094654"/>
            <a:ext cx="751342" cy="75134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0"/>
            <a:ext cx="18288000" cy="2372063"/>
            <a:chOff x="0" y="0"/>
            <a:chExt cx="4816593" cy="624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624741"/>
            </a:xfrm>
            <a:custGeom>
              <a:avLst/>
              <a:gdLst/>
              <a:ahLst/>
              <a:cxnLst/>
              <a:rect r="r" b="b" t="t" l="l"/>
              <a:pathLst>
                <a:path h="62474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24741"/>
                  </a:lnTo>
                  <a:lnTo>
                    <a:pt x="0" y="624741"/>
                  </a:ln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816593" cy="700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20567" y="1024107"/>
            <a:ext cx="7110099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b="true" sz="96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CONTENTS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70583" y="3747954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70583" y="7906123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70583" y="4786374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70583" y="5823651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70583" y="6865870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03392" y="7882769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Result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27462" y="3724600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REVIEW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27462" y="4766181"/>
            <a:ext cx="10530595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1st_mmgp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7462" y="5805929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Difference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27462" y="6845677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Addition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REVIEW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3406062"/>
            <a:ext cx="16114738" cy="595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전통적인 컴퓨터 시뮬레이션 방식은 다양한 패러미터 값에 대해 편미분 방정식(PDE)를 적용하여 반복적으로 푼다.</a:t>
            </a:r>
          </a:p>
          <a:p>
            <a:pPr algn="l">
              <a:lnSpc>
                <a:spcPts val="4770"/>
              </a:lnSpc>
            </a:pPr>
          </a:p>
          <a:p>
            <a:pPr algn="l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이때 기존의 유한요소법(FEM)이나 유한체적법(FVM)의 수치해석 방법은 높은 정확도를 제공하지만, 이산화하는 방식(하나하나 다 계산하는 방식), 즉 시간과 공간을 전부 계산해야 하므로 비용이 매우 많이 든다.</a:t>
            </a:r>
          </a:p>
          <a:p>
            <a:pPr algn="l">
              <a:lnSpc>
                <a:spcPts val="4770"/>
              </a:lnSpc>
            </a:pPr>
          </a:p>
          <a:p>
            <a:pPr algn="l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이를 해결하기 위해 GNN 그래프를 더 발전시켜 MESH MORPHING GAUSIANN PROCESS를 제작</a:t>
            </a:r>
          </a:p>
          <a:p>
            <a:pPr algn="l">
              <a:lnSpc>
                <a:spcPts val="4770"/>
              </a:lnSpc>
            </a:pPr>
          </a:p>
          <a:p>
            <a:pPr algn="l">
              <a:lnSpc>
                <a:spcPts val="47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REVIEW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534733"/>
            <a:ext cx="16114738" cy="235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MMGP METHOD는 메시 모핑, 차원 축소, 유한 요소 보간법을 통해 PDE의 해를 학습하여 </a:t>
            </a:r>
          </a:p>
          <a:p>
            <a:pPr algn="l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딥러닝 기반 모델과 달리 CPU 환경에서도 쉽고 효율적으로 학습이 가능하다.</a:t>
            </a:r>
          </a:p>
          <a:p>
            <a:pPr algn="l">
              <a:lnSpc>
                <a:spcPts val="4770"/>
              </a:lnSpc>
            </a:pPr>
          </a:p>
          <a:p>
            <a:pPr algn="l">
              <a:lnSpc>
                <a:spcPts val="4770"/>
              </a:lnSpc>
              <a:spcBef>
                <a:spcPct val="0"/>
              </a:spcBef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981208"/>
            <a:ext cx="16230600" cy="6025610"/>
          </a:xfrm>
          <a:custGeom>
            <a:avLst/>
            <a:gdLst/>
            <a:ahLst/>
            <a:cxnLst/>
            <a:rect r="r" b="b" t="t" l="l"/>
            <a:pathLst>
              <a:path h="6025610" w="16230600">
                <a:moveTo>
                  <a:pt x="0" y="0"/>
                </a:moveTo>
                <a:lnTo>
                  <a:pt x="16230600" y="0"/>
                </a:lnTo>
                <a:lnTo>
                  <a:pt x="16230600" y="6025611"/>
                </a:lnTo>
                <a:lnTo>
                  <a:pt x="0" y="602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9800104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MMGP 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06169"/>
            <a:ext cx="6804622" cy="6146577"/>
          </a:xfrm>
          <a:custGeom>
            <a:avLst/>
            <a:gdLst/>
            <a:ahLst/>
            <a:cxnLst/>
            <a:rect r="r" b="b" t="t" l="l"/>
            <a:pathLst>
              <a:path h="6146577" w="6804622">
                <a:moveTo>
                  <a:pt x="0" y="0"/>
                </a:moveTo>
                <a:lnTo>
                  <a:pt x="6804622" y="0"/>
                </a:lnTo>
                <a:lnTo>
                  <a:pt x="6804622" y="6146577"/>
                </a:lnTo>
                <a:lnTo>
                  <a:pt x="0" y="6146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6018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2637906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1st_mmgp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2539" y="5038725"/>
            <a:ext cx="8092529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Winning-solutions-Previous-Challenge에서 </a:t>
            </a:r>
          </a:p>
          <a:p>
            <a:pPr algn="ctr">
              <a:lnSpc>
                <a:spcPts val="4770"/>
              </a:lnSpc>
              <a:spcBef>
                <a:spcPct val="0"/>
              </a:spcBef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다운받을 수 있었던 한정된 코드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749060"/>
            <a:ext cx="7155403" cy="4672117"/>
          </a:xfrm>
          <a:custGeom>
            <a:avLst/>
            <a:gdLst/>
            <a:ahLst/>
            <a:cxnLst/>
            <a:rect r="r" b="b" t="t" l="l"/>
            <a:pathLst>
              <a:path h="4672117" w="7155403">
                <a:moveTo>
                  <a:pt x="0" y="0"/>
                </a:moveTo>
                <a:lnTo>
                  <a:pt x="7155403" y="0"/>
                </a:lnTo>
                <a:lnTo>
                  <a:pt x="7155403" y="4672117"/>
                </a:lnTo>
                <a:lnTo>
                  <a:pt x="0" y="4672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6" t="0" r="-4343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2637906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gp_torch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4512945"/>
            <a:ext cx="7953165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가우시안 프로세스(GP) 회귀 모델 훈련을 </a:t>
            </a:r>
          </a:p>
          <a:p>
            <a:pPr algn="ctr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처리하는 인공지능 수학 엔진</a:t>
            </a:r>
          </a:p>
          <a:p>
            <a:pPr algn="ctr">
              <a:lnSpc>
                <a:spcPts val="4770"/>
              </a:lnSpc>
            </a:pPr>
          </a:p>
          <a:p>
            <a:pPr algn="ctr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일반적인 GP 알고리즘을 사용하는 것이 아닌 </a:t>
            </a:r>
          </a:p>
          <a:p>
            <a:pPr algn="ctr">
              <a:lnSpc>
                <a:spcPts val="4770"/>
              </a:lnSpc>
              <a:spcBef>
                <a:spcPct val="0"/>
              </a:spcBef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가속이 가능한 코드로 다시 짰다.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056" y="3527351"/>
            <a:ext cx="8039397" cy="4883933"/>
          </a:xfrm>
          <a:custGeom>
            <a:avLst/>
            <a:gdLst/>
            <a:ahLst/>
            <a:cxnLst/>
            <a:rect r="r" b="b" t="t" l="l"/>
            <a:pathLst>
              <a:path h="4883933" w="8039397">
                <a:moveTo>
                  <a:pt x="0" y="0"/>
                </a:moveTo>
                <a:lnTo>
                  <a:pt x="8039396" y="0"/>
                </a:lnTo>
                <a:lnTo>
                  <a:pt x="8039396" y="4883933"/>
                </a:lnTo>
                <a:lnTo>
                  <a:pt x="0" y="4883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2637906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safran_augmented_simulation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604758"/>
            <a:ext cx="8115300" cy="535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데이터를 받아서 AI를 훈련시키고 결과를 뽑아내는 총괄 지휘소</a:t>
            </a:r>
          </a:p>
          <a:p>
            <a:pPr algn="ctr">
              <a:lnSpc>
                <a:spcPts val="4770"/>
              </a:lnSpc>
            </a:pPr>
          </a:p>
          <a:p>
            <a:pPr algn="ctr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날개면과 나머지 공간 데이터를 나누고</a:t>
            </a:r>
          </a:p>
          <a:p>
            <a:pPr algn="ctr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난류 점성, 속도를 예측하는 각각의 모델을 만든다.</a:t>
            </a:r>
          </a:p>
          <a:p>
            <a:pPr algn="ctr">
              <a:lnSpc>
                <a:spcPts val="4770"/>
              </a:lnSpc>
            </a:pPr>
          </a:p>
          <a:p>
            <a:pPr algn="ctr">
              <a:lnSpc>
                <a:spcPts val="4770"/>
              </a:lnSpc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학습과 추론에 대한 전반적인 로직 담당</a:t>
            </a:r>
          </a:p>
          <a:p>
            <a:pPr algn="ctr">
              <a:lnSpc>
                <a:spcPts val="4770"/>
              </a:lnSpc>
            </a:pPr>
          </a:p>
          <a:p>
            <a:pPr algn="ctr">
              <a:lnSpc>
                <a:spcPts val="47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937024"/>
            <a:ext cx="6483360" cy="6321276"/>
          </a:xfrm>
          <a:custGeom>
            <a:avLst/>
            <a:gdLst/>
            <a:ahLst/>
            <a:cxnLst/>
            <a:rect r="r" b="b" t="t" l="l"/>
            <a:pathLst>
              <a:path h="6321276" w="6483360">
                <a:moveTo>
                  <a:pt x="0" y="0"/>
                </a:moveTo>
                <a:lnTo>
                  <a:pt x="6483360" y="0"/>
                </a:lnTo>
                <a:lnTo>
                  <a:pt x="6483360" y="6321276"/>
                </a:lnTo>
                <a:lnTo>
                  <a:pt x="0" y="6321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2637906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utils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08655" y="4064220"/>
            <a:ext cx="8550645" cy="3420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4"/>
              </a:lnSpc>
            </a:pPr>
            <a:r>
              <a:rPr lang="en-US" sz="3468" spc="3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전처리 공장</a:t>
            </a:r>
          </a:p>
          <a:p>
            <a:pPr algn="ctr">
              <a:lnSpc>
                <a:spcPts val="5514"/>
              </a:lnSpc>
            </a:pPr>
          </a:p>
          <a:p>
            <a:pPr algn="ctr">
              <a:lnSpc>
                <a:spcPts val="5514"/>
              </a:lnSpc>
            </a:pPr>
            <a:r>
              <a:rPr lang="en-US" sz="3468" spc="3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동일한 구조로 되어 있어야 학습을 할 수 있기에</a:t>
            </a:r>
          </a:p>
          <a:p>
            <a:pPr algn="ctr">
              <a:lnSpc>
                <a:spcPts val="5514"/>
              </a:lnSpc>
            </a:pPr>
          </a:p>
          <a:p>
            <a:pPr algn="ctr">
              <a:lnSpc>
                <a:spcPts val="5514"/>
              </a:lnSpc>
              <a:spcBef>
                <a:spcPct val="0"/>
              </a:spcBef>
            </a:pPr>
            <a:r>
              <a:rPr lang="en-US" sz="3468" spc="3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MORPHING과 INTERPOLATION을 진행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7719" y="3396405"/>
            <a:ext cx="10073967" cy="5641422"/>
          </a:xfrm>
          <a:custGeom>
            <a:avLst/>
            <a:gdLst/>
            <a:ahLst/>
            <a:cxnLst/>
            <a:rect r="r" b="b" t="t" l="l"/>
            <a:pathLst>
              <a:path h="5641422" w="10073967">
                <a:moveTo>
                  <a:pt x="0" y="0"/>
                </a:moveTo>
                <a:lnTo>
                  <a:pt x="10073967" y="0"/>
                </a:lnTo>
                <a:lnTo>
                  <a:pt x="10073967" y="5641422"/>
                </a:lnTo>
                <a:lnTo>
                  <a:pt x="0" y="5641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2637906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parameters.json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44986" y="4507531"/>
            <a:ext cx="6690599" cy="301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2"/>
              </a:lnSpc>
            </a:pPr>
            <a:r>
              <a:rPr lang="en-US" sz="5127" spc="5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머신러닝 가속기에 </a:t>
            </a:r>
          </a:p>
          <a:p>
            <a:pPr algn="ctr">
              <a:lnSpc>
                <a:spcPts val="8152"/>
              </a:lnSpc>
              <a:spcBef>
                <a:spcPct val="0"/>
              </a:spcBef>
            </a:pPr>
            <a:r>
              <a:rPr lang="en-US" sz="5127" spc="5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코드를 어떻게 돌려야 하는지 알려주는 명찰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847124"/>
            <a:ext cx="8676544" cy="6550348"/>
          </a:xfrm>
          <a:custGeom>
            <a:avLst/>
            <a:gdLst/>
            <a:ahLst/>
            <a:cxnLst/>
            <a:rect r="r" b="b" t="t" l="l"/>
            <a:pathLst>
              <a:path h="6550348" w="8676544">
                <a:moveTo>
                  <a:pt x="0" y="0"/>
                </a:moveTo>
                <a:lnTo>
                  <a:pt x="8676544" y="0"/>
                </a:lnTo>
                <a:lnTo>
                  <a:pt x="8676544" y="6550347"/>
                </a:lnTo>
                <a:lnTo>
                  <a:pt x="0" y="6550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7" t="0" r="-66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2637906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gp_torch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3646" y="4718983"/>
            <a:ext cx="6457644" cy="70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1"/>
              </a:lnSpc>
              <a:spcBef>
                <a:spcPct val="0"/>
              </a:spcBef>
            </a:pPr>
            <a:r>
              <a:rPr lang="en-US" sz="3742" spc="3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gp_torch에 대해선 바뀐게 없다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0063" y="3678861"/>
            <a:ext cx="14846919" cy="3247764"/>
          </a:xfrm>
          <a:custGeom>
            <a:avLst/>
            <a:gdLst/>
            <a:ahLst/>
            <a:cxnLst/>
            <a:rect r="r" b="b" t="t" l="l"/>
            <a:pathLst>
              <a:path h="3247764" w="14846919">
                <a:moveTo>
                  <a:pt x="0" y="0"/>
                </a:moveTo>
                <a:lnTo>
                  <a:pt x="14846919" y="0"/>
                </a:lnTo>
                <a:lnTo>
                  <a:pt x="14846919" y="3247763"/>
                </a:lnTo>
                <a:lnTo>
                  <a:pt x="0" y="3247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2194" y="7165314"/>
            <a:ext cx="16593391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똑같은 원본 데이터를 통해 각각 독립적으로 훈련시킴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9372" y="2914145"/>
            <a:ext cx="11970105" cy="6344155"/>
          </a:xfrm>
          <a:custGeom>
            <a:avLst/>
            <a:gdLst/>
            <a:ahLst/>
            <a:cxnLst/>
            <a:rect r="r" b="b" t="t" l="l"/>
            <a:pathLst>
              <a:path h="6344155" w="11970105">
                <a:moveTo>
                  <a:pt x="0" y="0"/>
                </a:moveTo>
                <a:lnTo>
                  <a:pt x="11970104" y="0"/>
                </a:lnTo>
                <a:lnTo>
                  <a:pt x="11970104" y="6344155"/>
                </a:lnTo>
                <a:lnTo>
                  <a:pt x="0" y="6344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44776" y="8881343"/>
            <a:ext cx="10198447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예측된 값을 새로운 입력으로 사용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9656" y="3138164"/>
            <a:ext cx="13188687" cy="5423848"/>
          </a:xfrm>
          <a:custGeom>
            <a:avLst/>
            <a:gdLst/>
            <a:ahLst/>
            <a:cxnLst/>
            <a:rect r="r" b="b" t="t" l="l"/>
            <a:pathLst>
              <a:path h="5423848" w="13188687">
                <a:moveTo>
                  <a:pt x="0" y="0"/>
                </a:moveTo>
                <a:lnTo>
                  <a:pt x="13188688" y="0"/>
                </a:lnTo>
                <a:lnTo>
                  <a:pt x="13188688" y="5423847"/>
                </a:lnTo>
                <a:lnTo>
                  <a:pt x="0" y="5423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929" y="8465418"/>
            <a:ext cx="16867188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bulk와 airfoil용(경계층) 용 2개로 나누어 2번 학습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78660" y="2973662"/>
            <a:ext cx="6330679" cy="6284638"/>
          </a:xfrm>
          <a:custGeom>
            <a:avLst/>
            <a:gdLst/>
            <a:ahLst/>
            <a:cxnLst/>
            <a:rect r="r" b="b" t="t" l="l"/>
            <a:pathLst>
              <a:path h="6284638" w="6330679">
                <a:moveTo>
                  <a:pt x="0" y="0"/>
                </a:moveTo>
                <a:lnTo>
                  <a:pt x="6330680" y="0"/>
                </a:lnTo>
                <a:lnTo>
                  <a:pt x="6330680" y="6284638"/>
                </a:lnTo>
                <a:lnTo>
                  <a:pt x="0" y="628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3822" y="4070107"/>
            <a:ext cx="10580356" cy="5528236"/>
          </a:xfrm>
          <a:custGeom>
            <a:avLst/>
            <a:gdLst/>
            <a:ahLst/>
            <a:cxnLst/>
            <a:rect r="r" b="b" t="t" l="l"/>
            <a:pathLst>
              <a:path h="5528236" w="10580356">
                <a:moveTo>
                  <a:pt x="0" y="0"/>
                </a:moveTo>
                <a:lnTo>
                  <a:pt x="10580356" y="0"/>
                </a:lnTo>
                <a:lnTo>
                  <a:pt x="10580356" y="5528236"/>
                </a:lnTo>
                <a:lnTo>
                  <a:pt x="0" y="5528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53822" y="2764440"/>
            <a:ext cx="10592017" cy="1034237"/>
          </a:xfrm>
          <a:custGeom>
            <a:avLst/>
            <a:gdLst/>
            <a:ahLst/>
            <a:cxnLst/>
            <a:rect r="r" b="b" t="t" l="l"/>
            <a:pathLst>
              <a:path h="1034237" w="10592017">
                <a:moveTo>
                  <a:pt x="0" y="0"/>
                </a:moveTo>
                <a:lnTo>
                  <a:pt x="10592017" y="0"/>
                </a:lnTo>
                <a:lnTo>
                  <a:pt x="10592017" y="1034237"/>
                </a:lnTo>
                <a:lnTo>
                  <a:pt x="0" y="1034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47992" y="3258091"/>
            <a:ext cx="10592017" cy="1034237"/>
          </a:xfrm>
          <a:custGeom>
            <a:avLst/>
            <a:gdLst/>
            <a:ahLst/>
            <a:cxnLst/>
            <a:rect r="r" b="b" t="t" l="l"/>
            <a:pathLst>
              <a:path h="1034237" w="10592017">
                <a:moveTo>
                  <a:pt x="0" y="0"/>
                </a:moveTo>
                <a:lnTo>
                  <a:pt x="10592016" y="0"/>
                </a:lnTo>
                <a:lnTo>
                  <a:pt x="10592016" y="1034237"/>
                </a:lnTo>
                <a:lnTo>
                  <a:pt x="0" y="1034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60143" y="4375509"/>
            <a:ext cx="18348143" cy="641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0"/>
              </a:lnSpc>
            </a:pPr>
            <a:r>
              <a:rPr lang="en-US" sz="4300" spc="10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X_ 는 에어포일의 angle of attack이나 inlet_velocity 등 스칼라 값과 PCA 결과가 합쳐진 데이터</a:t>
            </a:r>
          </a:p>
          <a:p>
            <a:pPr algn="ctr">
              <a:lnSpc>
                <a:spcPts val="8600"/>
              </a:lnSpc>
            </a:pPr>
            <a:r>
              <a:rPr lang="en-US" sz="4300" spc="10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Y_는 실제 후류 각도값</a:t>
            </a:r>
          </a:p>
          <a:p>
            <a:pPr algn="ctr">
              <a:lnSpc>
                <a:spcPts val="8600"/>
              </a:lnSpc>
            </a:pPr>
            <a:r>
              <a:rPr lang="en-US" sz="4300" spc="10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즉 X_(기본 유동과 조건)으로 계산해서 Y_(실제 후류 각도)가 나오도록 내부 파라미터를 최적화해라</a:t>
            </a:r>
          </a:p>
          <a:p>
            <a:pPr algn="ctr">
              <a:lnSpc>
                <a:spcPts val="86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2893" y="2825709"/>
            <a:ext cx="11301259" cy="5368098"/>
          </a:xfrm>
          <a:custGeom>
            <a:avLst/>
            <a:gdLst/>
            <a:ahLst/>
            <a:cxnLst/>
            <a:rect r="r" b="b" t="t" l="l"/>
            <a:pathLst>
              <a:path h="5368098" w="11301259">
                <a:moveTo>
                  <a:pt x="0" y="0"/>
                </a:moveTo>
                <a:lnTo>
                  <a:pt x="11301259" y="0"/>
                </a:lnTo>
                <a:lnTo>
                  <a:pt x="11301259" y="5368098"/>
                </a:lnTo>
                <a:lnTo>
                  <a:pt x="0" y="5368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929" y="8465418"/>
            <a:ext cx="16867188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난류의 불규칙성을 잘 잡는 커널을 사용하여 각도 찾기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7169" y="3372263"/>
            <a:ext cx="11853662" cy="3542474"/>
          </a:xfrm>
          <a:custGeom>
            <a:avLst/>
            <a:gdLst/>
            <a:ahLst/>
            <a:cxnLst/>
            <a:rect r="r" b="b" t="t" l="l"/>
            <a:pathLst>
              <a:path h="3542474" w="11853662">
                <a:moveTo>
                  <a:pt x="0" y="0"/>
                </a:moveTo>
                <a:lnTo>
                  <a:pt x="11853662" y="0"/>
                </a:lnTo>
                <a:lnTo>
                  <a:pt x="11853662" y="3542474"/>
                </a:lnTo>
                <a:lnTo>
                  <a:pt x="0" y="354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6938" y="7362412"/>
            <a:ext cx="797316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Muscat 라이브러리 사용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1810" y="2932515"/>
            <a:ext cx="9664379" cy="5664060"/>
          </a:xfrm>
          <a:custGeom>
            <a:avLst/>
            <a:gdLst/>
            <a:ahLst/>
            <a:cxnLst/>
            <a:rect r="r" b="b" t="t" l="l"/>
            <a:pathLst>
              <a:path h="5664060" w="9664379">
                <a:moveTo>
                  <a:pt x="0" y="0"/>
                </a:moveTo>
                <a:lnTo>
                  <a:pt x="9664380" y="0"/>
                </a:lnTo>
                <a:lnTo>
                  <a:pt x="9664380" y="5664061"/>
                </a:lnTo>
                <a:lnTo>
                  <a:pt x="0" y="5664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48765" y="8413750"/>
            <a:ext cx="7789515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numpy 라이브러리 사용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23012" y="2767964"/>
            <a:ext cx="11241021" cy="3396775"/>
          </a:xfrm>
          <a:custGeom>
            <a:avLst/>
            <a:gdLst/>
            <a:ahLst/>
            <a:cxnLst/>
            <a:rect r="r" b="b" t="t" l="l"/>
            <a:pathLst>
              <a:path h="3396775" w="11241021">
                <a:moveTo>
                  <a:pt x="0" y="0"/>
                </a:moveTo>
                <a:lnTo>
                  <a:pt x="11241022" y="0"/>
                </a:lnTo>
                <a:lnTo>
                  <a:pt x="11241022" y="3396775"/>
                </a:lnTo>
                <a:lnTo>
                  <a:pt x="0" y="339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5992" y="6288881"/>
            <a:ext cx="11276017" cy="3587823"/>
          </a:xfrm>
          <a:custGeom>
            <a:avLst/>
            <a:gdLst/>
            <a:ahLst/>
            <a:cxnLst/>
            <a:rect r="r" b="b" t="t" l="l"/>
            <a:pathLst>
              <a:path h="3587823" w="11276017">
                <a:moveTo>
                  <a:pt x="0" y="0"/>
                </a:moveTo>
                <a:lnTo>
                  <a:pt x="11276016" y="0"/>
                </a:lnTo>
                <a:lnTo>
                  <a:pt x="11276016" y="3587824"/>
                </a:lnTo>
                <a:lnTo>
                  <a:pt x="0" y="3587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safran_augmented_simulation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9844" y="3122368"/>
            <a:ext cx="8968312" cy="5762083"/>
          </a:xfrm>
          <a:custGeom>
            <a:avLst/>
            <a:gdLst/>
            <a:ahLst/>
            <a:cxnLst/>
            <a:rect r="r" b="b" t="t" l="l"/>
            <a:pathLst>
              <a:path h="5762083" w="8968312">
                <a:moveTo>
                  <a:pt x="0" y="0"/>
                </a:moveTo>
                <a:lnTo>
                  <a:pt x="8968312" y="0"/>
                </a:lnTo>
                <a:lnTo>
                  <a:pt x="8968312" y="5762083"/>
                </a:lnTo>
                <a:lnTo>
                  <a:pt x="0" y="5762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utils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642254"/>
            <a:ext cx="6941965" cy="7083638"/>
          </a:xfrm>
          <a:custGeom>
            <a:avLst/>
            <a:gdLst/>
            <a:ahLst/>
            <a:cxnLst/>
            <a:rect r="r" b="b" t="t" l="l"/>
            <a:pathLst>
              <a:path h="7083638" w="6941965">
                <a:moveTo>
                  <a:pt x="0" y="0"/>
                </a:moveTo>
                <a:lnTo>
                  <a:pt x="6941965" y="0"/>
                </a:lnTo>
                <a:lnTo>
                  <a:pt x="6941965" y="7083638"/>
                </a:lnTo>
                <a:lnTo>
                  <a:pt x="0" y="7083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utils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4124539"/>
            <a:ext cx="7875267" cy="265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하드코딩을 직접 진행하여 안정성과 속도를 최적화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531109"/>
            <a:ext cx="6503348" cy="7595151"/>
          </a:xfrm>
          <a:custGeom>
            <a:avLst/>
            <a:gdLst/>
            <a:ahLst/>
            <a:cxnLst/>
            <a:rect r="r" b="b" t="t" l="l"/>
            <a:pathLst>
              <a:path h="7595151" w="6503348">
                <a:moveTo>
                  <a:pt x="0" y="0"/>
                </a:moveTo>
                <a:lnTo>
                  <a:pt x="6503348" y="0"/>
                </a:lnTo>
                <a:lnTo>
                  <a:pt x="6503348" y="7595151"/>
                </a:lnTo>
                <a:lnTo>
                  <a:pt x="0" y="7595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utils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964541"/>
            <a:ext cx="7091642" cy="265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난류 발생 후류 각도를 찾아내는 코드 추가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625820"/>
            <a:ext cx="7342668" cy="7250885"/>
          </a:xfrm>
          <a:custGeom>
            <a:avLst/>
            <a:gdLst/>
            <a:ahLst/>
            <a:cxnLst/>
            <a:rect r="r" b="b" t="t" l="l"/>
            <a:pathLst>
              <a:path h="7250885" w="7342668">
                <a:moveTo>
                  <a:pt x="0" y="0"/>
                </a:moveTo>
                <a:lnTo>
                  <a:pt x="7342668" y="0"/>
                </a:lnTo>
                <a:lnTo>
                  <a:pt x="7342668" y="7250885"/>
                </a:lnTo>
                <a:lnTo>
                  <a:pt x="0" y="725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Difference in utils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93411" y="3040935"/>
            <a:ext cx="7078361" cy="543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89번 데이터가 메모리 터지게 만들기에 건너뛰게 만드는 </a:t>
            </a:r>
          </a:p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작성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2735665"/>
            <a:ext cx="9258579" cy="6990227"/>
          </a:xfrm>
          <a:custGeom>
            <a:avLst/>
            <a:gdLst/>
            <a:ahLst/>
            <a:cxnLst/>
            <a:rect r="r" b="b" t="t" l="l"/>
            <a:pathLst>
              <a:path h="6990227" w="9258579">
                <a:moveTo>
                  <a:pt x="0" y="0"/>
                </a:moveTo>
                <a:lnTo>
                  <a:pt x="9258579" y="0"/>
                </a:lnTo>
                <a:lnTo>
                  <a:pt x="9258579" y="6990227"/>
                </a:lnTo>
                <a:lnTo>
                  <a:pt x="0" y="6990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Addition : interpolation.py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3608" y="2992574"/>
            <a:ext cx="5500831" cy="543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에어포일의 node개수가 다를 수 있는 것을 같게 만들어준다.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1272" y="3803276"/>
            <a:ext cx="17224503" cy="3789391"/>
          </a:xfrm>
          <a:custGeom>
            <a:avLst/>
            <a:gdLst/>
            <a:ahLst/>
            <a:cxnLst/>
            <a:rect r="r" b="b" t="t" l="l"/>
            <a:pathLst>
              <a:path h="3789391" w="17224503">
                <a:moveTo>
                  <a:pt x="0" y="0"/>
                </a:moveTo>
                <a:lnTo>
                  <a:pt x="17224502" y="0"/>
                </a:lnTo>
                <a:lnTo>
                  <a:pt x="17224502" y="3789390"/>
                </a:lnTo>
                <a:lnTo>
                  <a:pt x="0" y="3789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Addition : run.py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Result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6631" y="2562619"/>
            <a:ext cx="16114738" cy="758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[1] 훈련(Train) 총합: 약 10시간 53분 (39233.15 s)</a:t>
            </a:r>
          </a:p>
          <a:p>
            <a:pPr algn="ctr">
              <a:lnSpc>
                <a:spcPts val="6000"/>
              </a:lnSpc>
              <a:spcBef>
                <a:spcPct val="0"/>
              </a:spcBef>
            </a:pPr>
          </a:p>
          <a:p>
            <a:pPr algn="ctr">
              <a:lnSpc>
                <a:spcPts val="11000"/>
              </a:lnSpc>
              <a:spcBef>
                <a:spcPct val="0"/>
              </a:spcBef>
            </a:pPr>
            <a:r>
              <a:rPr lang="en-US" b="true" sz="5500" spc="13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[2] 테스트 및 예측(Test Evaluation): 약 6시간 52분</a:t>
            </a:r>
          </a:p>
          <a:p>
            <a:pPr algn="ctr">
              <a:lnSpc>
                <a:spcPts val="11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4562" y="1306830"/>
            <a:ext cx="15997922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Result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3166" y="2741949"/>
            <a:ext cx="15520713" cy="522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6"/>
              </a:lnSpc>
              <a:spcBef>
                <a:spcPct val="0"/>
              </a:spcBef>
            </a:pPr>
            <a:r>
              <a:rPr lang="en-US" b="true" sz="4218" spc="10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accuracyResults:  {'ML': ['g', 'g', 'g', 'g', 'g'], 'Physics': ['g', 'g', 'o', 'g'], </a:t>
            </a:r>
          </a:p>
          <a:p>
            <a:pPr algn="ctr">
              <a:lnSpc>
                <a:spcPts val="8436"/>
              </a:lnSpc>
              <a:spcBef>
                <a:spcPct val="0"/>
              </a:spcBef>
            </a:pPr>
            <a:r>
              <a:rPr lang="en-US" b="true" sz="4218" spc="10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'OOD': ['g', 'g', 'o', 'g', 'r', 'g', 'g', 'r', 'g']}</a:t>
            </a:r>
          </a:p>
          <a:p>
            <a:pPr algn="ctr">
              <a:lnSpc>
                <a:spcPts val="8436"/>
              </a:lnSpc>
              <a:spcBef>
                <a:spcPct val="0"/>
              </a:spcBef>
            </a:pPr>
            <a:r>
              <a:rPr lang="en-US" b="true" sz="4218" spc="10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speedUp:  {'ML': 44.3620311110594, 'OOD': 41.34281236659812}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10763" y="7918895"/>
            <a:ext cx="13665520" cy="13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1"/>
              </a:lnSpc>
              <a:spcBef>
                <a:spcPct val="0"/>
              </a:spcBef>
            </a:pPr>
            <a:r>
              <a:rPr lang="en-US" b="true" sz="5895" spc="14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globalScore = 79.64827858591539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6274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3197" y="3841114"/>
            <a:ext cx="9803018" cy="130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9"/>
              </a:lnSpc>
              <a:spcBef>
                <a:spcPct val="0"/>
              </a:spcBef>
            </a:pPr>
            <a:r>
              <a:rPr lang="en-US" b="true" sz="7599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343197" y="5417290"/>
            <a:ext cx="1560160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7694645" y="968779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DAHEUFbfq4U</dc:identifier>
  <dcterms:modified xsi:type="dcterms:W3CDTF">2011-08-01T06:04:30Z</dcterms:modified>
  <cp:revision>1</cp:revision>
  <dc:title>프로젝트 프레젠테이션의 사본의 사본</dc:title>
</cp:coreProperties>
</file>